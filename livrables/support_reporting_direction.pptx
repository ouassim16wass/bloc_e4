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3"/>
  </p:notesMasterIdLst>
  <p:sldIdLst>
    <p:sldId id="261" r:id="rId5"/>
    <p:sldId id="262" r:id="rId6"/>
    <p:sldId id="263" r:id="rId7"/>
    <p:sldId id="265" r:id="rId8"/>
    <p:sldId id="266" r:id="rId9"/>
    <p:sldId id="267" r:id="rId10"/>
    <p:sldId id="272" r:id="rId11"/>
    <p:sldId id="273"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27275A-5004-4488-BB2B-8541C3EB84DB}" v="6" dt="2018-08-08T09:05:58.3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1"/>
    <p:restoredTop sz="94647"/>
  </p:normalViewPr>
  <p:slideViewPr>
    <p:cSldViewPr snapToGrid="0" snapToObjects="1">
      <p:cViewPr varScale="1">
        <p:scale>
          <a:sx n="69" d="100"/>
          <a:sy n="69" d="100"/>
        </p:scale>
        <p:origin x="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title>
      <c:tx>
        <c:rich>
          <a:bodyPr/>
          <a:lstStyle/>
          <a:p>
            <a:pPr>
              <a:defRPr sz="1600" b="1">
                <a:solidFill>
                  <a:srgbClr val="1A5276"/>
                </a:solidFill>
              </a:defRPr>
            </a:pPr>
            <a:r>
              <a:rPr lang="fr-FR" sz="1600" b="1">
                <a:solidFill>
                  <a:srgbClr val="1A5276"/>
                </a:solidFill>
              </a:rPr>
              <a:t>Départ  →  Cible en S12</a:t>
            </a:r>
          </a:p>
        </c:rich>
      </c:tx>
      <c:overlay val="0"/>
    </c:title>
    <c:autoTitleDeleted val="0"/>
    <c:plotArea>
      <c:layout/>
      <c:barChart>
        <c:barDir val="col"/>
        <c:grouping val="clustered"/>
        <c:varyColors val="0"/>
        <c:ser>
          <c:idx val="0"/>
          <c:order val="0"/>
          <c:tx>
            <c:strRef>
              <c:f>x</c:f>
              <c:strCache>
                <c:ptCount val="1"/>
                <c:pt idx="0">
                  <c:v>Départ</c:v>
                </c:pt>
              </c:strCache>
            </c:strRef>
          </c:tx>
          <c:spPr>
            <a:solidFill>
              <a:srgbClr val="AEB6BD"/>
            </a:solidFill>
          </c:spPr>
          <c:invertIfNegative val="1"/>
          <c:dLbls>
            <c:numFmt formatCode="General" sourceLinked="0"/>
            <c:spPr>
              <a:noFill/>
              <a:ln>
                <a:noFill/>
              </a:ln>
              <a:effectLst/>
            </c:spPr>
            <c:txPr>
              <a:bodyPr/>
              <a:lstStyle/>
              <a:p>
                <a:pPr>
                  <a:defRPr sz="1400" b="1"/>
                </a:pPr>
                <a:endParaRPr lang="fr-FR"/>
              </a:p>
            </c:txPr>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Adoption (%)</c:v>
              </c:pt>
              <c:pt idx="1">
                <c:v>Temps / alerte (min)</c:v>
              </c:pt>
              <c:pt idx="2">
                <c:v>Fausses alertes (%)</c:v>
              </c:pt>
            </c:strLit>
          </c:cat>
          <c:val>
            <c:numLit>
              <c:formatCode>General</c:formatCode>
              <c:ptCount val="3"/>
              <c:pt idx="0">
                <c:v>35</c:v>
              </c:pt>
              <c:pt idx="1">
                <c:v>5</c:v>
              </c:pt>
              <c:pt idx="2">
                <c:v>28</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F5B-4ADD-9D2D-C18F18055576}"/>
            </c:ext>
          </c:extLst>
        </c:ser>
        <c:ser>
          <c:idx val="1"/>
          <c:order val="1"/>
          <c:tx>
            <c:strRef>
              <c:f>y</c:f>
              <c:strCache>
                <c:ptCount val="1"/>
                <c:pt idx="0">
                  <c:v>Cible S12</c:v>
                </c:pt>
              </c:strCache>
            </c:strRef>
          </c:tx>
          <c:spPr>
            <a:solidFill>
              <a:srgbClr val="1A5276"/>
            </a:solidFill>
          </c:spPr>
          <c:invertIfNegative val="1"/>
          <c:dLbls>
            <c:numFmt formatCode="General" sourceLinked="0"/>
            <c:spPr>
              <a:noFill/>
              <a:ln>
                <a:noFill/>
              </a:ln>
              <a:effectLst/>
            </c:spPr>
            <c:txPr>
              <a:bodyPr/>
              <a:lstStyle/>
              <a:p>
                <a:pPr>
                  <a:defRPr sz="1400" b="1">
                    <a:solidFill>
                      <a:srgbClr val="1A5276"/>
                    </a:solidFill>
                  </a:defRPr>
                </a:pPr>
                <a:endParaRPr lang="fr-FR"/>
              </a:p>
            </c:txPr>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Adoption (%)</c:v>
              </c:pt>
              <c:pt idx="1">
                <c:v>Temps / alerte (min)</c:v>
              </c:pt>
              <c:pt idx="2">
                <c:v>Fausses alertes (%)</c:v>
              </c:pt>
            </c:strLit>
          </c:cat>
          <c:val>
            <c:numLit>
              <c:formatCode>General</c:formatCode>
              <c:ptCount val="3"/>
              <c:pt idx="0">
                <c:v>75</c:v>
              </c:pt>
              <c:pt idx="1">
                <c:v>2</c:v>
              </c:pt>
              <c:pt idx="2">
                <c:v>15</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CF5B-4ADD-9D2D-C18F18055576}"/>
            </c:ext>
          </c:extLst>
        </c:ser>
        <c:dLbls>
          <c:showLegendKey val="0"/>
          <c:showVal val="0"/>
          <c:showCatName val="0"/>
          <c:showSerName val="0"/>
          <c:showPercent val="0"/>
          <c:showBubbleSize val="0"/>
        </c:dLbls>
        <c:gapWidth val="120"/>
        <c:axId val="1"/>
        <c:axId val="2"/>
      </c:barChart>
      <c:catAx>
        <c:axId val="1"/>
        <c:scaling>
          <c:orientation val="minMax"/>
        </c:scaling>
        <c:delete val="0"/>
        <c:axPos val="b"/>
        <c:numFmt formatCode="General" sourceLinked="0"/>
        <c:majorTickMark val="none"/>
        <c:minorTickMark val="none"/>
        <c:tickLblPos val="nextTo"/>
        <c:txPr>
          <a:bodyPr/>
          <a:lstStyle/>
          <a:p>
            <a:pPr>
              <a:defRPr sz="1400"/>
            </a:pPr>
            <a:endParaRPr lang="fr-FR"/>
          </a:p>
        </c:txPr>
        <c:crossAx val="2"/>
        <c:crosses val="autoZero"/>
        <c:auto val="1"/>
        <c:lblAlgn val="ctr"/>
        <c:lblOffset val="100"/>
        <c:noMultiLvlLbl val="1"/>
      </c:catAx>
      <c:valAx>
        <c:axId val="2"/>
        <c:scaling>
          <c:orientation val="minMax"/>
        </c:scaling>
        <c:delete val="1"/>
        <c:axPos val="l"/>
        <c:numFmt formatCode="General" sourceLinked="1"/>
        <c:majorTickMark val="none"/>
        <c:minorTickMark val="none"/>
        <c:tickLblPos val="none"/>
        <c:crossAx val="1"/>
        <c:crosses val="autoZero"/>
        <c:crossBetween val="between"/>
      </c:valAx>
    </c:plotArea>
    <c:legend>
      <c:legendPos val="t"/>
      <c:overlay val="0"/>
      <c:txPr>
        <a:bodyPr/>
        <a:lstStyle/>
        <a:p>
          <a:pPr>
            <a:defRPr sz="1400"/>
          </a:pPr>
          <a:endParaRPr lang="fr-FR"/>
        </a:p>
      </c:txPr>
    </c:legend>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1EB1D1-6F06-4CE4-B152-2528520FE78A}" type="datetimeFigureOut">
              <a:rPr lang="fr-FR" smtClean="0"/>
              <a:t>21/07/2026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CC0119-F7B7-4A0B-8522-9FAF141D766A}" type="slidenum">
              <a:rPr lang="fr-FR" smtClean="0"/>
              <a:t>‹N°›</a:t>
            </a:fld>
            <a:endParaRPr lang="fr-FR"/>
          </a:p>
        </p:txBody>
      </p:sp>
    </p:spTree>
    <p:extLst>
      <p:ext uri="{BB962C8B-B14F-4D97-AF65-F5344CB8AC3E}">
        <p14:creationId xmlns:p14="http://schemas.microsoft.com/office/powerpoint/2010/main" val="15893437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30 - STATUT GLOBAL : VERT]
PITCH MOT A MOT :
Bonjour a tous. Je suis Ouassim Megrad, Lead Data de l'equipe Megslab. La direction de NovaVille a confie le passage a l'echelle de MobilityPulse a l'equipe Data Engineering, dont je suis le responsable. Ma mission : securiser le deploiement pilote sur 12 semaines.
Un point important avant de commencer : la solution existe deja, sous forme de prototype qui collecte les signaux de mobilite, detecte les anomalies et affiche des indicateurs. Mon travail n'est donc pas de la developper, mais d'organiser son adoption.
La direction a constate trois limites : personne ne sait organiser le passage a l'echelle, les roles entre les equipes ne sont pas formalises, et les utilisateurs demandent de la formation et du support. Mon dossier repond a ces trois limites, point par point : un plan projet, une gouvernance claire, et un accompagnement par profil.
Le statut global du projet est vert. Je vous presente le dispositif en huit points, et je terminerai par les quatre decisions que j'attends de ce comite.
TRANSITION : "Commencons par le calendrier."</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1</a:t>
            </a:fld>
            <a:endParaRPr lang="fr-FR"/>
          </a:p>
        </p:txBody>
      </p:sp>
    </p:spTree>
    <p:extLst>
      <p:ext uri="{BB962C8B-B14F-4D97-AF65-F5344CB8AC3E}">
        <p14:creationId xmlns:p14="http://schemas.microsoft.com/office/powerpoint/2010/main" val="8552860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PITCH MOT A MOT :
Le deploiement tient en 12 semaines, decoupe en quatre phases et cinq jalons. Deux semaines de cadrage pour installer la gouvernance. Puis six semaines de travail produit, en trois sprints de deux semaines. En parallele, a partir de la semaine 6, l'accompagnement des utilisateurs demarre. Et les deux dernieres semaines sont le deploiement pilote en conditions reelles.
Vous remarquez que les phases produit et formation se chevauchent : c'est volontaire. Les agents ont peu de temps disponible, donc j'etale les formations sur cinq semaines. Et surtout, tout le monde est forme avant le pilote : un pilote avec des utilisateurs non formes mesurerait l'echec de la formation, pas la valeur de l'outil.
CAS CONCRET A RACONTER :
"Pourquoi cet ordre de travail ? Un exemple : le support reclame une procedure d'escalade des incidents. Impossible de l'ecrire tant qu'on ne sait pas qui fait quoi : a qui on escalade ? C'est pour ca que la definition des roles se fait en semaines 1 et 2, et la procedure juste apres, au sprint 1. Meme logique pour le reporting hebdomadaire : il faut d'abord definir les indicateurs avant de les rapporter."
TRANSITION : "Justement, parlons des roles."</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2</a:t>
            </a:fld>
            <a:endParaRPr lang="fr-FR"/>
          </a:p>
        </p:txBody>
      </p:sp>
    </p:spTree>
    <p:extLst>
      <p:ext uri="{BB962C8B-B14F-4D97-AF65-F5344CB8AC3E}">
        <p14:creationId xmlns:p14="http://schemas.microsoft.com/office/powerpoint/2010/main" val="676894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 DECISION ATTENDUE No1]
PITCH MOT A MOT :
Pour la gouvernance, j'ai choisi une methode hybride. Les evolutions du produit sont planifiables : je les organise en sprints de deux semaines, ce qui donne une cadence lisible pour vous, la direction. Le support, lui, est un flux imprevisible : je le gere en continu avec une file de priorites. Deux natures de travail, deux modes adaptes.
Le point central du dispositif, c'est le comite d'arbitrage hebdomadaire. Chaque activite a un seul responsable : le Product Owner priorise, moi je planifie, je garantis la fiabilite des indicateurs et je vous rends compte, et le referent accessibilite valide chaque support.
Premiere decision que je vous demande : valider ce mode de gouvernance.
CAS CONCRET A RACONTER :
"Imaginez la semaine 4. L'equipe technique veut livrer l'export CSV pour les analystes. Le centre de supervision, lui, reclame d'abord des alertes comprehensibles. Sans gouvernance, ce desaccord traine des semaines. Chez nous : comite d'arbitrage du lundi, 30 minutes. Le Product Owner tranche, les alertes d'abord, parce que la non-adoption des agents est notre risque numero un, et moi j'eclaire la decision avec la charge et les dependances techniques. Le conflit a dure une semaine, pas deux mois."
TRANSITION : "Une gouvernance pilote avec des chiffres. Voici les notres."</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3</a:t>
            </a:fld>
            <a:endParaRPr lang="fr-FR"/>
          </a:p>
        </p:txBody>
      </p:sp>
    </p:spTree>
    <p:extLst>
      <p:ext uri="{BB962C8B-B14F-4D97-AF65-F5344CB8AC3E}">
        <p14:creationId xmlns:p14="http://schemas.microsoft.com/office/powerpoint/2010/main" val="1573417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30 - LA SLIDE DU LEAD DATA]
PITCH MOT A MOT :
Le pilotage repose sur des indicateurs en quatre categories : le projet, le produit, l'adoption et l'impact environnemental. Tous les chiffres que vous voyez viennent du dossier fourni par la direction, je n'ai rien invente.
Trois chiffres a retenir. L'adoption d'abord : 35 % des utilisateurs cibles utilisent l'outil aujourd'hui, l'objectif est 75 % en fin de pilote. Le temps de comprehension d'une alerte ensuite : 5 minutes aujourd'hui, 2 minutes en cible. Et les fausses alertes : 28 % aujourd'hui, 15 % en cible, parce que la confiance dans l'outil conditionne son adoption.
En tant que Lead Data, c'est mon coeur de metier : chaque indicateur a un responsable designe, une formule documentee dans un glossaire, et une action prevue si la mesure derive. L'engagement environnemental est tenu : l'indicateur d'empreinte numerique est defini en semaine 4 et suivi chaque mois.
CAS CONCRET A RACONTER :
"Prenons Malik, agent au centre de supervision. Aujourd'hui, en pleine heure de pointe, il recoit une alerte du genre 'anomalie de flux detectee, score 3,2'. Il met 5 minutes a comprendre, 5 minutes pendant lesquelles il ne decide rien. Notre travail : la meme alerte devient 'retard inhabituel sur la ligne de bus 12, secteur gare', avec une aide contextuelle. Objectif : 2 minutes. Voila ce que mesure ce KPI."
TRANSITION : "Des chiffres pour piloter, et des risques sous controle."</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4</a:t>
            </a:fld>
            <a:endParaRPr lang="fr-FR"/>
          </a:p>
        </p:txBody>
      </p:sp>
    </p:spTree>
    <p:extLst>
      <p:ext uri="{BB962C8B-B14F-4D97-AF65-F5344CB8AC3E}">
        <p14:creationId xmlns:p14="http://schemas.microsoft.com/office/powerpoint/2010/main" val="3114296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PITCH MOT A MOT :
Six risques sont documentes au registre, je vous presente les trois majeurs. Le premier, c'est la non-adoption par les agents : c'est le risque qui tuerait le projet. Mes parades : des formations courtes, de la co-construction avec le terrain, et un canal de retours structure. Le deuxieme, ce sont les conflits de priorites entre l'IT et le metier : c'est le comite d'arbitrage hebdomadaire qui le traite. Le troisieme, c'est une accessibilite insuffisante : chaque support est valide par le referent accessibilite avant diffusion, pas apres coup.
Et j'insiste sur un point : chaque risque a aussi un plan de contingence avec un seuil defini a l'avance. Pas d'improvisation en cours de pilote : les decisions difficiles sont preparees avant.
CAS CONCRET A RACONTER :
"Concretement : nous sommes en semaine 8, le tableau de bord affiche 48 % d'adoption alors qu'on devrait etre autour de 55. Le seuil des 50 % est franchi : je n'improvise pas, je declenche le plan prepare, ateliers cibles sur les equipes qui n'utilisent pas l'outil, accompagnement en binome, et je passe le statut a l'orange dans mon reporting avec la decision que je vous demande."
TRANSITION : "Ces risques, ce sont aussi les utilisateurs qui nous les signalent."</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5</a:t>
            </a:fld>
            <a:endParaRPr lang="fr-FR"/>
          </a:p>
        </p:txBody>
      </p:sp>
    </p:spTree>
    <p:extLst>
      <p:ext uri="{BB962C8B-B14F-4D97-AF65-F5344CB8AC3E}">
        <p14:creationId xmlns:p14="http://schemas.microsoft.com/office/powerpoint/2010/main" val="36202572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PITCH MOT A MOT :
Six retours utilisateurs ont ete recueillis sur le prototype. Je les ai priorises en croisant deux criteres : l'impact et la frequence.
Trois retours cumulent impact fort et frequence elevee : le vocabulaire des alertes est trop technique, il n'existe aucune procedure en cas de mauvaise alerte, et les definitions des indicateurs sont imprecises. Ils sont traites en premier.
Le retour sur les graphiques illisibles au lecteur d'ecran est moins frequent, mais je l'ai remonte en priorite : l'accessibilite est une exigence d'inclusion de ce projet, pas une option.
Ce que je veux que vous reteniez : l'ordre de mes sprints n'est pas arbitraire, il reflete directement ce que le terrain nous a dit.
CAS CONCRET A RACONTER :
"Exemple tire des retours : les agents disent, je cite, 'les alertes sont utiles mais le vocabulaire est trop technique'. Retour frequent, impact eleve : c'est devenu ma priorite du sprint 2."
TRANSITION : "Ecouter le terrain, c'est aussi le former."</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6</a:t>
            </a:fld>
            <a:endParaRPr lang="fr-FR"/>
          </a:p>
        </p:txBody>
      </p:sp>
    </p:spTree>
    <p:extLst>
      <p:ext uri="{BB962C8B-B14F-4D97-AF65-F5344CB8AC3E}">
        <p14:creationId xmlns:p14="http://schemas.microsoft.com/office/powerpoint/2010/main" val="16146918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 DECISION ATTENDUE No2]
PITCH MOT A MOT :
L'accompagnement suit une logique simple : informer, former, accompagner sur le poste, puis rendre autonome. Quatre profils, quatre parcours adaptes : le superviseur presse, l'agent en salle operationnelle, l'analyste, et l'utilisateur en situation de handicap.
La contrainte principale, c'est le temps : les agents en ont tres peu. Donc tout est court : un seul atelier de 45 minutes par profil, des tutoriels de 3 a 5 minutes, et la prise en main se fait en binome, sur leur poste, pendant leur travail reel.
Pour l'accessibilite : une session dediee a rythme adapte, des supports compatibles lecteur d'ecran, des videos sous-titrees, et chaque support est valide avant diffusion. Apres le deploiement, un support en deux niveaux prend le relais. La formation cree l'adoption, le support l'empeche de retomber.
La cible : 100 % des profils formes avant le pilote, avec une satisfaction de 4 sur 5 minimum. C'est ma deuxieme demande de validation.
CAS CONCRET A RACONTER :
"Suivons Malik sur les 12 semaines. Semaine 6 : il recoit l'annonce et une demo de 15 minutes. Semaine 8 : il suit SON atelier de 45 minutes, construit sur de vraies alertes de son quotidien. Semaines 9 et 10 : quelqu'un vient a son poste, deux fois 30 minutes, pour l'accompagner sur des situations reelles. Semaine 11, le pilote demarre : Malik est autonome. Et s'il bloque, il appelle le support niveau 1."
Et pour l'inclusion : "Jules, lui, utilise un lecteur d'ecran. Sa session est dediee : rythme adapte, supports balises, videos sous-titrees."
TRANSITION : "Je recapitule ce que j'attends de vous."</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7</a:t>
            </a:fld>
            <a:endParaRPr lang="fr-FR"/>
          </a:p>
        </p:txBody>
      </p:sp>
    </p:spTree>
    <p:extLst>
      <p:ext uri="{BB962C8B-B14F-4D97-AF65-F5344CB8AC3E}">
        <p14:creationId xmlns:p14="http://schemas.microsoft.com/office/powerpoint/2010/main" val="8951153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 NE JAMAIS SAUTER CETTE SLIDE]
PITCH MOT A MOT :
Pour conclure, voici les quatre decisions que j'attends de ce comite. Deux des cette semaine : valider le mode de gouvernance, et valider le calendrier en quatre phases et cinq jalons. Ensuite : arbitrer les priorites du backlog que je vous ai proposees, et d'ici la semaine 4, valider le dispositif d'accompagnement des utilisateurs.
Si vous validez aujourd'hui, le cadrage demarre immediatement, vous recevez le premier reporting hebdomadaire en semaine 3, et nous nous retrouvons au jalon 1 en fin de semaine 2 pour constater que la gouvernance est en place.
Un prototype prometteur, un plan en 12 semaines, des indicateurs fiables et des utilisateurs accompagnes : voila comment nous securisons MobilityPulse.
Merci de votre attention. Je suis pret a repondre a vos questions.
APRES CETTE SLIDE : silence, sourire, laisser le jury ouvrir les questions.
Les 18 questions probables et leurs reponses sont dans docs/SOUTENANCE_ORALE.md.</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8</a:t>
            </a:fld>
            <a:endParaRPr lang="fr-FR"/>
          </a:p>
        </p:txBody>
      </p:sp>
    </p:spTree>
    <p:extLst>
      <p:ext uri="{BB962C8B-B14F-4D97-AF65-F5344CB8AC3E}">
        <p14:creationId xmlns:p14="http://schemas.microsoft.com/office/powerpoint/2010/main" val="12239898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4106F-A246-2E48-9544-E8146AB80C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229C53-2CA9-764A-93AB-ECAD546B01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6C782C-8745-7347-B6AC-4D8772289B98}"/>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0A1CFD0D-118D-4441-A91C-1B836A28AA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CB8388-0632-6942-96AC-2D619404EDCE}"/>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1151746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FEA2F-4473-0948-AB43-EBE335118A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08B151-747D-604F-903D-9A920F3178C3}"/>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47E0C-8A67-AE45-9E33-B90E65F82661}"/>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702C27D1-B1FA-884E-BB86-6AA912AD2C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40875C-8A74-6B43-8AF6-63659F8EC74F}"/>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421932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73F97-6513-314A-BEB3-8AC3A43CEF6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AC1008-6364-A640-BA0B-D8775884B51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A5AB27E-7D19-9148-AFBE-D10DF7C15B9E}"/>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FF17AB2F-DBDD-3343-AB56-539EF251BC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82543B-D933-004D-99FF-224DE8B9700E}"/>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3332993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E5657-C487-1D4B-9C65-4DD0F323D1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BF2E6E-20E6-9043-A03F-A481416CA8E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CB42E3-D2BE-6F4D-92FC-1494FD65C17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A5245B-18BD-FF4F-92B6-242006FB81F1}"/>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6" name="Footer Placeholder 5">
            <a:extLst>
              <a:ext uri="{FF2B5EF4-FFF2-40B4-BE49-F238E27FC236}">
                <a16:creationId xmlns:a16="http://schemas.microsoft.com/office/drawing/2014/main" id="{BE081255-874F-754B-A47E-861DA0CD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E19D76-7CF9-AC46-8DF1-89FFCD7B2D7E}"/>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999621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3E17C-5F89-8D43-BA72-7627FFCB12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969009-5908-0446-A2D3-27CA7612D7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F2A4F87B-6AD1-4F41-B65A-1712AF5CC500}"/>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BD845-9E91-C744-AC94-1F3B0763A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05476AE-7625-BD41-9CA9-51364370D38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5E53358-AC69-5B4B-A141-FBCF7AC85089}"/>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8" name="Footer Placeholder 7">
            <a:extLst>
              <a:ext uri="{FF2B5EF4-FFF2-40B4-BE49-F238E27FC236}">
                <a16:creationId xmlns:a16="http://schemas.microsoft.com/office/drawing/2014/main" id="{D9FCEA71-D074-9149-9053-65C6E547F0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C57ED6-3E53-184B-96E1-A81C0B366A20}"/>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1337476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7104-1EED-AC46-9BFE-74C4C897388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6CA8C08-9E8C-6741-A2F0-5FAB6AE5E4F9}"/>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4" name="Footer Placeholder 3">
            <a:extLst>
              <a:ext uri="{FF2B5EF4-FFF2-40B4-BE49-F238E27FC236}">
                <a16:creationId xmlns:a16="http://schemas.microsoft.com/office/drawing/2014/main" id="{2AD7E1B8-2D7B-4548-B1EC-8C766C92D94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E0B748-F1C5-8749-8C42-DAC929DFFC5F}"/>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1307546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FE7249-F53D-4B4D-A448-22699C3D26CB}"/>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3" name="Footer Placeholder 2">
            <a:extLst>
              <a:ext uri="{FF2B5EF4-FFF2-40B4-BE49-F238E27FC236}">
                <a16:creationId xmlns:a16="http://schemas.microsoft.com/office/drawing/2014/main" id="{54682F3B-F381-C642-956B-8B897A4E6BF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599A17-3A94-2D4B-863A-D140FD43EA0B}"/>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2799842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E8CEF-1C51-8C45-A4DD-823EF2ED19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E374CA-1122-FA4B-B960-C80ADBD8CFB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EA1D2F-31D9-944B-9E05-A6DF632D8B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38C1F2-E75A-7847-BE97-4BAFD26A3C17}"/>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6" name="Footer Placeholder 5">
            <a:extLst>
              <a:ext uri="{FF2B5EF4-FFF2-40B4-BE49-F238E27FC236}">
                <a16:creationId xmlns:a16="http://schemas.microsoft.com/office/drawing/2014/main" id="{87989FF9-DBBA-CD42-95A8-C1446B0102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918F56-7D9A-9D48-8FD1-C96B13CCAF54}"/>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3676740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687D9-2240-8D42-BF6D-3237D5EF1C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33825A-5AFC-8A42-93C4-F00E40A0FD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F956E5-5DA8-AB49-9E03-65283DF2A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8163D5-4687-C243-A8A2-0650A7887076}"/>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6" name="Footer Placeholder 5">
            <a:extLst>
              <a:ext uri="{FF2B5EF4-FFF2-40B4-BE49-F238E27FC236}">
                <a16:creationId xmlns:a16="http://schemas.microsoft.com/office/drawing/2014/main" id="{38300BF0-29B6-B343-A484-59353A8ACA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48E5C9-1065-5147-B725-91FB99153EC6}"/>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41160173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59CC8-54DA-0A42-9DA3-C9E7FB11FDD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1DD596-2259-614F-A986-3F25CF600FD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A5B1C8-F927-B147-8326-E3862924A8F1}"/>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EC0B53A9-157A-9941-B952-607DAB5FA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CF697C-66DE-734A-9CA9-579BCEA17025}"/>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401388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FAABD5-DA08-A547-B641-D0E0889172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2B8267B-68DB-BD49-A9B4-434AE7BB23F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2D5EC-A445-FF43-82E6-1E7554A5DCB3}"/>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5A76C67B-5186-6A4F-8CC0-6CBFEB1182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BF1686-2B7E-F34D-B970-CC7FA2D3BC5B}"/>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23371617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CF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0B6787-B51F-DB42-9E52-63E10EB86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3B9472-27F5-2144-BCEC-3E0A96761A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352788-8A6E-D24F-82D2-F38C9E41A4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A81DDB45-653D-0C49-B78E-967549C7B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DC715-0B9A-0348-A62C-3F8BCE535B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5DC9C-C50D-D242-B083-59CEE07163F1}" type="slidenum">
              <a:rPr lang="en-US" smtClean="0"/>
              <a:t>‹N°›</a:t>
            </a:fld>
            <a:endParaRPr lang="en-US"/>
          </a:p>
        </p:txBody>
      </p:sp>
      <p:sp>
        <p:nvSpPr>
          <p:cNvPr id="920" name="AccentLine"/>
          <p:cNvSpPr/>
          <p:nvPr/>
        </p:nvSpPr>
        <p:spPr>
          <a:xfrm>
            <a:off x="457200" y="6172200"/>
            <a:ext cx="8229600" cy="19050"/>
          </a:xfrm>
          <a:prstGeom prst="rect">
            <a:avLst/>
          </a:prstGeom>
          <a:solidFill>
            <a:srgbClr val="1A5276"/>
          </a:solidFill>
          <a:ln>
            <a:noFill/>
          </a:ln>
        </p:spPr>
        <p:txBody>
          <a:bodyPr/>
          <a:lstStyle/>
          <a:p>
            <a:endParaRPr/>
          </a:p>
        </p:txBody>
      </p:sp>
      <p:sp>
        <p:nvSpPr>
          <p:cNvPr id="921" name="FooterText"/>
          <p:cNvSpPr/>
          <p:nvPr/>
        </p:nvSpPr>
        <p:spPr>
          <a:xfrm>
            <a:off x="457200" y="6248400"/>
            <a:ext cx="6400800" cy="292100"/>
          </a:xfrm>
          <a:prstGeom prst="rect">
            <a:avLst/>
          </a:prstGeom>
        </p:spPr>
        <p:txBody>
          <a:bodyPr wrap="none" lIns="0" tIns="0" rIns="0" bIns="0" anchor="ctr"/>
          <a:lstStyle/>
          <a:p>
            <a:pPr algn="l"/>
            <a:r>
              <a:rPr lang="fr-FR" sz="1000" dirty="0">
                <a:solidFill>
                  <a:srgbClr val="7F8C99"/>
                </a:solidFill>
              </a:rPr>
              <a:t>Ouassim Megrad, Lead Data, équipe Megslab</a:t>
            </a:r>
          </a:p>
        </p:txBody>
      </p:sp>
      <p:sp>
        <p:nvSpPr>
          <p:cNvPr id="922" name="SlideNum"/>
          <p:cNvSpPr/>
          <p:nvPr/>
        </p:nvSpPr>
        <p:spPr>
          <a:xfrm>
            <a:off x="8001000" y="6248400"/>
            <a:ext cx="685800" cy="292100"/>
          </a:xfrm>
          <a:prstGeom prst="rect">
            <a:avLst/>
          </a:prstGeom>
        </p:spPr>
        <p:txBody>
          <a:bodyPr wrap="none" lIns="0" tIns="0" rIns="0" bIns="0" anchor="ctr"/>
          <a:lstStyle/>
          <a:p>
            <a:pPr algn="r"/>
            <a:fld id="{B2A9C1D4-0000-4000-8000-000000000001}" type="slidenum">
              <a:rPr lang="fr-FR" sz="1000" dirty="0">
                <a:solidFill>
                  <a:srgbClr val="7F8C99"/>
                </a:solidFill>
              </a:rPr>
              <a:t>‹N°›</a:t>
            </a:fld>
            <a:endParaRPr lang="fr-FR" sz="1000" dirty="0">
              <a:solidFill>
                <a:srgbClr val="7F8C99"/>
              </a:solidFill>
            </a:endParaRPr>
          </a:p>
        </p:txBody>
      </p:sp>
    </p:spTree>
    <p:extLst>
      <p:ext uri="{BB962C8B-B14F-4D97-AF65-F5344CB8AC3E}">
        <p14:creationId xmlns:p14="http://schemas.microsoft.com/office/powerpoint/2010/main" val="2768849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A527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34495E"/>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35CB005-B923-4875-9BE1-48E6A2E24CD0}"/>
              </a:ext>
            </a:extLst>
          </p:cNvPr>
          <p:cNvSpPr/>
          <p:nvPr/>
        </p:nvSpPr>
        <p:spPr>
          <a:xfrm>
            <a:off x="914400" y="1676400"/>
            <a:ext cx="76200" cy="19050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A24B03A2-24F1-4230-A7B2-E26AC5E21BF6}"/>
              </a:ext>
            </a:extLst>
          </p:cNvPr>
          <p:cNvSpPr txBox="1"/>
          <p:nvPr/>
        </p:nvSpPr>
        <p:spPr>
          <a:xfrm>
            <a:off x="1219200" y="1651000"/>
            <a:ext cx="7874000" cy="304800"/>
          </a:xfrm>
          <a:prstGeom prst="rect">
            <a:avLst/>
          </a:prstGeom>
          <a:noFill/>
        </p:spPr>
        <p:txBody>
          <a:bodyPr vertOverflow="overflow" vert="horz" wrap="square" rtlCol="0" anchor="t">
            <a:spAutoFit/>
          </a:bodyPr>
          <a:lstStyle/>
          <a:p>
            <a:pPr algn="l"/>
            <a:r>
              <a:rPr lang="fr-FR" sz="1400" b="1">
                <a:solidFill>
                  <a:srgbClr val="2E86AB"/>
                </a:solidFill>
                <a:latin typeface="Segoe UI"/>
                <a:cs typeface="Segoe UI"/>
              </a:rPr>
              <a:t>REPORTING AU COMITÉ DE DIRECTION</a:t>
            </a:r>
          </a:p>
        </p:txBody>
      </p:sp>
      <p:sp>
        <p:nvSpPr>
          <p:cNvPr id="4" name="ZoneTexte 3">
            <a:extLst>
              <a:ext uri="{FF2B5EF4-FFF2-40B4-BE49-F238E27FC236}">
                <a16:creationId xmlns:a16="http://schemas.microsoft.com/office/drawing/2014/main" id="{EA3E253A-54FE-4980-A724-B1CAB0274355}"/>
              </a:ext>
            </a:extLst>
          </p:cNvPr>
          <p:cNvSpPr txBox="1"/>
          <p:nvPr/>
        </p:nvSpPr>
        <p:spPr>
          <a:xfrm>
            <a:off x="1193800" y="2006600"/>
            <a:ext cx="7874000" cy="1651000"/>
          </a:xfrm>
          <a:prstGeom prst="rect">
            <a:avLst/>
          </a:prstGeom>
          <a:noFill/>
        </p:spPr>
        <p:txBody>
          <a:bodyPr vertOverflow="overflow" vert="horz" wrap="square" rtlCol="0" anchor="t">
            <a:spAutoFit/>
          </a:bodyPr>
          <a:lstStyle/>
          <a:p>
            <a:pPr algn="l"/>
            <a:r>
              <a:rPr lang="fr-FR" sz="3800" b="1">
                <a:solidFill>
                  <a:srgbClr val="1A5276"/>
                </a:solidFill>
                <a:latin typeface="Segoe UI Semibold"/>
                <a:cs typeface="Segoe UI Semibold"/>
              </a:rPr>
              <a:t>MobilityPulse : sécuriser le déploiement en 12 semaines</a:t>
            </a:r>
          </a:p>
        </p:txBody>
      </p:sp>
      <p:sp>
        <p:nvSpPr>
          <p:cNvPr id="5" name="ZoneTexte 4">
            <a:extLst>
              <a:ext uri="{FF2B5EF4-FFF2-40B4-BE49-F238E27FC236}">
                <a16:creationId xmlns:a16="http://schemas.microsoft.com/office/drawing/2014/main" id="{4B58CD41-C014-4745-8A27-F5069C8C8B3C}"/>
              </a:ext>
            </a:extLst>
          </p:cNvPr>
          <p:cNvSpPr txBox="1"/>
          <p:nvPr/>
        </p:nvSpPr>
        <p:spPr>
          <a:xfrm>
            <a:off x="1219200" y="3759200"/>
            <a:ext cx="7620000" cy="635000"/>
          </a:xfrm>
          <a:prstGeom prst="rect">
            <a:avLst/>
          </a:prstGeom>
          <a:noFill/>
        </p:spPr>
        <p:txBody>
          <a:bodyPr vertOverflow="overflow" vert="horz" wrap="square" rtlCol="0" anchor="t">
            <a:spAutoFit/>
          </a:bodyPr>
          <a:lstStyle/>
          <a:p>
            <a:pPr algn="l"/>
            <a:r>
              <a:rPr lang="fr-FR" sz="1700" dirty="0">
                <a:solidFill>
                  <a:srgbClr val="1B2A38"/>
                </a:solidFill>
                <a:latin typeface="Segoe UI"/>
                <a:cs typeface="Segoe UI"/>
              </a:rPr>
              <a:t>Sécuriser l'adoption d'un prototype existant : organisation, gouvernance, accompagnement.</a:t>
            </a:r>
          </a:p>
        </p:txBody>
      </p:sp>
      <p:sp>
        <p:nvSpPr>
          <p:cNvPr id="6" name="ZoneTexte 5">
            <a:extLst>
              <a:ext uri="{FF2B5EF4-FFF2-40B4-BE49-F238E27FC236}">
                <a16:creationId xmlns:a16="http://schemas.microsoft.com/office/drawing/2014/main" id="{8612CEFE-0ECD-4AC1-B8A7-39A4144DABEC}"/>
              </a:ext>
            </a:extLst>
          </p:cNvPr>
          <p:cNvSpPr txBox="1"/>
          <p:nvPr/>
        </p:nvSpPr>
        <p:spPr>
          <a:xfrm>
            <a:off x="1219200" y="4445000"/>
            <a:ext cx="7620000" cy="330200"/>
          </a:xfrm>
          <a:prstGeom prst="rect">
            <a:avLst/>
          </a:prstGeom>
          <a:noFill/>
        </p:spPr>
        <p:txBody>
          <a:bodyPr vertOverflow="overflow" vert="horz" wrap="square" rtlCol="0" anchor="t">
            <a:spAutoFit/>
          </a:bodyPr>
          <a:lstStyle/>
          <a:p>
            <a:pPr algn="l"/>
            <a:r>
              <a:rPr lang="fr-FR" sz="1500">
                <a:solidFill>
                  <a:srgbClr val="5D6D7E"/>
                </a:solidFill>
                <a:latin typeface="Segoe UI"/>
                <a:cs typeface="Segoe UI"/>
              </a:rPr>
              <a:t>Ouassim Megrad  ·  Lead Data  ·  équipe Megslab</a:t>
            </a:r>
          </a:p>
        </p:txBody>
      </p:sp>
      <p:sp>
        <p:nvSpPr>
          <p:cNvPr id="7" name="ZoneTexte 6">
            <a:extLst>
              <a:ext uri="{FF2B5EF4-FFF2-40B4-BE49-F238E27FC236}">
                <a16:creationId xmlns:a16="http://schemas.microsoft.com/office/drawing/2014/main" id="{DB1926ED-1568-4A83-8A98-CDAF23C7C592}"/>
              </a:ext>
            </a:extLst>
          </p:cNvPr>
          <p:cNvSpPr txBox="1"/>
          <p:nvPr/>
        </p:nvSpPr>
        <p:spPr>
          <a:xfrm>
            <a:off x="9194800" y="1676400"/>
            <a:ext cx="2082800" cy="254000"/>
          </a:xfrm>
          <a:prstGeom prst="rect">
            <a:avLst/>
          </a:prstGeom>
          <a:noFill/>
        </p:spPr>
        <p:txBody>
          <a:bodyPr vertOverflow="overflow" vert="horz" wrap="square" rtlCol="0" anchor="t">
            <a:spAutoFit/>
          </a:bodyPr>
          <a:lstStyle/>
          <a:p>
            <a:pPr algn="l"/>
            <a:r>
              <a:rPr lang="fr-FR" sz="1200" b="1">
                <a:solidFill>
                  <a:srgbClr val="5D6D7E"/>
                </a:solidFill>
              </a:rPr>
              <a:t>STATUT GLOBAL</a:t>
            </a:r>
          </a:p>
        </p:txBody>
      </p:sp>
      <p:sp>
        <p:nvSpPr>
          <p:cNvPr id="8" name="Rectangle : coins arrondis 7">
            <a:extLst>
              <a:ext uri="{FF2B5EF4-FFF2-40B4-BE49-F238E27FC236}">
                <a16:creationId xmlns:a16="http://schemas.microsoft.com/office/drawing/2014/main" id="{3CCE1743-BCC6-4E7B-9AA5-6A5E98FEB3F1}"/>
              </a:ext>
            </a:extLst>
          </p:cNvPr>
          <p:cNvSpPr/>
          <p:nvPr/>
        </p:nvSpPr>
        <p:spPr>
          <a:xfrm>
            <a:off x="9194800" y="1981200"/>
            <a:ext cx="2082800" cy="7620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600" b="1">
                <a:solidFill>
                  <a:srgbClr val="FFFFFF"/>
                </a:solidFill>
                <a:latin typeface="Segoe UI Semibold"/>
                <a:cs typeface="Segoe UI Semibold"/>
              </a:rPr>
              <a:t>● VERT · prêt à lancer</a:t>
            </a:r>
          </a:p>
        </p:txBody>
      </p:sp>
      <p:sp>
        <p:nvSpPr>
          <p:cNvPr id="9" name="ZoneTexte 8">
            <a:extLst>
              <a:ext uri="{FF2B5EF4-FFF2-40B4-BE49-F238E27FC236}">
                <a16:creationId xmlns:a16="http://schemas.microsoft.com/office/drawing/2014/main" id="{2983DF4E-0990-4BA4-A5C2-FE4DD0F8D289}"/>
              </a:ext>
            </a:extLst>
          </p:cNvPr>
          <p:cNvSpPr txBox="1"/>
          <p:nvPr/>
        </p:nvSpPr>
        <p:spPr>
          <a:xfrm>
            <a:off x="9194800" y="2794000"/>
            <a:ext cx="2082800" cy="254000"/>
          </a:xfrm>
          <a:prstGeom prst="rect">
            <a:avLst/>
          </a:prstGeom>
          <a:noFill/>
        </p:spPr>
        <p:txBody>
          <a:bodyPr vertOverflow="overflow" vert="horz" wrap="square" rtlCol="0" anchor="t">
            <a:spAutoFit/>
          </a:bodyPr>
          <a:lstStyle/>
          <a:p>
            <a:pPr algn="l"/>
            <a:r>
              <a:rPr lang="fr-FR" sz="1200" i="1" dirty="0">
                <a:solidFill>
                  <a:srgbClr val="5D6D7E"/>
                </a:solidFill>
              </a:rPr>
              <a:t>Aucun obstacle bloquant</a:t>
            </a:r>
          </a:p>
        </p:txBody>
      </p:sp>
      <p:sp>
        <p:nvSpPr>
          <p:cNvPr id="10" name="ZoneTexte 9">
            <a:extLst>
              <a:ext uri="{FF2B5EF4-FFF2-40B4-BE49-F238E27FC236}">
                <a16:creationId xmlns:a16="http://schemas.microsoft.com/office/drawing/2014/main" id="{44FAAB1C-DC38-45D7-9630-32A7105E17CC}"/>
              </a:ext>
            </a:extLst>
          </p:cNvPr>
          <p:cNvSpPr txBox="1"/>
          <p:nvPr/>
        </p:nvSpPr>
        <p:spPr>
          <a:xfrm>
            <a:off x="1219200" y="5054600"/>
            <a:ext cx="6350000" cy="279400"/>
          </a:xfrm>
          <a:prstGeom prst="rect">
            <a:avLst/>
          </a:prstGeom>
          <a:noFill/>
        </p:spPr>
        <p:txBody>
          <a:bodyPr vertOverflow="overflow" vert="horz" wrap="square" rtlCol="0" anchor="t">
            <a:spAutoFit/>
          </a:bodyPr>
          <a:lstStyle/>
          <a:p>
            <a:pPr algn="l"/>
            <a:r>
              <a:rPr lang="fr-FR" sz="1300" b="1">
                <a:solidFill>
                  <a:srgbClr val="2E86AB"/>
                </a:solidFill>
              </a:rPr>
              <a:t>3 réponses aux 3 limites constatées</a:t>
            </a:r>
          </a:p>
        </p:txBody>
      </p:sp>
      <p:sp>
        <p:nvSpPr>
          <p:cNvPr id="11" name="Rectangle : coins arrondis 10">
            <a:extLst>
              <a:ext uri="{FF2B5EF4-FFF2-40B4-BE49-F238E27FC236}">
                <a16:creationId xmlns:a16="http://schemas.microsoft.com/office/drawing/2014/main" id="{078002B4-49D9-4E02-B96B-92F7435FD18D}"/>
              </a:ext>
            </a:extLst>
          </p:cNvPr>
          <p:cNvSpPr/>
          <p:nvPr/>
        </p:nvSpPr>
        <p:spPr>
          <a:xfrm>
            <a:off x="1219200" y="5384800"/>
            <a:ext cx="3175000" cy="711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8" name="Ellipse 17">
            <a:extLst>
              <a:ext uri="{FF2B5EF4-FFF2-40B4-BE49-F238E27FC236}">
                <a16:creationId xmlns:a16="http://schemas.microsoft.com/office/drawing/2014/main" id="{01106AE9-39F3-42F0-A964-F58D5BE5E35A}"/>
              </a:ext>
            </a:extLst>
          </p:cNvPr>
          <p:cNvSpPr/>
          <p:nvPr/>
        </p:nvSpPr>
        <p:spPr>
          <a:xfrm>
            <a:off x="1371600" y="5562600"/>
            <a:ext cx="355600" cy="3556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1</a:t>
            </a:r>
          </a:p>
        </p:txBody>
      </p:sp>
      <p:sp>
        <p:nvSpPr>
          <p:cNvPr id="24" name="ZoneTexte 23">
            <a:extLst>
              <a:ext uri="{FF2B5EF4-FFF2-40B4-BE49-F238E27FC236}">
                <a16:creationId xmlns:a16="http://schemas.microsoft.com/office/drawing/2014/main" id="{4665A127-C781-48B5-BC6F-F7B4ECC89537}"/>
              </a:ext>
            </a:extLst>
          </p:cNvPr>
          <p:cNvSpPr txBox="1"/>
          <p:nvPr/>
        </p:nvSpPr>
        <p:spPr>
          <a:xfrm>
            <a:off x="1828800" y="5486400"/>
            <a:ext cx="24638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Organisation</a:t>
            </a:r>
          </a:p>
        </p:txBody>
      </p:sp>
      <p:sp>
        <p:nvSpPr>
          <p:cNvPr id="25" name="ZoneTexte 24">
            <a:extLst>
              <a:ext uri="{FF2B5EF4-FFF2-40B4-BE49-F238E27FC236}">
                <a16:creationId xmlns:a16="http://schemas.microsoft.com/office/drawing/2014/main" id="{72FD6BD3-351F-46C9-B7E4-264B3BFD2A67}"/>
              </a:ext>
            </a:extLst>
          </p:cNvPr>
          <p:cNvSpPr txBox="1"/>
          <p:nvPr/>
        </p:nvSpPr>
        <p:spPr>
          <a:xfrm>
            <a:off x="1828800" y="5740400"/>
            <a:ext cx="2489200" cy="228600"/>
          </a:xfrm>
          <a:prstGeom prst="rect">
            <a:avLst/>
          </a:prstGeom>
          <a:noFill/>
        </p:spPr>
        <p:txBody>
          <a:bodyPr vertOverflow="overflow" vert="horz" wrap="square" rtlCol="0" anchor="t">
            <a:spAutoFit/>
          </a:bodyPr>
          <a:lstStyle/>
          <a:p>
            <a:pPr algn="l"/>
            <a:r>
              <a:rPr lang="fr-FR" sz="1100">
                <a:solidFill>
                  <a:srgbClr val="5D6D7E"/>
                </a:solidFill>
              </a:rPr>
              <a:t>Un plan projet en 12 semaines</a:t>
            </a:r>
          </a:p>
        </p:txBody>
      </p:sp>
      <p:sp>
        <p:nvSpPr>
          <p:cNvPr id="26" name="Rectangle : coins arrondis 25">
            <a:extLst>
              <a:ext uri="{FF2B5EF4-FFF2-40B4-BE49-F238E27FC236}">
                <a16:creationId xmlns:a16="http://schemas.microsoft.com/office/drawing/2014/main" id="{880AEF4F-DEE1-42B8-93C0-8F897E4874A1}"/>
              </a:ext>
            </a:extLst>
          </p:cNvPr>
          <p:cNvSpPr/>
          <p:nvPr/>
        </p:nvSpPr>
        <p:spPr>
          <a:xfrm>
            <a:off x="4597400" y="5384800"/>
            <a:ext cx="3175000" cy="711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7" name="Ellipse 26">
            <a:extLst>
              <a:ext uri="{FF2B5EF4-FFF2-40B4-BE49-F238E27FC236}">
                <a16:creationId xmlns:a16="http://schemas.microsoft.com/office/drawing/2014/main" id="{5F686914-15C4-4149-B55A-709636EF7EB4}"/>
              </a:ext>
            </a:extLst>
          </p:cNvPr>
          <p:cNvSpPr/>
          <p:nvPr/>
        </p:nvSpPr>
        <p:spPr>
          <a:xfrm>
            <a:off x="4749800" y="5562600"/>
            <a:ext cx="355600" cy="3556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2</a:t>
            </a:r>
          </a:p>
        </p:txBody>
      </p:sp>
      <p:sp>
        <p:nvSpPr>
          <p:cNvPr id="28" name="ZoneTexte 27">
            <a:extLst>
              <a:ext uri="{FF2B5EF4-FFF2-40B4-BE49-F238E27FC236}">
                <a16:creationId xmlns:a16="http://schemas.microsoft.com/office/drawing/2014/main" id="{C4606FE3-CFF7-4BB4-96DD-99EC6636BAEC}"/>
              </a:ext>
            </a:extLst>
          </p:cNvPr>
          <p:cNvSpPr txBox="1"/>
          <p:nvPr/>
        </p:nvSpPr>
        <p:spPr>
          <a:xfrm>
            <a:off x="5207000" y="5486400"/>
            <a:ext cx="24638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Gouvernance</a:t>
            </a:r>
          </a:p>
        </p:txBody>
      </p:sp>
      <p:sp>
        <p:nvSpPr>
          <p:cNvPr id="29" name="ZoneTexte 28">
            <a:extLst>
              <a:ext uri="{FF2B5EF4-FFF2-40B4-BE49-F238E27FC236}">
                <a16:creationId xmlns:a16="http://schemas.microsoft.com/office/drawing/2014/main" id="{202E2E67-B409-42A9-8BD6-AF159682E83A}"/>
              </a:ext>
            </a:extLst>
          </p:cNvPr>
          <p:cNvSpPr txBox="1"/>
          <p:nvPr/>
        </p:nvSpPr>
        <p:spPr>
          <a:xfrm>
            <a:off x="5207000" y="5740400"/>
            <a:ext cx="2489200" cy="228600"/>
          </a:xfrm>
          <a:prstGeom prst="rect">
            <a:avLst/>
          </a:prstGeom>
          <a:noFill/>
        </p:spPr>
        <p:txBody>
          <a:bodyPr vertOverflow="overflow" vert="horz" wrap="square" rtlCol="0" anchor="t">
            <a:spAutoFit/>
          </a:bodyPr>
          <a:lstStyle/>
          <a:p>
            <a:pPr algn="l"/>
            <a:r>
              <a:rPr lang="fr-FR" sz="1100">
                <a:solidFill>
                  <a:srgbClr val="5D6D7E"/>
                </a:solidFill>
              </a:rPr>
              <a:t>Des rôles clairs, un arbitrage</a:t>
            </a:r>
          </a:p>
        </p:txBody>
      </p:sp>
      <p:sp>
        <p:nvSpPr>
          <p:cNvPr id="30" name="Rectangle : coins arrondis 29">
            <a:extLst>
              <a:ext uri="{FF2B5EF4-FFF2-40B4-BE49-F238E27FC236}">
                <a16:creationId xmlns:a16="http://schemas.microsoft.com/office/drawing/2014/main" id="{23F799C8-0A2C-4ACA-A4CC-7D399568F51B}"/>
              </a:ext>
            </a:extLst>
          </p:cNvPr>
          <p:cNvSpPr/>
          <p:nvPr/>
        </p:nvSpPr>
        <p:spPr>
          <a:xfrm>
            <a:off x="7975600" y="5384800"/>
            <a:ext cx="3175000" cy="711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1" name="Ellipse 30">
            <a:extLst>
              <a:ext uri="{FF2B5EF4-FFF2-40B4-BE49-F238E27FC236}">
                <a16:creationId xmlns:a16="http://schemas.microsoft.com/office/drawing/2014/main" id="{529EFBC4-2375-4F88-A0B6-3AB80F7EF080}"/>
              </a:ext>
            </a:extLst>
          </p:cNvPr>
          <p:cNvSpPr/>
          <p:nvPr/>
        </p:nvSpPr>
        <p:spPr>
          <a:xfrm>
            <a:off x="8128000" y="5562600"/>
            <a:ext cx="355600" cy="3556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3</a:t>
            </a:r>
          </a:p>
        </p:txBody>
      </p:sp>
      <p:sp>
        <p:nvSpPr>
          <p:cNvPr id="32" name="ZoneTexte 31">
            <a:extLst>
              <a:ext uri="{FF2B5EF4-FFF2-40B4-BE49-F238E27FC236}">
                <a16:creationId xmlns:a16="http://schemas.microsoft.com/office/drawing/2014/main" id="{8D895764-2917-43C4-8DB5-C19201369CFB}"/>
              </a:ext>
            </a:extLst>
          </p:cNvPr>
          <p:cNvSpPr txBox="1"/>
          <p:nvPr/>
        </p:nvSpPr>
        <p:spPr>
          <a:xfrm>
            <a:off x="8585200" y="5486400"/>
            <a:ext cx="24638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Accompagnement</a:t>
            </a:r>
          </a:p>
        </p:txBody>
      </p:sp>
      <p:sp>
        <p:nvSpPr>
          <p:cNvPr id="33" name="ZoneTexte 32">
            <a:extLst>
              <a:ext uri="{FF2B5EF4-FFF2-40B4-BE49-F238E27FC236}">
                <a16:creationId xmlns:a16="http://schemas.microsoft.com/office/drawing/2014/main" id="{F3CB222D-3091-4930-A50D-72A18AFFC4C9}"/>
              </a:ext>
            </a:extLst>
          </p:cNvPr>
          <p:cNvSpPr txBox="1"/>
          <p:nvPr/>
        </p:nvSpPr>
        <p:spPr>
          <a:xfrm>
            <a:off x="8585200" y="5740400"/>
            <a:ext cx="2489200" cy="228600"/>
          </a:xfrm>
          <a:prstGeom prst="rect">
            <a:avLst/>
          </a:prstGeom>
          <a:noFill/>
        </p:spPr>
        <p:txBody>
          <a:bodyPr vertOverflow="overflow" vert="horz" wrap="square" rtlCol="0" anchor="t">
            <a:spAutoFit/>
          </a:bodyPr>
          <a:lstStyle/>
          <a:p>
            <a:pPr algn="l"/>
            <a:r>
              <a:rPr lang="fr-FR" sz="1100">
                <a:solidFill>
                  <a:srgbClr val="5D6D7E"/>
                </a:solidFill>
              </a:rPr>
              <a:t>Une formation par profil</a:t>
            </a:r>
          </a:p>
        </p:txBody>
      </p:sp>
    </p:spTree>
    <p:extLst>
      <p:ext uri="{BB962C8B-B14F-4D97-AF65-F5344CB8AC3E}">
        <p14:creationId xmlns:p14="http://schemas.microsoft.com/office/powerpoint/2010/main" val="2063146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9FC5CFC-9CBA-421F-935B-C9C95F6A045E}"/>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20AC4D92-EE13-4A6B-AF5B-12395523710F}"/>
              </a:ext>
            </a:extLst>
          </p:cNvPr>
          <p:cNvSpPr txBox="1"/>
          <p:nvPr/>
        </p:nvSpPr>
        <p:spPr>
          <a:xfrm>
            <a:off x="1143000" y="482600"/>
            <a:ext cx="9779000" cy="254000"/>
          </a:xfrm>
          <a:prstGeom prst="rect">
            <a:avLst/>
          </a:prstGeom>
          <a:noFill/>
        </p:spPr>
        <p:txBody>
          <a:bodyPr vertOverflow="overflow" vert="horz" wrap="square" rtlCol="0" anchor="t">
            <a:spAutoFit/>
          </a:bodyPr>
          <a:lstStyle/>
          <a:p>
            <a:pPr algn="l"/>
            <a:r>
              <a:rPr lang="fr-FR" sz="1300" b="1">
                <a:solidFill>
                  <a:srgbClr val="2E86AB"/>
                </a:solidFill>
                <a:latin typeface="Segoe UI"/>
                <a:cs typeface="Segoe UI"/>
              </a:rPr>
              <a:t>PLANNING</a:t>
            </a:r>
          </a:p>
        </p:txBody>
      </p:sp>
      <p:sp>
        <p:nvSpPr>
          <p:cNvPr id="4" name="ZoneTexte 3">
            <a:extLst>
              <a:ext uri="{FF2B5EF4-FFF2-40B4-BE49-F238E27FC236}">
                <a16:creationId xmlns:a16="http://schemas.microsoft.com/office/drawing/2014/main" id="{97D80166-D562-4333-99D7-76673EF1768F}"/>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12 semaines, 4 phases, 5 jalons</a:t>
            </a:r>
          </a:p>
        </p:txBody>
      </p:sp>
      <p:sp>
        <p:nvSpPr>
          <p:cNvPr id="5" name="Rectangle 4">
            <a:extLst>
              <a:ext uri="{FF2B5EF4-FFF2-40B4-BE49-F238E27FC236}">
                <a16:creationId xmlns:a16="http://schemas.microsoft.com/office/drawing/2014/main" id="{9B6AA078-2FF2-4FA2-89AF-7C9D0FF67814}"/>
              </a:ext>
            </a:extLst>
          </p:cNvPr>
          <p:cNvSpPr/>
          <p:nvPr/>
        </p:nvSpPr>
        <p:spPr>
          <a:xfrm>
            <a:off x="3429000" y="1524000"/>
            <a:ext cx="7493000" cy="279400"/>
          </a:xfrm>
          <a:prstGeom prst="rect">
            <a:avLst/>
          </a:prstGeom>
          <a:solidFill>
            <a:srgbClr val="EAF0F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6" name="ZoneTexte 5">
            <a:extLst>
              <a:ext uri="{FF2B5EF4-FFF2-40B4-BE49-F238E27FC236}">
                <a16:creationId xmlns:a16="http://schemas.microsoft.com/office/drawing/2014/main" id="{CDBA7724-28A9-4879-AC22-5065524FF228}"/>
              </a:ext>
            </a:extLst>
          </p:cNvPr>
          <p:cNvSpPr txBox="1"/>
          <p:nvPr/>
        </p:nvSpPr>
        <p:spPr>
          <a:xfrm>
            <a:off x="342900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a:t>
            </a:r>
          </a:p>
        </p:txBody>
      </p:sp>
      <p:sp>
        <p:nvSpPr>
          <p:cNvPr id="7" name="ZoneTexte 6">
            <a:extLst>
              <a:ext uri="{FF2B5EF4-FFF2-40B4-BE49-F238E27FC236}">
                <a16:creationId xmlns:a16="http://schemas.microsoft.com/office/drawing/2014/main" id="{7A90701F-E6B1-4C4E-9224-658B487835F1}"/>
              </a:ext>
            </a:extLst>
          </p:cNvPr>
          <p:cNvSpPr txBox="1"/>
          <p:nvPr/>
        </p:nvSpPr>
        <p:spPr>
          <a:xfrm>
            <a:off x="405341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S2</a:t>
            </a:r>
          </a:p>
        </p:txBody>
      </p:sp>
      <p:sp>
        <p:nvSpPr>
          <p:cNvPr id="8" name="ZoneTexte 7">
            <a:extLst>
              <a:ext uri="{FF2B5EF4-FFF2-40B4-BE49-F238E27FC236}">
                <a16:creationId xmlns:a16="http://schemas.microsoft.com/office/drawing/2014/main" id="{2FEB81A6-66D1-41D2-9DA4-E84B5A0831CD}"/>
              </a:ext>
            </a:extLst>
          </p:cNvPr>
          <p:cNvSpPr txBox="1"/>
          <p:nvPr/>
        </p:nvSpPr>
        <p:spPr>
          <a:xfrm>
            <a:off x="467783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S3</a:t>
            </a:r>
          </a:p>
        </p:txBody>
      </p:sp>
      <p:sp>
        <p:nvSpPr>
          <p:cNvPr id="9" name="ZoneTexte 8">
            <a:extLst>
              <a:ext uri="{FF2B5EF4-FFF2-40B4-BE49-F238E27FC236}">
                <a16:creationId xmlns:a16="http://schemas.microsoft.com/office/drawing/2014/main" id="{D14DAC25-9850-4F85-8BCF-F8BF98FA43A1}"/>
              </a:ext>
            </a:extLst>
          </p:cNvPr>
          <p:cNvSpPr txBox="1"/>
          <p:nvPr/>
        </p:nvSpPr>
        <p:spPr>
          <a:xfrm>
            <a:off x="530225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S4</a:t>
            </a:r>
          </a:p>
        </p:txBody>
      </p:sp>
      <p:sp>
        <p:nvSpPr>
          <p:cNvPr id="10" name="ZoneTexte 9">
            <a:extLst>
              <a:ext uri="{FF2B5EF4-FFF2-40B4-BE49-F238E27FC236}">
                <a16:creationId xmlns:a16="http://schemas.microsoft.com/office/drawing/2014/main" id="{0B654E47-AC4C-4EFF-9AF1-40B060C1FEED}"/>
              </a:ext>
            </a:extLst>
          </p:cNvPr>
          <p:cNvSpPr txBox="1"/>
          <p:nvPr/>
        </p:nvSpPr>
        <p:spPr>
          <a:xfrm>
            <a:off x="592666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S5</a:t>
            </a:r>
          </a:p>
        </p:txBody>
      </p:sp>
      <p:sp>
        <p:nvSpPr>
          <p:cNvPr id="11" name="ZoneTexte 10">
            <a:extLst>
              <a:ext uri="{FF2B5EF4-FFF2-40B4-BE49-F238E27FC236}">
                <a16:creationId xmlns:a16="http://schemas.microsoft.com/office/drawing/2014/main" id="{7D8D9AF2-4E12-4B88-B2CE-0F342B77FD25}"/>
              </a:ext>
            </a:extLst>
          </p:cNvPr>
          <p:cNvSpPr txBox="1"/>
          <p:nvPr/>
        </p:nvSpPr>
        <p:spPr>
          <a:xfrm>
            <a:off x="655108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S6</a:t>
            </a:r>
          </a:p>
        </p:txBody>
      </p:sp>
      <p:sp>
        <p:nvSpPr>
          <p:cNvPr id="12" name="ZoneTexte 11">
            <a:extLst>
              <a:ext uri="{FF2B5EF4-FFF2-40B4-BE49-F238E27FC236}">
                <a16:creationId xmlns:a16="http://schemas.microsoft.com/office/drawing/2014/main" id="{0E4A21D1-2580-4FCA-9056-349D6AE07D19}"/>
              </a:ext>
            </a:extLst>
          </p:cNvPr>
          <p:cNvSpPr txBox="1"/>
          <p:nvPr/>
        </p:nvSpPr>
        <p:spPr>
          <a:xfrm>
            <a:off x="717550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S7</a:t>
            </a:r>
          </a:p>
        </p:txBody>
      </p:sp>
      <p:sp>
        <p:nvSpPr>
          <p:cNvPr id="13" name="ZoneTexte 12">
            <a:extLst>
              <a:ext uri="{FF2B5EF4-FFF2-40B4-BE49-F238E27FC236}">
                <a16:creationId xmlns:a16="http://schemas.microsoft.com/office/drawing/2014/main" id="{375E5C7E-2B7D-44A8-B901-966931B536A9}"/>
              </a:ext>
            </a:extLst>
          </p:cNvPr>
          <p:cNvSpPr txBox="1"/>
          <p:nvPr/>
        </p:nvSpPr>
        <p:spPr>
          <a:xfrm>
            <a:off x="779991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S8</a:t>
            </a:r>
          </a:p>
        </p:txBody>
      </p:sp>
      <p:sp>
        <p:nvSpPr>
          <p:cNvPr id="14" name="ZoneTexte 13">
            <a:extLst>
              <a:ext uri="{FF2B5EF4-FFF2-40B4-BE49-F238E27FC236}">
                <a16:creationId xmlns:a16="http://schemas.microsoft.com/office/drawing/2014/main" id="{0F72AE78-A0D4-41B2-AAD4-750BC4871E00}"/>
              </a:ext>
            </a:extLst>
          </p:cNvPr>
          <p:cNvSpPr txBox="1"/>
          <p:nvPr/>
        </p:nvSpPr>
        <p:spPr>
          <a:xfrm>
            <a:off x="842433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S9</a:t>
            </a:r>
          </a:p>
        </p:txBody>
      </p:sp>
      <p:sp>
        <p:nvSpPr>
          <p:cNvPr id="15" name="ZoneTexte 14">
            <a:extLst>
              <a:ext uri="{FF2B5EF4-FFF2-40B4-BE49-F238E27FC236}">
                <a16:creationId xmlns:a16="http://schemas.microsoft.com/office/drawing/2014/main" id="{21CFA020-FCA8-4E2B-BDFB-6E2171D636AE}"/>
              </a:ext>
            </a:extLst>
          </p:cNvPr>
          <p:cNvSpPr txBox="1"/>
          <p:nvPr/>
        </p:nvSpPr>
        <p:spPr>
          <a:xfrm>
            <a:off x="904875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S10</a:t>
            </a:r>
          </a:p>
        </p:txBody>
      </p:sp>
      <p:sp>
        <p:nvSpPr>
          <p:cNvPr id="16" name="ZoneTexte 15">
            <a:extLst>
              <a:ext uri="{FF2B5EF4-FFF2-40B4-BE49-F238E27FC236}">
                <a16:creationId xmlns:a16="http://schemas.microsoft.com/office/drawing/2014/main" id="{5C4A2BAF-ACD6-4217-BCEA-B9D39CD49A68}"/>
              </a:ext>
            </a:extLst>
          </p:cNvPr>
          <p:cNvSpPr txBox="1"/>
          <p:nvPr/>
        </p:nvSpPr>
        <p:spPr>
          <a:xfrm>
            <a:off x="967316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S11</a:t>
            </a:r>
          </a:p>
        </p:txBody>
      </p:sp>
      <p:sp>
        <p:nvSpPr>
          <p:cNvPr id="17" name="ZoneTexte 16">
            <a:extLst>
              <a:ext uri="{FF2B5EF4-FFF2-40B4-BE49-F238E27FC236}">
                <a16:creationId xmlns:a16="http://schemas.microsoft.com/office/drawing/2014/main" id="{E0DC3CA9-1230-4C66-B645-C4EEBDBA0BAA}"/>
              </a:ext>
            </a:extLst>
          </p:cNvPr>
          <p:cNvSpPr txBox="1"/>
          <p:nvPr/>
        </p:nvSpPr>
        <p:spPr>
          <a:xfrm>
            <a:off x="1029758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S12</a:t>
            </a:r>
          </a:p>
        </p:txBody>
      </p:sp>
      <p:sp>
        <p:nvSpPr>
          <p:cNvPr id="18" name="Ellipse 17">
            <a:extLst>
              <a:ext uri="{FF2B5EF4-FFF2-40B4-BE49-F238E27FC236}">
                <a16:creationId xmlns:a16="http://schemas.microsoft.com/office/drawing/2014/main" id="{A51AF4D4-64F5-4308-9AAA-73CC920F82C8}"/>
              </a:ext>
            </a:extLst>
          </p:cNvPr>
          <p:cNvSpPr/>
          <p:nvPr/>
        </p:nvSpPr>
        <p:spPr>
          <a:xfrm>
            <a:off x="939800" y="2032000"/>
            <a:ext cx="152400" cy="152400"/>
          </a:xfrm>
          <a:prstGeom prst="ellipse">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9" name="ZoneTexte 18">
            <a:extLst>
              <a:ext uri="{FF2B5EF4-FFF2-40B4-BE49-F238E27FC236}">
                <a16:creationId xmlns:a16="http://schemas.microsoft.com/office/drawing/2014/main" id="{D92CB6C1-8546-4B7C-9CA3-43ADABB225FC}"/>
              </a:ext>
            </a:extLst>
          </p:cNvPr>
          <p:cNvSpPr txBox="1"/>
          <p:nvPr/>
        </p:nvSpPr>
        <p:spPr>
          <a:xfrm>
            <a:off x="1168400" y="19304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Cadrage &amp; gouvernance</a:t>
            </a:r>
          </a:p>
        </p:txBody>
      </p:sp>
      <p:sp>
        <p:nvSpPr>
          <p:cNvPr id="20" name="Rectangle : coins arrondis 19">
            <a:extLst>
              <a:ext uri="{FF2B5EF4-FFF2-40B4-BE49-F238E27FC236}">
                <a16:creationId xmlns:a16="http://schemas.microsoft.com/office/drawing/2014/main" id="{E36B4519-76E1-44ED-8ACF-1022C33E4630}"/>
              </a:ext>
            </a:extLst>
          </p:cNvPr>
          <p:cNvSpPr/>
          <p:nvPr/>
        </p:nvSpPr>
        <p:spPr>
          <a:xfrm>
            <a:off x="3429000" y="1943100"/>
            <a:ext cx="1248833" cy="3302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1" name="ZoneTexte 20">
            <a:extLst>
              <a:ext uri="{FF2B5EF4-FFF2-40B4-BE49-F238E27FC236}">
                <a16:creationId xmlns:a16="http://schemas.microsoft.com/office/drawing/2014/main" id="{566DA7B4-7837-4338-BF51-2941D326FB39}"/>
              </a:ext>
            </a:extLst>
          </p:cNvPr>
          <p:cNvSpPr txBox="1"/>
          <p:nvPr/>
        </p:nvSpPr>
        <p:spPr>
          <a:xfrm>
            <a:off x="3429000" y="1943100"/>
            <a:ext cx="1248833" cy="330200"/>
          </a:xfrm>
          <a:prstGeom prst="rect">
            <a:avLst/>
          </a:prstGeom>
          <a:noFill/>
        </p:spPr>
        <p:txBody>
          <a:bodyPr vertOverflow="overflow" vert="horz" wrap="none" rtlCol="0" anchor="ctr" anchorCtr="0">
            <a:noAutofit/>
          </a:bodyPr>
          <a:lstStyle/>
          <a:p>
            <a:pPr algn="l"/>
            <a:r>
              <a:rPr lang="fr-FR" sz="1100" b="1">
                <a:solidFill>
                  <a:srgbClr val="FFFFFF"/>
                </a:solidFill>
              </a:rPr>
              <a:t>S1-S2</a:t>
            </a:r>
          </a:p>
        </p:txBody>
      </p:sp>
      <p:sp>
        <p:nvSpPr>
          <p:cNvPr id="22" name="Ellipse 21">
            <a:extLst>
              <a:ext uri="{FF2B5EF4-FFF2-40B4-BE49-F238E27FC236}">
                <a16:creationId xmlns:a16="http://schemas.microsoft.com/office/drawing/2014/main" id="{A5EBFDCB-1021-4429-8461-46FDED2C8754}"/>
              </a:ext>
            </a:extLst>
          </p:cNvPr>
          <p:cNvSpPr/>
          <p:nvPr/>
        </p:nvSpPr>
        <p:spPr>
          <a:xfrm>
            <a:off x="939800" y="2616200"/>
            <a:ext cx="152400" cy="152400"/>
          </a:xfrm>
          <a:prstGeom prst="ellipse">
            <a:avLst/>
          </a:prstGeom>
          <a:solidFill>
            <a:srgbClr val="C7CDD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3" name="ZoneTexte 22">
            <a:extLst>
              <a:ext uri="{FF2B5EF4-FFF2-40B4-BE49-F238E27FC236}">
                <a16:creationId xmlns:a16="http://schemas.microsoft.com/office/drawing/2014/main" id="{45F5EEDE-EB02-4A19-AA01-4DA570ECC599}"/>
              </a:ext>
            </a:extLst>
          </p:cNvPr>
          <p:cNvSpPr txBox="1"/>
          <p:nvPr/>
        </p:nvSpPr>
        <p:spPr>
          <a:xfrm>
            <a:off x="1168400" y="25146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Itérations produit (3 sprints)</a:t>
            </a:r>
          </a:p>
        </p:txBody>
      </p:sp>
      <p:sp>
        <p:nvSpPr>
          <p:cNvPr id="24" name="Rectangle : coins arrondis 23">
            <a:extLst>
              <a:ext uri="{FF2B5EF4-FFF2-40B4-BE49-F238E27FC236}">
                <a16:creationId xmlns:a16="http://schemas.microsoft.com/office/drawing/2014/main" id="{2D2E0D92-C4CB-45B5-A519-44AC04F1DD29}"/>
              </a:ext>
            </a:extLst>
          </p:cNvPr>
          <p:cNvSpPr/>
          <p:nvPr/>
        </p:nvSpPr>
        <p:spPr>
          <a:xfrm>
            <a:off x="4677833" y="2527300"/>
            <a:ext cx="3746500" cy="3302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5" name="ZoneTexte 24">
            <a:extLst>
              <a:ext uri="{FF2B5EF4-FFF2-40B4-BE49-F238E27FC236}">
                <a16:creationId xmlns:a16="http://schemas.microsoft.com/office/drawing/2014/main" id="{255965DC-5D4F-4825-927D-B0210129A7D1}"/>
              </a:ext>
            </a:extLst>
          </p:cNvPr>
          <p:cNvSpPr txBox="1"/>
          <p:nvPr/>
        </p:nvSpPr>
        <p:spPr>
          <a:xfrm>
            <a:off x="4677833" y="2527300"/>
            <a:ext cx="3746500" cy="330200"/>
          </a:xfrm>
          <a:prstGeom prst="rect">
            <a:avLst/>
          </a:prstGeom>
          <a:noFill/>
        </p:spPr>
        <p:txBody>
          <a:bodyPr vertOverflow="overflow" vert="horz" wrap="none" rtlCol="0" anchor="ctr" anchorCtr="0">
            <a:noAutofit/>
          </a:bodyPr>
          <a:lstStyle/>
          <a:p>
            <a:pPr algn="l"/>
            <a:r>
              <a:rPr lang="fr-FR" sz="1100" b="1">
                <a:solidFill>
                  <a:srgbClr val="FFFFFF"/>
                </a:solidFill>
              </a:rPr>
              <a:t>S3-S8</a:t>
            </a:r>
          </a:p>
        </p:txBody>
      </p:sp>
      <p:sp>
        <p:nvSpPr>
          <p:cNvPr id="26" name="Ellipse 25">
            <a:extLst>
              <a:ext uri="{FF2B5EF4-FFF2-40B4-BE49-F238E27FC236}">
                <a16:creationId xmlns:a16="http://schemas.microsoft.com/office/drawing/2014/main" id="{2005DE94-08E5-4D1D-98A4-883B1C1D603C}"/>
              </a:ext>
            </a:extLst>
          </p:cNvPr>
          <p:cNvSpPr/>
          <p:nvPr/>
        </p:nvSpPr>
        <p:spPr>
          <a:xfrm>
            <a:off x="939800" y="3200400"/>
            <a:ext cx="152400" cy="152400"/>
          </a:xfrm>
          <a:prstGeom prst="ellipse">
            <a:avLst/>
          </a:prstGeom>
          <a:solidFill>
            <a:srgbClr val="C7CDD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7" name="ZoneTexte 26">
            <a:extLst>
              <a:ext uri="{FF2B5EF4-FFF2-40B4-BE49-F238E27FC236}">
                <a16:creationId xmlns:a16="http://schemas.microsoft.com/office/drawing/2014/main" id="{9D9C4CDF-6CF5-4F49-8620-45AC348595AF}"/>
              </a:ext>
            </a:extLst>
          </p:cNvPr>
          <p:cNvSpPr txBox="1"/>
          <p:nvPr/>
        </p:nvSpPr>
        <p:spPr>
          <a:xfrm>
            <a:off x="1168400" y="30988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Accompagnement &amp; formation</a:t>
            </a:r>
          </a:p>
        </p:txBody>
      </p:sp>
      <p:sp>
        <p:nvSpPr>
          <p:cNvPr id="28" name="Rectangle : coins arrondis 27">
            <a:extLst>
              <a:ext uri="{FF2B5EF4-FFF2-40B4-BE49-F238E27FC236}">
                <a16:creationId xmlns:a16="http://schemas.microsoft.com/office/drawing/2014/main" id="{E087B8EE-82DB-45CC-82F1-95338DC9D39D}"/>
              </a:ext>
            </a:extLst>
          </p:cNvPr>
          <p:cNvSpPr/>
          <p:nvPr/>
        </p:nvSpPr>
        <p:spPr>
          <a:xfrm>
            <a:off x="6551083" y="3111500"/>
            <a:ext cx="3122083"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9" name="ZoneTexte 28">
            <a:extLst>
              <a:ext uri="{FF2B5EF4-FFF2-40B4-BE49-F238E27FC236}">
                <a16:creationId xmlns:a16="http://schemas.microsoft.com/office/drawing/2014/main" id="{5F463E52-1D04-4E5B-AB3A-64F71EBAA82F}"/>
              </a:ext>
            </a:extLst>
          </p:cNvPr>
          <p:cNvSpPr txBox="1"/>
          <p:nvPr/>
        </p:nvSpPr>
        <p:spPr>
          <a:xfrm>
            <a:off x="6551083" y="3111500"/>
            <a:ext cx="3122083" cy="330200"/>
          </a:xfrm>
          <a:prstGeom prst="rect">
            <a:avLst/>
          </a:prstGeom>
          <a:noFill/>
        </p:spPr>
        <p:txBody>
          <a:bodyPr vertOverflow="overflow" vert="horz" wrap="none" rtlCol="0" anchor="ctr" anchorCtr="0">
            <a:noAutofit/>
          </a:bodyPr>
          <a:lstStyle/>
          <a:p>
            <a:pPr algn="l"/>
            <a:r>
              <a:rPr lang="fr-FR" sz="1100" b="1">
                <a:solidFill>
                  <a:srgbClr val="FFFFFF"/>
                </a:solidFill>
              </a:rPr>
              <a:t>S6-S10</a:t>
            </a:r>
          </a:p>
        </p:txBody>
      </p:sp>
      <p:sp>
        <p:nvSpPr>
          <p:cNvPr id="30" name="Ellipse 29">
            <a:extLst>
              <a:ext uri="{FF2B5EF4-FFF2-40B4-BE49-F238E27FC236}">
                <a16:creationId xmlns:a16="http://schemas.microsoft.com/office/drawing/2014/main" id="{4F7EA5FD-45AB-453A-8ED6-7CCA848C2498}"/>
              </a:ext>
            </a:extLst>
          </p:cNvPr>
          <p:cNvSpPr/>
          <p:nvPr/>
        </p:nvSpPr>
        <p:spPr>
          <a:xfrm>
            <a:off x="939800" y="3784600"/>
            <a:ext cx="152400" cy="152400"/>
          </a:xfrm>
          <a:prstGeom prst="ellipse">
            <a:avLst/>
          </a:prstGeom>
          <a:solidFill>
            <a:srgbClr val="C7CDD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1" name="ZoneTexte 30">
            <a:extLst>
              <a:ext uri="{FF2B5EF4-FFF2-40B4-BE49-F238E27FC236}">
                <a16:creationId xmlns:a16="http://schemas.microsoft.com/office/drawing/2014/main" id="{7128A086-4E31-4932-BB0A-30972F01369E}"/>
              </a:ext>
            </a:extLst>
          </p:cNvPr>
          <p:cNvSpPr txBox="1"/>
          <p:nvPr/>
        </p:nvSpPr>
        <p:spPr>
          <a:xfrm>
            <a:off x="1168400" y="36830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Déploiement pilote</a:t>
            </a:r>
          </a:p>
        </p:txBody>
      </p:sp>
      <p:sp>
        <p:nvSpPr>
          <p:cNvPr id="32" name="Rectangle : coins arrondis 31">
            <a:extLst>
              <a:ext uri="{FF2B5EF4-FFF2-40B4-BE49-F238E27FC236}">
                <a16:creationId xmlns:a16="http://schemas.microsoft.com/office/drawing/2014/main" id="{5CB1ED96-ED02-499B-BF8D-B98B5B663381}"/>
              </a:ext>
            </a:extLst>
          </p:cNvPr>
          <p:cNvSpPr/>
          <p:nvPr/>
        </p:nvSpPr>
        <p:spPr>
          <a:xfrm>
            <a:off x="9673166" y="3695700"/>
            <a:ext cx="1248833" cy="3302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3" name="ZoneTexte 32">
            <a:extLst>
              <a:ext uri="{FF2B5EF4-FFF2-40B4-BE49-F238E27FC236}">
                <a16:creationId xmlns:a16="http://schemas.microsoft.com/office/drawing/2014/main" id="{33A27D02-F0E8-4D05-B0B3-7249EECB783A}"/>
              </a:ext>
            </a:extLst>
          </p:cNvPr>
          <p:cNvSpPr txBox="1"/>
          <p:nvPr/>
        </p:nvSpPr>
        <p:spPr>
          <a:xfrm>
            <a:off x="9673166" y="3695700"/>
            <a:ext cx="1248833" cy="330200"/>
          </a:xfrm>
          <a:prstGeom prst="rect">
            <a:avLst/>
          </a:prstGeom>
          <a:noFill/>
        </p:spPr>
        <p:txBody>
          <a:bodyPr vertOverflow="overflow" vert="horz" wrap="none" rtlCol="0" anchor="ctr" anchorCtr="0">
            <a:noAutofit/>
          </a:bodyPr>
          <a:lstStyle/>
          <a:p>
            <a:pPr algn="l"/>
            <a:r>
              <a:rPr lang="fr-FR" sz="1100" b="1">
                <a:solidFill>
                  <a:srgbClr val="FFFFFF"/>
                </a:solidFill>
              </a:rPr>
              <a:t>S11-S12</a:t>
            </a:r>
          </a:p>
        </p:txBody>
      </p:sp>
      <p:sp>
        <p:nvSpPr>
          <p:cNvPr id="34" name="Losange 33">
            <a:extLst>
              <a:ext uri="{FF2B5EF4-FFF2-40B4-BE49-F238E27FC236}">
                <a16:creationId xmlns:a16="http://schemas.microsoft.com/office/drawing/2014/main" id="{9FEBA937-9EB1-4E87-9119-88B9ED40FD51}"/>
              </a:ext>
            </a:extLst>
          </p:cNvPr>
          <p:cNvSpPr/>
          <p:nvPr/>
        </p:nvSpPr>
        <p:spPr>
          <a:xfrm>
            <a:off x="4512733"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J1</a:t>
            </a:r>
          </a:p>
        </p:txBody>
      </p:sp>
      <p:sp>
        <p:nvSpPr>
          <p:cNvPr id="35" name="Losange 34">
            <a:extLst>
              <a:ext uri="{FF2B5EF4-FFF2-40B4-BE49-F238E27FC236}">
                <a16:creationId xmlns:a16="http://schemas.microsoft.com/office/drawing/2014/main" id="{2EF2738C-26A5-44FA-87B1-5811014B1E2E}"/>
              </a:ext>
            </a:extLst>
          </p:cNvPr>
          <p:cNvSpPr/>
          <p:nvPr/>
        </p:nvSpPr>
        <p:spPr>
          <a:xfrm>
            <a:off x="5761566"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dirty="0">
                <a:solidFill>
                  <a:srgbClr val="FFFFFF"/>
                </a:solidFill>
              </a:rPr>
              <a:t>J2</a:t>
            </a:r>
          </a:p>
        </p:txBody>
      </p:sp>
      <p:sp>
        <p:nvSpPr>
          <p:cNvPr id="36" name="Losange 35">
            <a:extLst>
              <a:ext uri="{FF2B5EF4-FFF2-40B4-BE49-F238E27FC236}">
                <a16:creationId xmlns:a16="http://schemas.microsoft.com/office/drawing/2014/main" id="{2CF457B2-2DEB-409E-A07C-277158016D39}"/>
              </a:ext>
            </a:extLst>
          </p:cNvPr>
          <p:cNvSpPr/>
          <p:nvPr/>
        </p:nvSpPr>
        <p:spPr>
          <a:xfrm>
            <a:off x="8259233"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J3</a:t>
            </a:r>
          </a:p>
        </p:txBody>
      </p:sp>
      <p:sp>
        <p:nvSpPr>
          <p:cNvPr id="37" name="Losange 36">
            <a:extLst>
              <a:ext uri="{FF2B5EF4-FFF2-40B4-BE49-F238E27FC236}">
                <a16:creationId xmlns:a16="http://schemas.microsoft.com/office/drawing/2014/main" id="{B704D660-069F-4CFD-B662-00C5E58646A6}"/>
              </a:ext>
            </a:extLst>
          </p:cNvPr>
          <p:cNvSpPr/>
          <p:nvPr/>
        </p:nvSpPr>
        <p:spPr>
          <a:xfrm>
            <a:off x="9508066"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J4</a:t>
            </a:r>
          </a:p>
        </p:txBody>
      </p:sp>
      <p:sp>
        <p:nvSpPr>
          <p:cNvPr id="38" name="Losange 37">
            <a:extLst>
              <a:ext uri="{FF2B5EF4-FFF2-40B4-BE49-F238E27FC236}">
                <a16:creationId xmlns:a16="http://schemas.microsoft.com/office/drawing/2014/main" id="{7AB170BD-C182-48D6-AD0C-B7CB6F60BF1A}"/>
              </a:ext>
            </a:extLst>
          </p:cNvPr>
          <p:cNvSpPr/>
          <p:nvPr/>
        </p:nvSpPr>
        <p:spPr>
          <a:xfrm>
            <a:off x="10756900"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J5</a:t>
            </a:r>
          </a:p>
        </p:txBody>
      </p:sp>
      <p:sp>
        <p:nvSpPr>
          <p:cNvPr id="39" name="ZoneTexte 38">
            <a:extLst>
              <a:ext uri="{FF2B5EF4-FFF2-40B4-BE49-F238E27FC236}">
                <a16:creationId xmlns:a16="http://schemas.microsoft.com/office/drawing/2014/main" id="{972BBD9E-F999-4E8A-A94F-5A76E86F022C}"/>
              </a:ext>
            </a:extLst>
          </p:cNvPr>
          <p:cNvSpPr txBox="1"/>
          <p:nvPr/>
        </p:nvSpPr>
        <p:spPr>
          <a:xfrm>
            <a:off x="1143000" y="4724400"/>
            <a:ext cx="9779000" cy="254000"/>
          </a:xfrm>
          <a:prstGeom prst="rect">
            <a:avLst/>
          </a:prstGeom>
          <a:noFill/>
        </p:spPr>
        <p:txBody>
          <a:bodyPr vertOverflow="overflow" vert="horz" wrap="square" rtlCol="0" anchor="t">
            <a:spAutoFit/>
          </a:bodyPr>
          <a:lstStyle/>
          <a:p>
            <a:pPr algn="l"/>
            <a:r>
              <a:rPr lang="fr-FR" sz="1100">
                <a:solidFill>
                  <a:srgbClr val="5D6D7E"/>
                </a:solidFill>
                <a:latin typeface="Segoe UI"/>
                <a:cs typeface="Segoe UI"/>
              </a:rPr>
              <a:t>J1 Gouvernance validée (S2)   ·   J2 Reporting en place   ·   J3 Produit prêt (S8)   ·   J4 100 % formés (S10)   ·   J5 Bilan &amp; go/no-go (S12)</a:t>
            </a:r>
          </a:p>
        </p:txBody>
      </p:sp>
      <p:sp>
        <p:nvSpPr>
          <p:cNvPr id="40" name="Rectangle : coins arrondis 39">
            <a:extLst>
              <a:ext uri="{FF2B5EF4-FFF2-40B4-BE49-F238E27FC236}">
                <a16:creationId xmlns:a16="http://schemas.microsoft.com/office/drawing/2014/main" id="{48E7EDC4-34C1-478F-838E-DFC74381DC61}"/>
              </a:ext>
            </a:extLst>
          </p:cNvPr>
          <p:cNvSpPr/>
          <p:nvPr/>
        </p:nvSpPr>
        <p:spPr>
          <a:xfrm>
            <a:off x="1143000" y="5461000"/>
            <a:ext cx="9779000" cy="558800"/>
          </a:xfrm>
          <a:prstGeom prst="roundRect">
            <a:avLst/>
          </a:prstGeom>
          <a:solidFill>
            <a:srgbClr val="EBF5EE"/>
          </a:solidFill>
          <a:ln w="12700" cap="flat" cmpd="sng" algn="ctr">
            <a:solidFill>
              <a:srgbClr val="27AE6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r>
              <a:rPr lang="fr-FR" sz="1500" b="1">
                <a:solidFill>
                  <a:srgbClr val="1E7D45"/>
                </a:solidFill>
                <a:latin typeface="Segoe UI Semibold"/>
                <a:cs typeface="Segoe UI Semibold"/>
              </a:rPr>
              <a:t>✓  Les formations se terminent avant le début du pilote.</a:t>
            </a:r>
          </a:p>
        </p:txBody>
      </p:sp>
    </p:spTree>
    <p:extLst>
      <p:ext uri="{BB962C8B-B14F-4D97-AF65-F5344CB8AC3E}">
        <p14:creationId xmlns:p14="http://schemas.microsoft.com/office/powerpoint/2010/main" val="19781964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73E628C-8263-4F4B-B7EC-A4182AF8B30A}"/>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87B865AE-11B5-4406-9906-FCFDA3829428}"/>
              </a:ext>
            </a:extLst>
          </p:cNvPr>
          <p:cNvSpPr txBox="1"/>
          <p:nvPr/>
        </p:nvSpPr>
        <p:spPr>
          <a:xfrm>
            <a:off x="1143000" y="482600"/>
            <a:ext cx="9779000" cy="254000"/>
          </a:xfrm>
          <a:prstGeom prst="rect">
            <a:avLst/>
          </a:prstGeom>
          <a:noFill/>
        </p:spPr>
        <p:txBody>
          <a:bodyPr vertOverflow="overflow" vert="horz" wrap="square" rtlCol="0" anchor="t">
            <a:spAutoFit/>
          </a:bodyPr>
          <a:lstStyle/>
          <a:p>
            <a:pPr algn="l"/>
            <a:r>
              <a:rPr lang="fr-FR" sz="1300" b="1">
                <a:solidFill>
                  <a:srgbClr val="2E86AB"/>
                </a:solidFill>
                <a:latin typeface="Segoe UI"/>
                <a:cs typeface="Segoe UI"/>
              </a:rPr>
              <a:t>GOUVERNANCE</a:t>
            </a:r>
          </a:p>
        </p:txBody>
      </p:sp>
      <p:sp>
        <p:nvSpPr>
          <p:cNvPr id="4" name="ZoneTexte 3">
            <a:extLst>
              <a:ext uri="{FF2B5EF4-FFF2-40B4-BE49-F238E27FC236}">
                <a16:creationId xmlns:a16="http://schemas.microsoft.com/office/drawing/2014/main" id="{DC3188C0-7237-4CA0-87BF-D6820B4CF8EE}"/>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Qui décide quoi</a:t>
            </a:r>
          </a:p>
        </p:txBody>
      </p:sp>
      <p:sp>
        <p:nvSpPr>
          <p:cNvPr id="5" name="ZoneTexte 4">
            <a:extLst>
              <a:ext uri="{FF2B5EF4-FFF2-40B4-BE49-F238E27FC236}">
                <a16:creationId xmlns:a16="http://schemas.microsoft.com/office/drawing/2014/main" id="{6B1EAD51-0434-49C8-ABB0-931E56612761}"/>
              </a:ext>
            </a:extLst>
          </p:cNvPr>
          <p:cNvSpPr txBox="1"/>
          <p:nvPr/>
        </p:nvSpPr>
        <p:spPr>
          <a:xfrm>
            <a:off x="1143000" y="1473200"/>
            <a:ext cx="9779000" cy="292388"/>
          </a:xfrm>
          <a:prstGeom prst="rect">
            <a:avLst/>
          </a:prstGeom>
          <a:noFill/>
        </p:spPr>
        <p:txBody>
          <a:bodyPr vertOverflow="overflow" vert="horz" wrap="square" rtlCol="0" anchor="t">
            <a:spAutoFit/>
          </a:bodyPr>
          <a:lstStyle/>
          <a:p>
            <a:pPr algn="l"/>
            <a:r>
              <a:rPr lang="fr-FR" sz="1300" b="1">
                <a:solidFill>
                  <a:srgbClr val="2E86AB"/>
                </a:solidFill>
              </a:rPr>
              <a:t>MÉTHODE HYBRIDE · deux natures de travail, deux modes</a:t>
            </a:r>
          </a:p>
        </p:txBody>
      </p:sp>
      <p:sp>
        <p:nvSpPr>
          <p:cNvPr id="6" name="Rectangle : coins arrondis 5">
            <a:extLst>
              <a:ext uri="{FF2B5EF4-FFF2-40B4-BE49-F238E27FC236}">
                <a16:creationId xmlns:a16="http://schemas.microsoft.com/office/drawing/2014/main" id="{D9EBCECB-992C-44DE-AC3F-EB57CD180C22}"/>
              </a:ext>
            </a:extLst>
          </p:cNvPr>
          <p:cNvSpPr/>
          <p:nvPr/>
        </p:nvSpPr>
        <p:spPr>
          <a:xfrm>
            <a:off x="1143000" y="1778000"/>
            <a:ext cx="4762500" cy="9398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7" name="ZoneTexte 6">
            <a:extLst>
              <a:ext uri="{FF2B5EF4-FFF2-40B4-BE49-F238E27FC236}">
                <a16:creationId xmlns:a16="http://schemas.microsoft.com/office/drawing/2014/main" id="{19930F8E-23FC-4541-A1C7-070BC7528116}"/>
              </a:ext>
            </a:extLst>
          </p:cNvPr>
          <p:cNvSpPr txBox="1"/>
          <p:nvPr/>
        </p:nvSpPr>
        <p:spPr>
          <a:xfrm>
            <a:off x="1346200" y="1905000"/>
            <a:ext cx="43561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Sprints de 2 semaines</a:t>
            </a:r>
          </a:p>
        </p:txBody>
      </p:sp>
      <p:sp>
        <p:nvSpPr>
          <p:cNvPr id="8" name="ZoneTexte 7">
            <a:extLst>
              <a:ext uri="{FF2B5EF4-FFF2-40B4-BE49-F238E27FC236}">
                <a16:creationId xmlns:a16="http://schemas.microsoft.com/office/drawing/2014/main" id="{39160C30-3E2D-4B81-BDF9-4F9B9A27956B}"/>
              </a:ext>
            </a:extLst>
          </p:cNvPr>
          <p:cNvSpPr txBox="1"/>
          <p:nvPr/>
        </p:nvSpPr>
        <p:spPr>
          <a:xfrm>
            <a:off x="1346200" y="2235200"/>
            <a:ext cx="4356100" cy="276999"/>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Produit · évolutions planifiables, cadence lisible</a:t>
            </a:r>
          </a:p>
        </p:txBody>
      </p:sp>
      <p:sp>
        <p:nvSpPr>
          <p:cNvPr id="9" name="Rectangle : coins arrondis 8">
            <a:extLst>
              <a:ext uri="{FF2B5EF4-FFF2-40B4-BE49-F238E27FC236}">
                <a16:creationId xmlns:a16="http://schemas.microsoft.com/office/drawing/2014/main" id="{D932CC92-6EDF-471F-9F4F-BD4EF7F35A55}"/>
              </a:ext>
            </a:extLst>
          </p:cNvPr>
          <p:cNvSpPr/>
          <p:nvPr/>
        </p:nvSpPr>
        <p:spPr>
          <a:xfrm>
            <a:off x="6159500" y="1778000"/>
            <a:ext cx="4762500" cy="9398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0" name="ZoneTexte 9">
            <a:extLst>
              <a:ext uri="{FF2B5EF4-FFF2-40B4-BE49-F238E27FC236}">
                <a16:creationId xmlns:a16="http://schemas.microsoft.com/office/drawing/2014/main" id="{488CCC35-08B5-49E9-B3D7-FC571BD8554B}"/>
              </a:ext>
            </a:extLst>
          </p:cNvPr>
          <p:cNvSpPr txBox="1"/>
          <p:nvPr/>
        </p:nvSpPr>
        <p:spPr>
          <a:xfrm>
            <a:off x="6362700" y="1905000"/>
            <a:ext cx="43561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Flux Kanban continu</a:t>
            </a:r>
          </a:p>
        </p:txBody>
      </p:sp>
      <p:sp>
        <p:nvSpPr>
          <p:cNvPr id="11" name="ZoneTexte 10">
            <a:extLst>
              <a:ext uri="{FF2B5EF4-FFF2-40B4-BE49-F238E27FC236}">
                <a16:creationId xmlns:a16="http://schemas.microsoft.com/office/drawing/2014/main" id="{2BFB73F3-B860-4B2C-9E4B-6E0903F01B12}"/>
              </a:ext>
            </a:extLst>
          </p:cNvPr>
          <p:cNvSpPr txBox="1"/>
          <p:nvPr/>
        </p:nvSpPr>
        <p:spPr>
          <a:xfrm>
            <a:off x="6362700" y="2235200"/>
            <a:ext cx="4356100" cy="276999"/>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Support · flux imprévisible, file de priorités</a:t>
            </a:r>
          </a:p>
        </p:txBody>
      </p:sp>
      <p:sp>
        <p:nvSpPr>
          <p:cNvPr id="12" name="Rectangle : coins arrondis 11">
            <a:extLst>
              <a:ext uri="{FF2B5EF4-FFF2-40B4-BE49-F238E27FC236}">
                <a16:creationId xmlns:a16="http://schemas.microsoft.com/office/drawing/2014/main" id="{4EA7E9B1-A035-43E0-AB54-ECFAB59658C9}"/>
              </a:ext>
            </a:extLst>
          </p:cNvPr>
          <p:cNvSpPr/>
          <p:nvPr/>
        </p:nvSpPr>
        <p:spPr>
          <a:xfrm>
            <a:off x="1143000" y="2870200"/>
            <a:ext cx="9779000" cy="7366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3" name="ZoneTexte 12">
            <a:extLst>
              <a:ext uri="{FF2B5EF4-FFF2-40B4-BE49-F238E27FC236}">
                <a16:creationId xmlns:a16="http://schemas.microsoft.com/office/drawing/2014/main" id="{7F7D9889-1548-413B-82CD-8AA91E766608}"/>
              </a:ext>
            </a:extLst>
          </p:cNvPr>
          <p:cNvSpPr txBox="1"/>
          <p:nvPr/>
        </p:nvSpPr>
        <p:spPr>
          <a:xfrm>
            <a:off x="1346200" y="2984500"/>
            <a:ext cx="6350000" cy="279400"/>
          </a:xfrm>
          <a:prstGeom prst="rect">
            <a:avLst/>
          </a:prstGeom>
          <a:noFill/>
        </p:spPr>
        <p:txBody>
          <a:bodyPr vertOverflow="overflow" vert="horz" wrap="square" rtlCol="0" anchor="t">
            <a:spAutoFit/>
          </a:bodyPr>
          <a:lstStyle/>
          <a:p>
            <a:pPr algn="l"/>
            <a:r>
              <a:rPr lang="fr-FR" sz="1600" b="1">
                <a:solidFill>
                  <a:srgbClr val="1A5276"/>
                </a:solidFill>
                <a:latin typeface="Segoe UI Semibold"/>
                <a:cs typeface="Segoe UI Semibold"/>
              </a:rPr>
              <a:t>Comité d'arbitrage hebdomadaire</a:t>
            </a:r>
          </a:p>
        </p:txBody>
      </p:sp>
      <p:sp>
        <p:nvSpPr>
          <p:cNvPr id="14" name="ZoneTexte 13">
            <a:extLst>
              <a:ext uri="{FF2B5EF4-FFF2-40B4-BE49-F238E27FC236}">
                <a16:creationId xmlns:a16="http://schemas.microsoft.com/office/drawing/2014/main" id="{65E6DEE9-57B1-4EE3-B41C-503A2DEF84B9}"/>
              </a:ext>
            </a:extLst>
          </p:cNvPr>
          <p:cNvSpPr txBox="1"/>
          <p:nvPr/>
        </p:nvSpPr>
        <p:spPr>
          <a:xfrm>
            <a:off x="1346200" y="3276600"/>
            <a:ext cx="9398000" cy="276999"/>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Product Owner  ·  Lead Data  ·  référent métier  ·  règle les conflits de priorités en jours, pas en mois.</a:t>
            </a:r>
          </a:p>
        </p:txBody>
      </p:sp>
      <p:sp>
        <p:nvSpPr>
          <p:cNvPr id="15" name="ZoneTexte 14">
            <a:extLst>
              <a:ext uri="{FF2B5EF4-FFF2-40B4-BE49-F238E27FC236}">
                <a16:creationId xmlns:a16="http://schemas.microsoft.com/office/drawing/2014/main" id="{95C99BC2-1161-4116-BE21-DF6CB690CE85}"/>
              </a:ext>
            </a:extLst>
          </p:cNvPr>
          <p:cNvSpPr txBox="1"/>
          <p:nvPr/>
        </p:nvSpPr>
        <p:spPr>
          <a:xfrm>
            <a:off x="1143000" y="3784600"/>
            <a:ext cx="9779000" cy="254000"/>
          </a:xfrm>
          <a:prstGeom prst="rect">
            <a:avLst/>
          </a:prstGeom>
          <a:noFill/>
        </p:spPr>
        <p:txBody>
          <a:bodyPr vertOverflow="overflow" vert="horz" wrap="square" rtlCol="0" anchor="t">
            <a:spAutoFit/>
          </a:bodyPr>
          <a:lstStyle/>
          <a:p>
            <a:pPr algn="l"/>
            <a:r>
              <a:rPr lang="fr-FR" sz="1300" b="1">
                <a:solidFill>
                  <a:srgbClr val="2E86AB"/>
                </a:solidFill>
              </a:rPr>
              <a:t>UN SEUL RESPONSABLE PAR ACTIVITÉ</a:t>
            </a:r>
          </a:p>
        </p:txBody>
      </p:sp>
      <p:sp>
        <p:nvSpPr>
          <p:cNvPr id="16" name="Rectangle : coins arrondis 15">
            <a:extLst>
              <a:ext uri="{FF2B5EF4-FFF2-40B4-BE49-F238E27FC236}">
                <a16:creationId xmlns:a16="http://schemas.microsoft.com/office/drawing/2014/main" id="{3294DC05-3FAB-407A-BEC7-AA2EE069DBB8}"/>
              </a:ext>
            </a:extLst>
          </p:cNvPr>
          <p:cNvSpPr/>
          <p:nvPr/>
        </p:nvSpPr>
        <p:spPr>
          <a:xfrm>
            <a:off x="1143000" y="4089400"/>
            <a:ext cx="3175000" cy="10160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7" name="ZoneTexte 16">
            <a:extLst>
              <a:ext uri="{FF2B5EF4-FFF2-40B4-BE49-F238E27FC236}">
                <a16:creationId xmlns:a16="http://schemas.microsoft.com/office/drawing/2014/main" id="{B9DC5A5C-855F-46BF-A9CE-DEBBA3E7A9DE}"/>
              </a:ext>
            </a:extLst>
          </p:cNvPr>
          <p:cNvSpPr txBox="1"/>
          <p:nvPr/>
        </p:nvSpPr>
        <p:spPr>
          <a:xfrm>
            <a:off x="1320800" y="4216400"/>
            <a:ext cx="2819400" cy="254000"/>
          </a:xfrm>
          <a:prstGeom prst="rect">
            <a:avLst/>
          </a:prstGeom>
          <a:noFill/>
        </p:spPr>
        <p:txBody>
          <a:bodyPr vertOverflow="overflow" vert="horz" wrap="square" rtlCol="0" anchor="t">
            <a:spAutoFit/>
          </a:bodyPr>
          <a:lstStyle/>
          <a:p>
            <a:pPr algn="l"/>
            <a:r>
              <a:rPr lang="fr-FR" sz="1400" b="1">
                <a:solidFill>
                  <a:srgbClr val="1A5276"/>
                </a:solidFill>
                <a:latin typeface="Segoe UI Semibold"/>
                <a:cs typeface="Segoe UI Semibold"/>
              </a:rPr>
              <a:t>Product Owner</a:t>
            </a:r>
          </a:p>
        </p:txBody>
      </p:sp>
      <p:sp>
        <p:nvSpPr>
          <p:cNvPr id="18" name="ZoneTexte 17">
            <a:extLst>
              <a:ext uri="{FF2B5EF4-FFF2-40B4-BE49-F238E27FC236}">
                <a16:creationId xmlns:a16="http://schemas.microsoft.com/office/drawing/2014/main" id="{B0FD25A7-0601-4732-9AC2-D33A0ACA04F1}"/>
              </a:ext>
            </a:extLst>
          </p:cNvPr>
          <p:cNvSpPr txBox="1"/>
          <p:nvPr/>
        </p:nvSpPr>
        <p:spPr>
          <a:xfrm>
            <a:off x="1320800" y="4521200"/>
            <a:ext cx="28194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Priorisation du backlog</a:t>
            </a:r>
          </a:p>
        </p:txBody>
      </p:sp>
      <p:sp>
        <p:nvSpPr>
          <p:cNvPr id="19" name="Rectangle : coins arrondis 18">
            <a:extLst>
              <a:ext uri="{FF2B5EF4-FFF2-40B4-BE49-F238E27FC236}">
                <a16:creationId xmlns:a16="http://schemas.microsoft.com/office/drawing/2014/main" id="{B49ED90F-5B79-4D4A-B391-C8E850C91728}"/>
              </a:ext>
            </a:extLst>
          </p:cNvPr>
          <p:cNvSpPr/>
          <p:nvPr/>
        </p:nvSpPr>
        <p:spPr>
          <a:xfrm>
            <a:off x="4445000" y="4089400"/>
            <a:ext cx="3175000" cy="10160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0" name="ZoneTexte 19">
            <a:extLst>
              <a:ext uri="{FF2B5EF4-FFF2-40B4-BE49-F238E27FC236}">
                <a16:creationId xmlns:a16="http://schemas.microsoft.com/office/drawing/2014/main" id="{88D904B9-62AC-489E-B179-299CF529E8BA}"/>
              </a:ext>
            </a:extLst>
          </p:cNvPr>
          <p:cNvSpPr txBox="1"/>
          <p:nvPr/>
        </p:nvSpPr>
        <p:spPr>
          <a:xfrm>
            <a:off x="4622800" y="4216400"/>
            <a:ext cx="2819400" cy="254000"/>
          </a:xfrm>
          <a:prstGeom prst="rect">
            <a:avLst/>
          </a:prstGeom>
          <a:noFill/>
        </p:spPr>
        <p:txBody>
          <a:bodyPr vertOverflow="overflow" vert="horz" wrap="square" rtlCol="0" anchor="t">
            <a:spAutoFit/>
          </a:bodyPr>
          <a:lstStyle/>
          <a:p>
            <a:pPr algn="l"/>
            <a:r>
              <a:rPr lang="fr-FR" sz="1400" b="1">
                <a:solidFill>
                  <a:srgbClr val="FFFFFF"/>
                </a:solidFill>
                <a:latin typeface="Segoe UI Semibold"/>
                <a:cs typeface="Segoe UI Semibold"/>
              </a:rPr>
              <a:t>Lead Data (moi)</a:t>
            </a:r>
          </a:p>
        </p:txBody>
      </p:sp>
      <p:sp>
        <p:nvSpPr>
          <p:cNvPr id="21" name="ZoneTexte 20">
            <a:extLst>
              <a:ext uri="{FF2B5EF4-FFF2-40B4-BE49-F238E27FC236}">
                <a16:creationId xmlns:a16="http://schemas.microsoft.com/office/drawing/2014/main" id="{D3E78536-4129-4AE8-BD81-2DBD14903802}"/>
              </a:ext>
            </a:extLst>
          </p:cNvPr>
          <p:cNvSpPr txBox="1"/>
          <p:nvPr/>
        </p:nvSpPr>
        <p:spPr>
          <a:xfrm>
            <a:off x="4622800" y="4521200"/>
            <a:ext cx="2819400" cy="508000"/>
          </a:xfrm>
          <a:prstGeom prst="rect">
            <a:avLst/>
          </a:prstGeom>
          <a:noFill/>
        </p:spPr>
        <p:txBody>
          <a:bodyPr vertOverflow="overflow" vert="horz" wrap="square" rtlCol="0" anchor="t">
            <a:spAutoFit/>
          </a:bodyPr>
          <a:lstStyle/>
          <a:p>
            <a:pPr algn="l"/>
            <a:r>
              <a:rPr lang="fr-FR" sz="1200">
                <a:solidFill>
                  <a:srgbClr val="EAF2F8"/>
                </a:solidFill>
                <a:latin typeface="Segoe UI"/>
                <a:cs typeface="Segoe UI"/>
              </a:rPr>
              <a:t>Planification · fiabilité des KPI · reporting</a:t>
            </a:r>
          </a:p>
        </p:txBody>
      </p:sp>
      <p:sp>
        <p:nvSpPr>
          <p:cNvPr id="22" name="Rectangle : coins arrondis 21">
            <a:extLst>
              <a:ext uri="{FF2B5EF4-FFF2-40B4-BE49-F238E27FC236}">
                <a16:creationId xmlns:a16="http://schemas.microsoft.com/office/drawing/2014/main" id="{C1A5EABE-9B45-4735-B015-09F28C7D1AA9}"/>
              </a:ext>
            </a:extLst>
          </p:cNvPr>
          <p:cNvSpPr/>
          <p:nvPr/>
        </p:nvSpPr>
        <p:spPr>
          <a:xfrm>
            <a:off x="7747000" y="4089400"/>
            <a:ext cx="3175000" cy="10160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3" name="ZoneTexte 22">
            <a:extLst>
              <a:ext uri="{FF2B5EF4-FFF2-40B4-BE49-F238E27FC236}">
                <a16:creationId xmlns:a16="http://schemas.microsoft.com/office/drawing/2014/main" id="{23F2EE6B-3173-4C63-80A1-1FB65148E849}"/>
              </a:ext>
            </a:extLst>
          </p:cNvPr>
          <p:cNvSpPr txBox="1"/>
          <p:nvPr/>
        </p:nvSpPr>
        <p:spPr>
          <a:xfrm>
            <a:off x="7924800" y="4216400"/>
            <a:ext cx="2819400" cy="254000"/>
          </a:xfrm>
          <a:prstGeom prst="rect">
            <a:avLst/>
          </a:prstGeom>
          <a:noFill/>
        </p:spPr>
        <p:txBody>
          <a:bodyPr vertOverflow="overflow" vert="horz" wrap="square" rtlCol="0" anchor="t">
            <a:spAutoFit/>
          </a:bodyPr>
          <a:lstStyle/>
          <a:p>
            <a:pPr algn="l"/>
            <a:r>
              <a:rPr lang="fr-FR" sz="1400" b="1">
                <a:solidFill>
                  <a:srgbClr val="1A5276"/>
                </a:solidFill>
                <a:latin typeface="Segoe UI Semibold"/>
                <a:cs typeface="Segoe UI Semibold"/>
              </a:rPr>
              <a:t>Référent accessibilité</a:t>
            </a:r>
          </a:p>
        </p:txBody>
      </p:sp>
      <p:sp>
        <p:nvSpPr>
          <p:cNvPr id="24" name="ZoneTexte 23">
            <a:extLst>
              <a:ext uri="{FF2B5EF4-FFF2-40B4-BE49-F238E27FC236}">
                <a16:creationId xmlns:a16="http://schemas.microsoft.com/office/drawing/2014/main" id="{E71583FC-6A5B-4BC7-AA71-83CA517D9196}"/>
              </a:ext>
            </a:extLst>
          </p:cNvPr>
          <p:cNvSpPr txBox="1"/>
          <p:nvPr/>
        </p:nvSpPr>
        <p:spPr>
          <a:xfrm>
            <a:off x="7924800" y="4521200"/>
            <a:ext cx="28194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Validation de chaque support</a:t>
            </a:r>
          </a:p>
        </p:txBody>
      </p:sp>
      <p:sp>
        <p:nvSpPr>
          <p:cNvPr id="25" name="Rectangle : coins arrondis 24">
            <a:extLst>
              <a:ext uri="{FF2B5EF4-FFF2-40B4-BE49-F238E27FC236}">
                <a16:creationId xmlns:a16="http://schemas.microsoft.com/office/drawing/2014/main" id="{7393EFB6-C238-49D7-8C02-06277688D7D8}"/>
              </a:ext>
            </a:extLst>
          </p:cNvPr>
          <p:cNvSpPr/>
          <p:nvPr/>
        </p:nvSpPr>
        <p:spPr>
          <a:xfrm>
            <a:off x="1143000" y="5283200"/>
            <a:ext cx="9779000" cy="6350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r>
              <a:rPr lang="fr-FR" sz="1600" b="1">
                <a:solidFill>
                  <a:srgbClr val="FFFFFF"/>
                </a:solidFill>
                <a:latin typeface="Segoe UI Semibold"/>
                <a:cs typeface="Segoe UI Semibold"/>
              </a:rPr>
              <a:t>①  Décision attendue :  valider ce mode de gouvernance</a:t>
            </a:r>
          </a:p>
        </p:txBody>
      </p:sp>
    </p:spTree>
    <p:extLst>
      <p:ext uri="{BB962C8B-B14F-4D97-AF65-F5344CB8AC3E}">
        <p14:creationId xmlns:p14="http://schemas.microsoft.com/office/powerpoint/2010/main" val="1541252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AE9FFEC-5077-41E0-B9D1-11588CAC5EF3}"/>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52EBB074-5417-4467-B364-594F45AEB96B}"/>
              </a:ext>
            </a:extLst>
          </p:cNvPr>
          <p:cNvSpPr txBox="1"/>
          <p:nvPr/>
        </p:nvSpPr>
        <p:spPr>
          <a:xfrm>
            <a:off x="1143000" y="482600"/>
            <a:ext cx="9779000" cy="254000"/>
          </a:xfrm>
          <a:prstGeom prst="rect">
            <a:avLst/>
          </a:prstGeom>
          <a:noFill/>
        </p:spPr>
        <p:txBody>
          <a:bodyPr vertOverflow="overflow" vert="horz" wrap="square" rtlCol="0" anchor="t">
            <a:spAutoFit/>
          </a:bodyPr>
          <a:lstStyle/>
          <a:p>
            <a:pPr algn="l"/>
            <a:r>
              <a:rPr lang="fr-FR" sz="1300" b="1">
                <a:solidFill>
                  <a:srgbClr val="2E86AB"/>
                </a:solidFill>
              </a:rPr>
              <a:t>INDICATEURS (KPI)</a:t>
            </a:r>
          </a:p>
        </p:txBody>
      </p:sp>
      <p:sp>
        <p:nvSpPr>
          <p:cNvPr id="4" name="ZoneTexte 3">
            <a:extLst>
              <a:ext uri="{FF2B5EF4-FFF2-40B4-BE49-F238E27FC236}">
                <a16:creationId xmlns:a16="http://schemas.microsoft.com/office/drawing/2014/main" id="{A0FF602C-0396-490E-80AE-5A4A1494DC00}"/>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Des cibles chiffrées en 4 catégories</a:t>
            </a:r>
          </a:p>
        </p:txBody>
      </p:sp>
      <p:sp>
        <p:nvSpPr>
          <p:cNvPr id="5" name="ZoneTexte 4">
            <a:extLst>
              <a:ext uri="{FF2B5EF4-FFF2-40B4-BE49-F238E27FC236}">
                <a16:creationId xmlns:a16="http://schemas.microsoft.com/office/drawing/2014/main" id="{B6C0FAB1-ED79-41F6-9409-F5EFE2A88E52}"/>
              </a:ext>
            </a:extLst>
          </p:cNvPr>
          <p:cNvSpPr txBox="1"/>
          <p:nvPr/>
        </p:nvSpPr>
        <p:spPr>
          <a:xfrm>
            <a:off x="8039100" y="1473200"/>
            <a:ext cx="3048000" cy="228600"/>
          </a:xfrm>
          <a:prstGeom prst="rect">
            <a:avLst/>
          </a:prstGeom>
          <a:noFill/>
        </p:spPr>
        <p:txBody>
          <a:bodyPr vertOverflow="overflow" vert="horz" wrap="square" rtlCol="0" anchor="t">
            <a:spAutoFit/>
          </a:bodyPr>
          <a:lstStyle/>
          <a:p>
            <a:pPr algn="l"/>
            <a:r>
              <a:rPr lang="fr-FR" sz="1200" b="1">
                <a:solidFill>
                  <a:srgbClr val="2E86AB"/>
                </a:solidFill>
                <a:latin typeface="Segoe UI"/>
                <a:cs typeface="Segoe UI"/>
              </a:rPr>
              <a:t>4 CATÉGORIES DE PILOTAGE</a:t>
            </a:r>
          </a:p>
        </p:txBody>
      </p:sp>
      <p:sp>
        <p:nvSpPr>
          <p:cNvPr id="6" name="Ellipse 5">
            <a:extLst>
              <a:ext uri="{FF2B5EF4-FFF2-40B4-BE49-F238E27FC236}">
                <a16:creationId xmlns:a16="http://schemas.microsoft.com/office/drawing/2014/main" id="{B8933C2B-ED09-4704-AB3A-58F6EFFB8059}"/>
              </a:ext>
            </a:extLst>
          </p:cNvPr>
          <p:cNvSpPr/>
          <p:nvPr/>
        </p:nvSpPr>
        <p:spPr>
          <a:xfrm>
            <a:off x="8039100" y="1828800"/>
            <a:ext cx="152400" cy="152400"/>
          </a:xfrm>
          <a:prstGeom prst="ellipse">
            <a:avLst/>
          </a:prstGeom>
          <a:solidFill>
            <a:srgbClr val="2E86A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7" name="ZoneTexte 6">
            <a:extLst>
              <a:ext uri="{FF2B5EF4-FFF2-40B4-BE49-F238E27FC236}">
                <a16:creationId xmlns:a16="http://schemas.microsoft.com/office/drawing/2014/main" id="{005E4D3D-22A1-414C-A8D8-92AEB6008FEF}"/>
              </a:ext>
            </a:extLst>
          </p:cNvPr>
          <p:cNvSpPr txBox="1"/>
          <p:nvPr/>
        </p:nvSpPr>
        <p:spPr>
          <a:xfrm>
            <a:off x="8280400" y="17907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Adoption</a:t>
            </a:r>
          </a:p>
        </p:txBody>
      </p:sp>
      <p:sp>
        <p:nvSpPr>
          <p:cNvPr id="8" name="Ellipse 7">
            <a:extLst>
              <a:ext uri="{FF2B5EF4-FFF2-40B4-BE49-F238E27FC236}">
                <a16:creationId xmlns:a16="http://schemas.microsoft.com/office/drawing/2014/main" id="{78D59626-F26E-4EB1-8F80-32AC7949746F}"/>
              </a:ext>
            </a:extLst>
          </p:cNvPr>
          <p:cNvSpPr/>
          <p:nvPr/>
        </p:nvSpPr>
        <p:spPr>
          <a:xfrm>
            <a:off x="8039100" y="2133600"/>
            <a:ext cx="152400" cy="152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9" name="ZoneTexte 8">
            <a:extLst>
              <a:ext uri="{FF2B5EF4-FFF2-40B4-BE49-F238E27FC236}">
                <a16:creationId xmlns:a16="http://schemas.microsoft.com/office/drawing/2014/main" id="{B3596707-59C8-4387-87D4-18A6FBE4AD53}"/>
              </a:ext>
            </a:extLst>
          </p:cNvPr>
          <p:cNvSpPr txBox="1"/>
          <p:nvPr/>
        </p:nvSpPr>
        <p:spPr>
          <a:xfrm>
            <a:off x="8280400" y="20955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Produit</a:t>
            </a:r>
          </a:p>
        </p:txBody>
      </p:sp>
      <p:sp>
        <p:nvSpPr>
          <p:cNvPr id="10" name="Ellipse 9">
            <a:extLst>
              <a:ext uri="{FF2B5EF4-FFF2-40B4-BE49-F238E27FC236}">
                <a16:creationId xmlns:a16="http://schemas.microsoft.com/office/drawing/2014/main" id="{75112334-9FB1-4E0E-B627-4DA3EA332097}"/>
              </a:ext>
            </a:extLst>
          </p:cNvPr>
          <p:cNvSpPr/>
          <p:nvPr/>
        </p:nvSpPr>
        <p:spPr>
          <a:xfrm>
            <a:off x="8039100" y="2438400"/>
            <a:ext cx="152400" cy="152400"/>
          </a:xfrm>
          <a:prstGeom prst="ellipse">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1" name="ZoneTexte 10">
            <a:extLst>
              <a:ext uri="{FF2B5EF4-FFF2-40B4-BE49-F238E27FC236}">
                <a16:creationId xmlns:a16="http://schemas.microsoft.com/office/drawing/2014/main" id="{320233AC-963F-433A-8C9B-5092D1105A02}"/>
              </a:ext>
            </a:extLst>
          </p:cNvPr>
          <p:cNvSpPr txBox="1"/>
          <p:nvPr/>
        </p:nvSpPr>
        <p:spPr>
          <a:xfrm>
            <a:off x="8280400" y="24003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Projet</a:t>
            </a:r>
          </a:p>
        </p:txBody>
      </p:sp>
      <p:sp>
        <p:nvSpPr>
          <p:cNvPr id="12" name="Ellipse 11">
            <a:extLst>
              <a:ext uri="{FF2B5EF4-FFF2-40B4-BE49-F238E27FC236}">
                <a16:creationId xmlns:a16="http://schemas.microsoft.com/office/drawing/2014/main" id="{AD8BCC12-217F-490A-843D-9264DC03883F}"/>
              </a:ext>
            </a:extLst>
          </p:cNvPr>
          <p:cNvSpPr/>
          <p:nvPr/>
        </p:nvSpPr>
        <p:spPr>
          <a:xfrm>
            <a:off x="8039100" y="2743200"/>
            <a:ext cx="152400" cy="152400"/>
          </a:xfrm>
          <a:prstGeom prst="ellipse">
            <a:avLst/>
          </a:prstGeom>
          <a:solidFill>
            <a:srgbClr val="27AE6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3" name="ZoneTexte 12">
            <a:extLst>
              <a:ext uri="{FF2B5EF4-FFF2-40B4-BE49-F238E27FC236}">
                <a16:creationId xmlns:a16="http://schemas.microsoft.com/office/drawing/2014/main" id="{E8683FD9-C503-4384-82A9-9CBCA384F52C}"/>
              </a:ext>
            </a:extLst>
          </p:cNvPr>
          <p:cNvSpPr txBox="1"/>
          <p:nvPr/>
        </p:nvSpPr>
        <p:spPr>
          <a:xfrm>
            <a:off x="8280400" y="27051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RSE</a:t>
            </a:r>
          </a:p>
        </p:txBody>
      </p:sp>
      <p:sp>
        <p:nvSpPr>
          <p:cNvPr id="14" name="Rectangle : coins arrondis 13">
            <a:extLst>
              <a:ext uri="{FF2B5EF4-FFF2-40B4-BE49-F238E27FC236}">
                <a16:creationId xmlns:a16="http://schemas.microsoft.com/office/drawing/2014/main" id="{910E6704-6F45-463E-B599-33F0B3F2B4FC}"/>
              </a:ext>
            </a:extLst>
          </p:cNvPr>
          <p:cNvSpPr/>
          <p:nvPr/>
        </p:nvSpPr>
        <p:spPr>
          <a:xfrm>
            <a:off x="8039100" y="3149600"/>
            <a:ext cx="3048000" cy="838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5" name="ZoneTexte 14">
            <a:extLst>
              <a:ext uri="{FF2B5EF4-FFF2-40B4-BE49-F238E27FC236}">
                <a16:creationId xmlns:a16="http://schemas.microsoft.com/office/drawing/2014/main" id="{0228B332-4F89-4199-B11F-D708465E4122}"/>
              </a:ext>
            </a:extLst>
          </p:cNvPr>
          <p:cNvSpPr txBox="1"/>
          <p:nvPr/>
        </p:nvSpPr>
        <p:spPr>
          <a:xfrm>
            <a:off x="8216900" y="3263900"/>
            <a:ext cx="2692400" cy="228600"/>
          </a:xfrm>
          <a:prstGeom prst="rect">
            <a:avLst/>
          </a:prstGeom>
          <a:noFill/>
        </p:spPr>
        <p:txBody>
          <a:bodyPr vertOverflow="overflow" vert="horz" wrap="square" rtlCol="0" anchor="t">
            <a:spAutoFit/>
          </a:bodyPr>
          <a:lstStyle/>
          <a:p>
            <a:pPr algn="l"/>
            <a:r>
              <a:rPr lang="fr-FR" sz="1200" b="1">
                <a:solidFill>
                  <a:srgbClr val="1A5276"/>
                </a:solidFill>
                <a:latin typeface="Segoe UI Semibold"/>
                <a:cs typeface="Segoe UI Semibold"/>
              </a:rPr>
              <a:t>Jalons tenus</a:t>
            </a:r>
          </a:p>
        </p:txBody>
      </p:sp>
      <p:sp>
        <p:nvSpPr>
          <p:cNvPr id="16" name="ZoneTexte 15">
            <a:extLst>
              <a:ext uri="{FF2B5EF4-FFF2-40B4-BE49-F238E27FC236}">
                <a16:creationId xmlns:a16="http://schemas.microsoft.com/office/drawing/2014/main" id="{7EDF86CB-C6C3-4862-A770-655A419BBD8E}"/>
              </a:ext>
            </a:extLst>
          </p:cNvPr>
          <p:cNvSpPr txBox="1"/>
          <p:nvPr/>
        </p:nvSpPr>
        <p:spPr>
          <a:xfrm>
            <a:off x="8216900" y="3517900"/>
            <a:ext cx="1905000" cy="323165"/>
          </a:xfrm>
          <a:prstGeom prst="rect">
            <a:avLst/>
          </a:prstGeom>
          <a:noFill/>
        </p:spPr>
        <p:txBody>
          <a:bodyPr vertOverflow="overflow" vert="horz" wrap="square" rtlCol="0" anchor="t">
            <a:spAutoFit/>
          </a:bodyPr>
          <a:lstStyle/>
          <a:p>
            <a:pPr algn="l"/>
            <a:r>
              <a:rPr lang="fr-FR" sz="1500" b="1">
                <a:solidFill>
                  <a:srgbClr val="1B2A38"/>
                </a:solidFill>
                <a:latin typeface="Segoe UI Semibold"/>
                <a:cs typeface="Segoe UI Semibold"/>
              </a:rPr>
              <a:t>85 % min.</a:t>
            </a:r>
          </a:p>
        </p:txBody>
      </p:sp>
      <p:sp>
        <p:nvSpPr>
          <p:cNvPr id="17" name="Rectangle : coins arrondis 16">
            <a:extLst>
              <a:ext uri="{FF2B5EF4-FFF2-40B4-BE49-F238E27FC236}">
                <a16:creationId xmlns:a16="http://schemas.microsoft.com/office/drawing/2014/main" id="{981088F5-94B0-4C06-986B-4B109B1A757B}"/>
              </a:ext>
            </a:extLst>
          </p:cNvPr>
          <p:cNvSpPr/>
          <p:nvPr/>
        </p:nvSpPr>
        <p:spPr>
          <a:xfrm>
            <a:off x="10172700" y="3632200"/>
            <a:ext cx="762000" cy="254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Projet</a:t>
            </a:r>
          </a:p>
        </p:txBody>
      </p:sp>
      <p:sp>
        <p:nvSpPr>
          <p:cNvPr id="18" name="Rectangle : coins arrondis 17">
            <a:extLst>
              <a:ext uri="{FF2B5EF4-FFF2-40B4-BE49-F238E27FC236}">
                <a16:creationId xmlns:a16="http://schemas.microsoft.com/office/drawing/2014/main" id="{292E780D-E8F5-4535-8352-83B6A9206555}"/>
              </a:ext>
            </a:extLst>
          </p:cNvPr>
          <p:cNvSpPr/>
          <p:nvPr/>
        </p:nvSpPr>
        <p:spPr>
          <a:xfrm>
            <a:off x="8039100" y="4089400"/>
            <a:ext cx="3048000" cy="838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9" name="ZoneTexte 18">
            <a:extLst>
              <a:ext uri="{FF2B5EF4-FFF2-40B4-BE49-F238E27FC236}">
                <a16:creationId xmlns:a16="http://schemas.microsoft.com/office/drawing/2014/main" id="{006C8D79-5DC1-43D6-A254-B2264281C295}"/>
              </a:ext>
            </a:extLst>
          </p:cNvPr>
          <p:cNvSpPr txBox="1"/>
          <p:nvPr/>
        </p:nvSpPr>
        <p:spPr>
          <a:xfrm>
            <a:off x="8216900" y="4203700"/>
            <a:ext cx="2692400" cy="228600"/>
          </a:xfrm>
          <a:prstGeom prst="rect">
            <a:avLst/>
          </a:prstGeom>
          <a:noFill/>
        </p:spPr>
        <p:txBody>
          <a:bodyPr vertOverflow="overflow" vert="horz" wrap="square" rtlCol="0" anchor="t">
            <a:spAutoFit/>
          </a:bodyPr>
          <a:lstStyle/>
          <a:p>
            <a:pPr algn="l"/>
            <a:r>
              <a:rPr lang="fr-FR" sz="1200" b="1">
                <a:solidFill>
                  <a:srgbClr val="1A5276"/>
                </a:solidFill>
                <a:latin typeface="Segoe UI Semibold"/>
                <a:cs typeface="Segoe UI Semibold"/>
              </a:rPr>
              <a:t>Empreinte numérique</a:t>
            </a:r>
          </a:p>
        </p:txBody>
      </p:sp>
      <p:sp>
        <p:nvSpPr>
          <p:cNvPr id="20" name="ZoneTexte 19">
            <a:extLst>
              <a:ext uri="{FF2B5EF4-FFF2-40B4-BE49-F238E27FC236}">
                <a16:creationId xmlns:a16="http://schemas.microsoft.com/office/drawing/2014/main" id="{5A13F90D-AA21-46F0-B3AF-6E5AE3FCD740}"/>
              </a:ext>
            </a:extLst>
          </p:cNvPr>
          <p:cNvSpPr txBox="1"/>
          <p:nvPr/>
        </p:nvSpPr>
        <p:spPr>
          <a:xfrm>
            <a:off x="8216900" y="4457700"/>
            <a:ext cx="1905000" cy="304800"/>
          </a:xfrm>
          <a:prstGeom prst="rect">
            <a:avLst/>
          </a:prstGeom>
          <a:noFill/>
        </p:spPr>
        <p:txBody>
          <a:bodyPr vertOverflow="overflow" vert="horz" wrap="square" rtlCol="0" anchor="t">
            <a:spAutoFit/>
          </a:bodyPr>
          <a:lstStyle/>
          <a:p>
            <a:pPr algn="l"/>
            <a:r>
              <a:rPr lang="fr-FR" sz="1500" b="1">
                <a:solidFill>
                  <a:srgbClr val="1B2A38"/>
                </a:solidFill>
                <a:latin typeface="Segoe UI Semibold"/>
                <a:cs typeface="Segoe UI Semibold"/>
              </a:rPr>
              <a:t>Définie S4 · suivi mensuel</a:t>
            </a:r>
          </a:p>
        </p:txBody>
      </p:sp>
      <p:sp>
        <p:nvSpPr>
          <p:cNvPr id="21" name="Rectangle : coins arrondis 20">
            <a:extLst>
              <a:ext uri="{FF2B5EF4-FFF2-40B4-BE49-F238E27FC236}">
                <a16:creationId xmlns:a16="http://schemas.microsoft.com/office/drawing/2014/main" id="{D606D668-6804-4962-8D31-E124B1000DAA}"/>
              </a:ext>
            </a:extLst>
          </p:cNvPr>
          <p:cNvSpPr/>
          <p:nvPr/>
        </p:nvSpPr>
        <p:spPr>
          <a:xfrm>
            <a:off x="10172700" y="4572000"/>
            <a:ext cx="762000" cy="2540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RSE</a:t>
            </a:r>
          </a:p>
        </p:txBody>
      </p:sp>
      <p:sp>
        <p:nvSpPr>
          <p:cNvPr id="22" name="Rectangle : coins arrondis 21">
            <a:extLst>
              <a:ext uri="{FF2B5EF4-FFF2-40B4-BE49-F238E27FC236}">
                <a16:creationId xmlns:a16="http://schemas.microsoft.com/office/drawing/2014/main" id="{725ACCA3-27AE-44CC-891E-0CDE1DD28261}"/>
              </a:ext>
            </a:extLst>
          </p:cNvPr>
          <p:cNvSpPr/>
          <p:nvPr/>
        </p:nvSpPr>
        <p:spPr>
          <a:xfrm>
            <a:off x="914400" y="5461000"/>
            <a:ext cx="10007600" cy="5588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lstStyle/>
          <a:p>
            <a:pPr algn="l"/>
            <a:r>
              <a:rPr lang="fr-FR" sz="1400" b="1">
                <a:solidFill>
                  <a:srgbClr val="1A5276"/>
                </a:solidFill>
                <a:latin typeface="Segoe UI Semibold"/>
                <a:cs typeface="Segoe UI Semibold"/>
              </a:rPr>
              <a:t>Chaque indicateur a un responsable, une formule documentée, et une action prévue en cas de dérive.</a:t>
            </a:r>
          </a:p>
        </p:txBody>
      </p:sp>
      <p:graphicFrame>
        <p:nvGraphicFramePr>
          <p:cNvPr id="201" name="ChartKPI"/>
          <p:cNvGraphicFramePr/>
          <p:nvPr/>
        </p:nvGraphicFramePr>
        <p:xfrm>
          <a:off x="914400" y="1473200"/>
          <a:ext cx="6858000" cy="36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5054841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CDFFBE2-745E-4A49-8EAA-3F750D34FF3C}"/>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1E350F23-7948-4D55-AC6C-E60907395E2C}"/>
              </a:ext>
            </a:extLst>
          </p:cNvPr>
          <p:cNvSpPr txBox="1"/>
          <p:nvPr/>
        </p:nvSpPr>
        <p:spPr>
          <a:xfrm>
            <a:off x="1143000" y="482600"/>
            <a:ext cx="5080000" cy="254000"/>
          </a:xfrm>
          <a:prstGeom prst="rect">
            <a:avLst/>
          </a:prstGeom>
          <a:noFill/>
        </p:spPr>
        <p:txBody>
          <a:bodyPr vertOverflow="overflow" vert="horz" wrap="square" rtlCol="0" anchor="t">
            <a:spAutoFit/>
          </a:bodyPr>
          <a:lstStyle/>
          <a:p>
            <a:pPr algn="l"/>
            <a:r>
              <a:rPr lang="fr-FR" sz="1300" b="1">
                <a:solidFill>
                  <a:srgbClr val="2E86AB"/>
                </a:solidFill>
              </a:rPr>
              <a:t>RISQUES</a:t>
            </a:r>
          </a:p>
        </p:txBody>
      </p:sp>
      <p:sp>
        <p:nvSpPr>
          <p:cNvPr id="4" name="ZoneTexte 3">
            <a:extLst>
              <a:ext uri="{FF2B5EF4-FFF2-40B4-BE49-F238E27FC236}">
                <a16:creationId xmlns:a16="http://schemas.microsoft.com/office/drawing/2014/main" id="{131C4F90-9C0E-4C49-BBBC-CA1A1589D803}"/>
              </a:ext>
            </a:extLst>
          </p:cNvPr>
          <p:cNvSpPr txBox="1"/>
          <p:nvPr/>
        </p:nvSpPr>
        <p:spPr>
          <a:xfrm>
            <a:off x="1117600" y="711200"/>
            <a:ext cx="63500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Top 3 et parades</a:t>
            </a:r>
          </a:p>
        </p:txBody>
      </p:sp>
      <p:sp>
        <p:nvSpPr>
          <p:cNvPr id="5" name="ZoneTexte 4">
            <a:extLst>
              <a:ext uri="{FF2B5EF4-FFF2-40B4-BE49-F238E27FC236}">
                <a16:creationId xmlns:a16="http://schemas.microsoft.com/office/drawing/2014/main" id="{35155EB9-88FC-42BD-8370-09E37D676BEA}"/>
              </a:ext>
            </a:extLst>
          </p:cNvPr>
          <p:cNvSpPr txBox="1"/>
          <p:nvPr/>
        </p:nvSpPr>
        <p:spPr>
          <a:xfrm>
            <a:off x="5969000" y="787400"/>
            <a:ext cx="4953000" cy="292388"/>
          </a:xfrm>
          <a:prstGeom prst="rect">
            <a:avLst/>
          </a:prstGeom>
          <a:noFill/>
        </p:spPr>
        <p:txBody>
          <a:bodyPr vertOverflow="overflow" vert="horz" wrap="square" rtlCol="0" anchor="t">
            <a:spAutoFit/>
          </a:bodyPr>
          <a:lstStyle/>
          <a:p>
            <a:pPr algn="l"/>
            <a:r>
              <a:rPr lang="fr-FR" sz="1300" i="1">
                <a:solidFill>
                  <a:srgbClr val="5D6D7E"/>
                </a:solidFill>
              </a:rPr>
              <a:t>6 risques au registre · voici les 3 majeurs</a:t>
            </a:r>
          </a:p>
        </p:txBody>
      </p:sp>
      <p:sp>
        <p:nvSpPr>
          <p:cNvPr id="6" name="ZoneTexte 5">
            <a:extLst>
              <a:ext uri="{FF2B5EF4-FFF2-40B4-BE49-F238E27FC236}">
                <a16:creationId xmlns:a16="http://schemas.microsoft.com/office/drawing/2014/main" id="{8DE6188C-2BFC-4515-8E2E-984E5EBA10D4}"/>
              </a:ext>
            </a:extLst>
          </p:cNvPr>
          <p:cNvSpPr txBox="1"/>
          <p:nvPr/>
        </p:nvSpPr>
        <p:spPr>
          <a:xfrm>
            <a:off x="1016000" y="1524000"/>
            <a:ext cx="3810000" cy="254000"/>
          </a:xfrm>
          <a:prstGeom prst="rect">
            <a:avLst/>
          </a:prstGeom>
          <a:noFill/>
        </p:spPr>
        <p:txBody>
          <a:bodyPr vertOverflow="overflow" vert="horz" wrap="square" rtlCol="0" anchor="ctr" anchorCtr="0">
            <a:spAutoFit/>
          </a:bodyPr>
          <a:lstStyle/>
          <a:p>
            <a:pPr algn="l"/>
            <a:r>
              <a:rPr lang="fr-FR" sz="1200" b="1">
                <a:solidFill>
                  <a:srgbClr val="2E86AB"/>
                </a:solidFill>
                <a:latin typeface="Segoe UI"/>
                <a:cs typeface="Segoe UI"/>
              </a:rPr>
              <a:t>RISQUE</a:t>
            </a:r>
          </a:p>
        </p:txBody>
      </p:sp>
      <p:sp>
        <p:nvSpPr>
          <p:cNvPr id="7" name="ZoneTexte 6">
            <a:extLst>
              <a:ext uri="{FF2B5EF4-FFF2-40B4-BE49-F238E27FC236}">
                <a16:creationId xmlns:a16="http://schemas.microsoft.com/office/drawing/2014/main" id="{C2403A88-882B-4C93-B09E-D0C7C866C6FF}"/>
              </a:ext>
            </a:extLst>
          </p:cNvPr>
          <p:cNvSpPr txBox="1"/>
          <p:nvPr/>
        </p:nvSpPr>
        <p:spPr>
          <a:xfrm>
            <a:off x="4724400" y="1524000"/>
            <a:ext cx="1524000" cy="254000"/>
          </a:xfrm>
          <a:prstGeom prst="rect">
            <a:avLst/>
          </a:prstGeom>
          <a:noFill/>
        </p:spPr>
        <p:txBody>
          <a:bodyPr vertOverflow="overflow" vert="horz" wrap="square" rtlCol="0" anchor="ctr" anchorCtr="0">
            <a:spAutoFit/>
          </a:bodyPr>
          <a:lstStyle/>
          <a:p>
            <a:pPr algn="l"/>
            <a:r>
              <a:rPr lang="fr-FR" sz="1200" b="1">
                <a:solidFill>
                  <a:srgbClr val="2E86AB"/>
                </a:solidFill>
                <a:latin typeface="Segoe UI"/>
                <a:cs typeface="Segoe UI"/>
              </a:rPr>
              <a:t>NIVEAU</a:t>
            </a:r>
          </a:p>
        </p:txBody>
      </p:sp>
      <p:sp>
        <p:nvSpPr>
          <p:cNvPr id="8" name="ZoneTexte 7">
            <a:extLst>
              <a:ext uri="{FF2B5EF4-FFF2-40B4-BE49-F238E27FC236}">
                <a16:creationId xmlns:a16="http://schemas.microsoft.com/office/drawing/2014/main" id="{EFDF729B-35F1-45ED-AF7E-FAF2E95BA1DD}"/>
              </a:ext>
            </a:extLst>
          </p:cNvPr>
          <p:cNvSpPr txBox="1"/>
          <p:nvPr/>
        </p:nvSpPr>
        <p:spPr>
          <a:xfrm>
            <a:off x="6350000" y="1524000"/>
            <a:ext cx="4673600" cy="254000"/>
          </a:xfrm>
          <a:prstGeom prst="rect">
            <a:avLst/>
          </a:prstGeom>
          <a:noFill/>
        </p:spPr>
        <p:txBody>
          <a:bodyPr vertOverflow="overflow" vert="horz" wrap="square" rtlCol="0" anchor="ctr" anchorCtr="0">
            <a:spAutoFit/>
          </a:bodyPr>
          <a:lstStyle/>
          <a:p>
            <a:pPr algn="l"/>
            <a:r>
              <a:rPr lang="fr-FR" sz="1200" b="1">
                <a:solidFill>
                  <a:srgbClr val="2E86AB"/>
                </a:solidFill>
                <a:latin typeface="Segoe UI"/>
                <a:cs typeface="Segoe UI"/>
              </a:rPr>
              <a:t>PARADE</a:t>
            </a:r>
          </a:p>
        </p:txBody>
      </p:sp>
      <p:sp>
        <p:nvSpPr>
          <p:cNvPr id="9" name="Rectangle : coins arrondis 8">
            <a:extLst>
              <a:ext uri="{FF2B5EF4-FFF2-40B4-BE49-F238E27FC236}">
                <a16:creationId xmlns:a16="http://schemas.microsoft.com/office/drawing/2014/main" id="{CF783AAD-529D-48D4-A649-F2D8D23BCF5F}"/>
              </a:ext>
            </a:extLst>
          </p:cNvPr>
          <p:cNvSpPr/>
          <p:nvPr/>
        </p:nvSpPr>
        <p:spPr>
          <a:xfrm>
            <a:off x="914400" y="1879600"/>
            <a:ext cx="10007600" cy="939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0" name="Rectangle 9">
            <a:extLst>
              <a:ext uri="{FF2B5EF4-FFF2-40B4-BE49-F238E27FC236}">
                <a16:creationId xmlns:a16="http://schemas.microsoft.com/office/drawing/2014/main" id="{4553E645-3957-4C8C-B390-9400563209E2}"/>
              </a:ext>
            </a:extLst>
          </p:cNvPr>
          <p:cNvSpPr/>
          <p:nvPr/>
        </p:nvSpPr>
        <p:spPr>
          <a:xfrm>
            <a:off x="914400" y="1879600"/>
            <a:ext cx="63500" cy="939800"/>
          </a:xfrm>
          <a:prstGeom prst="rect">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1" name="ZoneTexte 10">
            <a:extLst>
              <a:ext uri="{FF2B5EF4-FFF2-40B4-BE49-F238E27FC236}">
                <a16:creationId xmlns:a16="http://schemas.microsoft.com/office/drawing/2014/main" id="{4B39DE3A-D661-43E6-8B89-0D986EC85BF2}"/>
              </a:ext>
            </a:extLst>
          </p:cNvPr>
          <p:cNvSpPr txBox="1"/>
          <p:nvPr/>
        </p:nvSpPr>
        <p:spPr>
          <a:xfrm>
            <a:off x="1117600" y="1879600"/>
            <a:ext cx="3606800" cy="939800"/>
          </a:xfrm>
          <a:prstGeom prst="rect">
            <a:avLst/>
          </a:prstGeom>
          <a:noFill/>
        </p:spPr>
        <p:txBody>
          <a:bodyPr vertOverflow="overflow" vert="horz" wrap="square" rtlCol="0" anchor="ctr" anchorCtr="0">
            <a:spAutoFit/>
          </a:bodyPr>
          <a:lstStyle/>
          <a:p>
            <a:pPr algn="l"/>
            <a:r>
              <a:rPr lang="fr-FR" sz="1500" b="1">
                <a:solidFill>
                  <a:srgbClr val="1B2A38"/>
                </a:solidFill>
                <a:latin typeface="Segoe UI Semibold"/>
                <a:cs typeface="Segoe UI Semibold"/>
              </a:rPr>
              <a:t>Non-adoption par les agents</a:t>
            </a:r>
          </a:p>
        </p:txBody>
      </p:sp>
      <p:sp>
        <p:nvSpPr>
          <p:cNvPr id="12" name="Rectangle : coins arrondis 11">
            <a:extLst>
              <a:ext uri="{FF2B5EF4-FFF2-40B4-BE49-F238E27FC236}">
                <a16:creationId xmlns:a16="http://schemas.microsoft.com/office/drawing/2014/main" id="{7ECDE710-6F76-41BA-BD54-9E0B9D05AD15}"/>
              </a:ext>
            </a:extLst>
          </p:cNvPr>
          <p:cNvSpPr/>
          <p:nvPr/>
        </p:nvSpPr>
        <p:spPr>
          <a:xfrm>
            <a:off x="4953000" y="2159000"/>
            <a:ext cx="1066800" cy="381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200" b="1">
                <a:solidFill>
                  <a:srgbClr val="FFFFFF"/>
                </a:solidFill>
              </a:rPr>
              <a:t>● ÉLEVÉ</a:t>
            </a:r>
          </a:p>
        </p:txBody>
      </p:sp>
      <p:sp>
        <p:nvSpPr>
          <p:cNvPr id="13" name="ZoneTexte 12">
            <a:extLst>
              <a:ext uri="{FF2B5EF4-FFF2-40B4-BE49-F238E27FC236}">
                <a16:creationId xmlns:a16="http://schemas.microsoft.com/office/drawing/2014/main" id="{2ECCF88F-D549-44FC-9763-81C7AECA793A}"/>
              </a:ext>
            </a:extLst>
          </p:cNvPr>
          <p:cNvSpPr txBox="1"/>
          <p:nvPr/>
        </p:nvSpPr>
        <p:spPr>
          <a:xfrm>
            <a:off x="6350000" y="1879600"/>
            <a:ext cx="4521200" cy="939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Formations courtes, co-construction, canal de retours structuré</a:t>
            </a:r>
          </a:p>
        </p:txBody>
      </p:sp>
      <p:sp>
        <p:nvSpPr>
          <p:cNvPr id="14" name="Rectangle : coins arrondis 13">
            <a:extLst>
              <a:ext uri="{FF2B5EF4-FFF2-40B4-BE49-F238E27FC236}">
                <a16:creationId xmlns:a16="http://schemas.microsoft.com/office/drawing/2014/main" id="{D2021B10-1CB7-42ED-B33E-C6625583B8AD}"/>
              </a:ext>
            </a:extLst>
          </p:cNvPr>
          <p:cNvSpPr/>
          <p:nvPr/>
        </p:nvSpPr>
        <p:spPr>
          <a:xfrm>
            <a:off x="914400" y="2921000"/>
            <a:ext cx="10007600" cy="939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5" name="Rectangle 14">
            <a:extLst>
              <a:ext uri="{FF2B5EF4-FFF2-40B4-BE49-F238E27FC236}">
                <a16:creationId xmlns:a16="http://schemas.microsoft.com/office/drawing/2014/main" id="{18009B4C-0D57-4751-8E41-FCA4052EE597}"/>
              </a:ext>
            </a:extLst>
          </p:cNvPr>
          <p:cNvSpPr/>
          <p:nvPr/>
        </p:nvSpPr>
        <p:spPr>
          <a:xfrm>
            <a:off x="914400" y="2921000"/>
            <a:ext cx="63500" cy="939800"/>
          </a:xfrm>
          <a:prstGeom prst="rect">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6" name="ZoneTexte 15">
            <a:extLst>
              <a:ext uri="{FF2B5EF4-FFF2-40B4-BE49-F238E27FC236}">
                <a16:creationId xmlns:a16="http://schemas.microsoft.com/office/drawing/2014/main" id="{20A8C8C1-EA77-4333-ACD9-3B62E9B7FFA1}"/>
              </a:ext>
            </a:extLst>
          </p:cNvPr>
          <p:cNvSpPr txBox="1"/>
          <p:nvPr/>
        </p:nvSpPr>
        <p:spPr>
          <a:xfrm>
            <a:off x="1117600" y="2921000"/>
            <a:ext cx="3606800" cy="939800"/>
          </a:xfrm>
          <a:prstGeom prst="rect">
            <a:avLst/>
          </a:prstGeom>
          <a:noFill/>
        </p:spPr>
        <p:txBody>
          <a:bodyPr vertOverflow="overflow" vert="horz" wrap="square" rtlCol="0" anchor="ctr" anchorCtr="0">
            <a:spAutoFit/>
          </a:bodyPr>
          <a:lstStyle/>
          <a:p>
            <a:pPr algn="l"/>
            <a:r>
              <a:rPr lang="fr-FR" sz="1500" b="1">
                <a:solidFill>
                  <a:srgbClr val="1B2A38"/>
                </a:solidFill>
                <a:latin typeface="Segoe UI Semibold"/>
                <a:cs typeface="Segoe UI Semibold"/>
              </a:rPr>
              <a:t>Conflits de priorités IT &amp; métier</a:t>
            </a:r>
          </a:p>
        </p:txBody>
      </p:sp>
      <p:sp>
        <p:nvSpPr>
          <p:cNvPr id="17" name="Rectangle : coins arrondis 16">
            <a:extLst>
              <a:ext uri="{FF2B5EF4-FFF2-40B4-BE49-F238E27FC236}">
                <a16:creationId xmlns:a16="http://schemas.microsoft.com/office/drawing/2014/main" id="{C415B18F-BB9B-4136-9863-ADD1747CE0CA}"/>
              </a:ext>
            </a:extLst>
          </p:cNvPr>
          <p:cNvSpPr/>
          <p:nvPr/>
        </p:nvSpPr>
        <p:spPr>
          <a:xfrm>
            <a:off x="4953000" y="3200400"/>
            <a:ext cx="1066800" cy="381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200" b="1">
                <a:solidFill>
                  <a:srgbClr val="FFFFFF"/>
                </a:solidFill>
              </a:rPr>
              <a:t>● ÉLEVÉ</a:t>
            </a:r>
          </a:p>
        </p:txBody>
      </p:sp>
      <p:sp>
        <p:nvSpPr>
          <p:cNvPr id="18" name="ZoneTexte 17">
            <a:extLst>
              <a:ext uri="{FF2B5EF4-FFF2-40B4-BE49-F238E27FC236}">
                <a16:creationId xmlns:a16="http://schemas.microsoft.com/office/drawing/2014/main" id="{0C4ABDDC-CD7E-4187-949C-8FBCEE606717}"/>
              </a:ext>
            </a:extLst>
          </p:cNvPr>
          <p:cNvSpPr txBox="1"/>
          <p:nvPr/>
        </p:nvSpPr>
        <p:spPr>
          <a:xfrm>
            <a:off x="6350000" y="2921000"/>
            <a:ext cx="4521200" cy="939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Comité d'arbitrage hebdomadaire</a:t>
            </a:r>
          </a:p>
        </p:txBody>
      </p:sp>
      <p:sp>
        <p:nvSpPr>
          <p:cNvPr id="19" name="Rectangle : coins arrondis 18">
            <a:extLst>
              <a:ext uri="{FF2B5EF4-FFF2-40B4-BE49-F238E27FC236}">
                <a16:creationId xmlns:a16="http://schemas.microsoft.com/office/drawing/2014/main" id="{2BC97E51-FF56-4618-B99D-C9AD9AB6DE86}"/>
              </a:ext>
            </a:extLst>
          </p:cNvPr>
          <p:cNvSpPr/>
          <p:nvPr/>
        </p:nvSpPr>
        <p:spPr>
          <a:xfrm>
            <a:off x="914400" y="3962400"/>
            <a:ext cx="10007600" cy="939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0" name="Rectangle 19">
            <a:extLst>
              <a:ext uri="{FF2B5EF4-FFF2-40B4-BE49-F238E27FC236}">
                <a16:creationId xmlns:a16="http://schemas.microsoft.com/office/drawing/2014/main" id="{2AF1459B-A2BA-4F34-AFD1-307A3AEAF93C}"/>
              </a:ext>
            </a:extLst>
          </p:cNvPr>
          <p:cNvSpPr/>
          <p:nvPr/>
        </p:nvSpPr>
        <p:spPr>
          <a:xfrm>
            <a:off x="914400" y="3962400"/>
            <a:ext cx="63500" cy="939800"/>
          </a:xfrm>
          <a:prstGeom prst="rect">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1" name="ZoneTexte 20">
            <a:extLst>
              <a:ext uri="{FF2B5EF4-FFF2-40B4-BE49-F238E27FC236}">
                <a16:creationId xmlns:a16="http://schemas.microsoft.com/office/drawing/2014/main" id="{BD5A5311-33AE-4306-9A23-BF25E264AA8D}"/>
              </a:ext>
            </a:extLst>
          </p:cNvPr>
          <p:cNvSpPr txBox="1"/>
          <p:nvPr/>
        </p:nvSpPr>
        <p:spPr>
          <a:xfrm>
            <a:off x="1117600" y="3962400"/>
            <a:ext cx="3606800" cy="939800"/>
          </a:xfrm>
          <a:prstGeom prst="rect">
            <a:avLst/>
          </a:prstGeom>
          <a:noFill/>
        </p:spPr>
        <p:txBody>
          <a:bodyPr vertOverflow="overflow" vert="horz" wrap="square" rtlCol="0" anchor="ctr" anchorCtr="0">
            <a:spAutoFit/>
          </a:bodyPr>
          <a:lstStyle/>
          <a:p>
            <a:pPr algn="l"/>
            <a:r>
              <a:rPr lang="fr-FR" sz="1500" b="1">
                <a:solidFill>
                  <a:srgbClr val="1B2A38"/>
                </a:solidFill>
                <a:latin typeface="Segoe UI Semibold"/>
                <a:cs typeface="Segoe UI Semibold"/>
              </a:rPr>
              <a:t>Accessibilité insuffisante</a:t>
            </a:r>
          </a:p>
        </p:txBody>
      </p:sp>
      <p:sp>
        <p:nvSpPr>
          <p:cNvPr id="22" name="Rectangle : coins arrondis 21">
            <a:extLst>
              <a:ext uri="{FF2B5EF4-FFF2-40B4-BE49-F238E27FC236}">
                <a16:creationId xmlns:a16="http://schemas.microsoft.com/office/drawing/2014/main" id="{9AACDB62-AEFD-4CDB-85EF-B336D164F2B1}"/>
              </a:ext>
            </a:extLst>
          </p:cNvPr>
          <p:cNvSpPr/>
          <p:nvPr/>
        </p:nvSpPr>
        <p:spPr>
          <a:xfrm>
            <a:off x="4953000" y="4241800"/>
            <a:ext cx="1066800" cy="381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200" b="1">
                <a:solidFill>
                  <a:srgbClr val="FFFFFF"/>
                </a:solidFill>
              </a:rPr>
              <a:t>● ÉLEVÉ</a:t>
            </a:r>
          </a:p>
        </p:txBody>
      </p:sp>
      <p:sp>
        <p:nvSpPr>
          <p:cNvPr id="23" name="ZoneTexte 22">
            <a:extLst>
              <a:ext uri="{FF2B5EF4-FFF2-40B4-BE49-F238E27FC236}">
                <a16:creationId xmlns:a16="http://schemas.microsoft.com/office/drawing/2014/main" id="{EBABCBF3-37FC-4367-9D9E-4DDAB041B797}"/>
              </a:ext>
            </a:extLst>
          </p:cNvPr>
          <p:cNvSpPr txBox="1"/>
          <p:nvPr/>
        </p:nvSpPr>
        <p:spPr>
          <a:xfrm>
            <a:off x="6350000" y="3962400"/>
            <a:ext cx="4521200" cy="939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Validation de chaque support avant diffusion</a:t>
            </a:r>
          </a:p>
        </p:txBody>
      </p:sp>
      <p:sp>
        <p:nvSpPr>
          <p:cNvPr id="24" name="Rectangle : coins arrondis 23">
            <a:extLst>
              <a:ext uri="{FF2B5EF4-FFF2-40B4-BE49-F238E27FC236}">
                <a16:creationId xmlns:a16="http://schemas.microsoft.com/office/drawing/2014/main" id="{9D98B299-C1D6-4080-BDF5-32406F25ED53}"/>
              </a:ext>
            </a:extLst>
          </p:cNvPr>
          <p:cNvSpPr/>
          <p:nvPr/>
        </p:nvSpPr>
        <p:spPr>
          <a:xfrm>
            <a:off x="914400" y="5054600"/>
            <a:ext cx="10007600" cy="889000"/>
          </a:xfrm>
          <a:prstGeom prst="roundRect">
            <a:avLst/>
          </a:prstGeom>
          <a:solidFill>
            <a:srgbClr val="FDF1E7"/>
          </a:solidFill>
          <a:ln w="12700" cap="flat" cmpd="sng" algn="ctr">
            <a:solidFill>
              <a:srgbClr val="E67E22"/>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lstStyle/>
          <a:p>
            <a:pPr algn="l"/>
            <a:r>
              <a:rPr lang="fr-FR" sz="1500" b="1">
                <a:solidFill>
                  <a:srgbClr val="8A4B12"/>
                </a:solidFill>
                <a:latin typeface="Segoe UI Semibold"/>
                <a:cs typeface="Segoe UI Semibold"/>
              </a:rPr>
              <a:t>Chaque risque a un plan B avec un seuil déclencheur défini à l'avance.</a:t>
            </a:r>
          </a:p>
        </p:txBody>
      </p:sp>
      <p:sp>
        <p:nvSpPr>
          <p:cNvPr id="25" name="ZoneTexte 24">
            <a:extLst>
              <a:ext uri="{FF2B5EF4-FFF2-40B4-BE49-F238E27FC236}">
                <a16:creationId xmlns:a16="http://schemas.microsoft.com/office/drawing/2014/main" id="{43A91613-2C04-4943-BD68-9DE45FED2A3A}"/>
              </a:ext>
            </a:extLst>
          </p:cNvPr>
          <p:cNvSpPr txBox="1"/>
          <p:nvPr/>
        </p:nvSpPr>
        <p:spPr>
          <a:xfrm>
            <a:off x="1117600" y="5537200"/>
            <a:ext cx="9601200" cy="304800"/>
          </a:xfrm>
          <a:prstGeom prst="rect">
            <a:avLst/>
          </a:prstGeom>
          <a:noFill/>
        </p:spPr>
        <p:txBody>
          <a:bodyPr vertOverflow="overflow" vert="horz" wrap="square" rtlCol="0" anchor="t">
            <a:spAutoFit/>
          </a:bodyPr>
          <a:lstStyle/>
          <a:p>
            <a:pPr algn="l"/>
            <a:r>
              <a:rPr lang="fr-FR" sz="1200">
                <a:solidFill>
                  <a:srgbClr val="8A4B12"/>
                </a:solidFill>
              </a:rPr>
              <a:t>Exemple : adoption sous 50 % en S8 → ateliers ciblés + accompagnement individuel en binôme.</a:t>
            </a:r>
          </a:p>
        </p:txBody>
      </p:sp>
    </p:spTree>
    <p:extLst>
      <p:ext uri="{BB962C8B-B14F-4D97-AF65-F5344CB8AC3E}">
        <p14:creationId xmlns:p14="http://schemas.microsoft.com/office/powerpoint/2010/main" val="6644131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E222B94-F1CB-476F-9D88-1C5E2F7FAEA9}"/>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15963295-EC8E-480C-8CC0-4D003F6017FA}"/>
              </a:ext>
            </a:extLst>
          </p:cNvPr>
          <p:cNvSpPr txBox="1"/>
          <p:nvPr/>
        </p:nvSpPr>
        <p:spPr>
          <a:xfrm>
            <a:off x="1143000" y="482600"/>
            <a:ext cx="6350000" cy="254000"/>
          </a:xfrm>
          <a:prstGeom prst="rect">
            <a:avLst/>
          </a:prstGeom>
          <a:noFill/>
        </p:spPr>
        <p:txBody>
          <a:bodyPr vertOverflow="overflow" vert="horz" wrap="square" rtlCol="0" anchor="t">
            <a:spAutoFit/>
          </a:bodyPr>
          <a:lstStyle/>
          <a:p>
            <a:pPr algn="l"/>
            <a:r>
              <a:rPr lang="fr-FR" sz="1300" b="1">
                <a:solidFill>
                  <a:srgbClr val="2E86AB"/>
                </a:solidFill>
              </a:rPr>
              <a:t>FEEDBACKS UTILISATEURS</a:t>
            </a:r>
          </a:p>
        </p:txBody>
      </p:sp>
      <p:sp>
        <p:nvSpPr>
          <p:cNvPr id="4" name="ZoneTexte 3">
            <a:extLst>
              <a:ext uri="{FF2B5EF4-FFF2-40B4-BE49-F238E27FC236}">
                <a16:creationId xmlns:a16="http://schemas.microsoft.com/office/drawing/2014/main" id="{8EE0BD05-4B49-4505-95FE-BE908E553D05}"/>
              </a:ext>
            </a:extLst>
          </p:cNvPr>
          <p:cNvSpPr txBox="1"/>
          <p:nvPr/>
        </p:nvSpPr>
        <p:spPr>
          <a:xfrm>
            <a:off x="1117600" y="711200"/>
            <a:ext cx="76200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Le terrain guide le backlog</a:t>
            </a:r>
          </a:p>
        </p:txBody>
      </p:sp>
      <p:sp>
        <p:nvSpPr>
          <p:cNvPr id="5" name="ZoneTexte 4">
            <a:extLst>
              <a:ext uri="{FF2B5EF4-FFF2-40B4-BE49-F238E27FC236}">
                <a16:creationId xmlns:a16="http://schemas.microsoft.com/office/drawing/2014/main" id="{201E0792-18A4-4AB4-B9AE-B7FA751B53F2}"/>
              </a:ext>
            </a:extLst>
          </p:cNvPr>
          <p:cNvSpPr txBox="1"/>
          <p:nvPr/>
        </p:nvSpPr>
        <p:spPr>
          <a:xfrm>
            <a:off x="1143000" y="1320800"/>
            <a:ext cx="9779000" cy="254000"/>
          </a:xfrm>
          <a:prstGeom prst="rect">
            <a:avLst/>
          </a:prstGeom>
          <a:noFill/>
        </p:spPr>
        <p:txBody>
          <a:bodyPr vertOverflow="overflow" vert="horz" wrap="square" rtlCol="0" anchor="t">
            <a:spAutoFit/>
          </a:bodyPr>
          <a:lstStyle/>
          <a:p>
            <a:pPr algn="l"/>
            <a:r>
              <a:rPr lang="fr-FR" sz="1300" i="1">
                <a:solidFill>
                  <a:srgbClr val="5D6D7E"/>
                </a:solidFill>
              </a:rPr>
              <a:t>6 retours recueillis sur le prototype, priorisés par impact et fréquence</a:t>
            </a:r>
          </a:p>
        </p:txBody>
      </p:sp>
      <p:sp>
        <p:nvSpPr>
          <p:cNvPr id="6" name="Rectangle : coins arrondis 5">
            <a:extLst>
              <a:ext uri="{FF2B5EF4-FFF2-40B4-BE49-F238E27FC236}">
                <a16:creationId xmlns:a16="http://schemas.microsoft.com/office/drawing/2014/main" id="{6BBCD327-B3C1-4855-876F-FBB01D355177}"/>
              </a:ext>
            </a:extLst>
          </p:cNvPr>
          <p:cNvSpPr/>
          <p:nvPr/>
        </p:nvSpPr>
        <p:spPr>
          <a:xfrm>
            <a:off x="914400" y="16764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7" name="Ellipse 6">
            <a:extLst>
              <a:ext uri="{FF2B5EF4-FFF2-40B4-BE49-F238E27FC236}">
                <a16:creationId xmlns:a16="http://schemas.microsoft.com/office/drawing/2014/main" id="{FE7EBC41-858A-4FDE-AEF9-A6E60321234D}"/>
              </a:ext>
            </a:extLst>
          </p:cNvPr>
          <p:cNvSpPr/>
          <p:nvPr/>
        </p:nvSpPr>
        <p:spPr>
          <a:xfrm>
            <a:off x="1092200" y="18923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1</a:t>
            </a:r>
          </a:p>
        </p:txBody>
      </p:sp>
      <p:sp>
        <p:nvSpPr>
          <p:cNvPr id="8" name="ZoneTexte 7">
            <a:extLst>
              <a:ext uri="{FF2B5EF4-FFF2-40B4-BE49-F238E27FC236}">
                <a16:creationId xmlns:a16="http://schemas.microsoft.com/office/drawing/2014/main" id="{793578F5-B6DB-4F85-9F22-CBE59402B413}"/>
              </a:ext>
            </a:extLst>
          </p:cNvPr>
          <p:cNvSpPr txBox="1"/>
          <p:nvPr/>
        </p:nvSpPr>
        <p:spPr>
          <a:xfrm>
            <a:off x="1625600" y="16764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Vocabulaire des alertes trop technique</a:t>
            </a:r>
          </a:p>
        </p:txBody>
      </p:sp>
      <p:sp>
        <p:nvSpPr>
          <p:cNvPr id="9" name="ZoneTexte 8">
            <a:extLst>
              <a:ext uri="{FF2B5EF4-FFF2-40B4-BE49-F238E27FC236}">
                <a16:creationId xmlns:a16="http://schemas.microsoft.com/office/drawing/2014/main" id="{F9BDED52-C585-4DA0-A978-7A916552392A}"/>
              </a:ext>
            </a:extLst>
          </p:cNvPr>
          <p:cNvSpPr txBox="1"/>
          <p:nvPr/>
        </p:nvSpPr>
        <p:spPr>
          <a:xfrm>
            <a:off x="6045200" y="16764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10" name="ZoneTexte 9">
            <a:extLst>
              <a:ext uri="{FF2B5EF4-FFF2-40B4-BE49-F238E27FC236}">
                <a16:creationId xmlns:a16="http://schemas.microsoft.com/office/drawing/2014/main" id="{1EF88645-D5BB-4C06-9ABB-B1E19591F4AE}"/>
              </a:ext>
            </a:extLst>
          </p:cNvPr>
          <p:cNvSpPr txBox="1"/>
          <p:nvPr/>
        </p:nvSpPr>
        <p:spPr>
          <a:xfrm>
            <a:off x="6426200" y="16764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Libellés métier &amp; aide contextuelle</a:t>
            </a:r>
          </a:p>
        </p:txBody>
      </p:sp>
      <p:sp>
        <p:nvSpPr>
          <p:cNvPr id="11" name="Rectangle : coins arrondis 10">
            <a:extLst>
              <a:ext uri="{FF2B5EF4-FFF2-40B4-BE49-F238E27FC236}">
                <a16:creationId xmlns:a16="http://schemas.microsoft.com/office/drawing/2014/main" id="{C37CE48A-1170-4E3A-AC26-66FF21DD74CE}"/>
              </a:ext>
            </a:extLst>
          </p:cNvPr>
          <p:cNvSpPr/>
          <p:nvPr/>
        </p:nvSpPr>
        <p:spPr>
          <a:xfrm>
            <a:off x="9499600" y="1917700"/>
            <a:ext cx="1270000"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Sprint 2</a:t>
            </a:r>
          </a:p>
        </p:txBody>
      </p:sp>
      <p:sp>
        <p:nvSpPr>
          <p:cNvPr id="12" name="Rectangle : coins arrondis 11">
            <a:extLst>
              <a:ext uri="{FF2B5EF4-FFF2-40B4-BE49-F238E27FC236}">
                <a16:creationId xmlns:a16="http://schemas.microsoft.com/office/drawing/2014/main" id="{23596DD5-73E0-4FCE-8023-5AADC17D8A4E}"/>
              </a:ext>
            </a:extLst>
          </p:cNvPr>
          <p:cNvSpPr/>
          <p:nvPr/>
        </p:nvSpPr>
        <p:spPr>
          <a:xfrm>
            <a:off x="914400" y="25781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3" name="Ellipse 12">
            <a:extLst>
              <a:ext uri="{FF2B5EF4-FFF2-40B4-BE49-F238E27FC236}">
                <a16:creationId xmlns:a16="http://schemas.microsoft.com/office/drawing/2014/main" id="{AFBD53D7-FD20-48BD-A74A-6061FA1DC971}"/>
              </a:ext>
            </a:extLst>
          </p:cNvPr>
          <p:cNvSpPr/>
          <p:nvPr/>
        </p:nvSpPr>
        <p:spPr>
          <a:xfrm>
            <a:off x="1092200" y="27940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2</a:t>
            </a:r>
          </a:p>
        </p:txBody>
      </p:sp>
      <p:sp>
        <p:nvSpPr>
          <p:cNvPr id="14" name="ZoneTexte 13">
            <a:extLst>
              <a:ext uri="{FF2B5EF4-FFF2-40B4-BE49-F238E27FC236}">
                <a16:creationId xmlns:a16="http://schemas.microsoft.com/office/drawing/2014/main" id="{364BC0D2-2967-481A-9BB1-27F3C8DE11E3}"/>
              </a:ext>
            </a:extLst>
          </p:cNvPr>
          <p:cNvSpPr txBox="1"/>
          <p:nvPr/>
        </p:nvSpPr>
        <p:spPr>
          <a:xfrm>
            <a:off x="1625600" y="25781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Aucune procédure en cas de mauvaise alerte</a:t>
            </a:r>
          </a:p>
        </p:txBody>
      </p:sp>
      <p:sp>
        <p:nvSpPr>
          <p:cNvPr id="15" name="ZoneTexte 14">
            <a:extLst>
              <a:ext uri="{FF2B5EF4-FFF2-40B4-BE49-F238E27FC236}">
                <a16:creationId xmlns:a16="http://schemas.microsoft.com/office/drawing/2014/main" id="{CF1A0CE1-C701-451E-AF57-D56C4775D2C5}"/>
              </a:ext>
            </a:extLst>
          </p:cNvPr>
          <p:cNvSpPr txBox="1"/>
          <p:nvPr/>
        </p:nvSpPr>
        <p:spPr>
          <a:xfrm>
            <a:off x="6045200" y="25781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16" name="ZoneTexte 15">
            <a:extLst>
              <a:ext uri="{FF2B5EF4-FFF2-40B4-BE49-F238E27FC236}">
                <a16:creationId xmlns:a16="http://schemas.microsoft.com/office/drawing/2014/main" id="{61064B7E-1570-4746-96DE-EA1CABF7EBFD}"/>
              </a:ext>
            </a:extLst>
          </p:cNvPr>
          <p:cNvSpPr txBox="1"/>
          <p:nvPr/>
        </p:nvSpPr>
        <p:spPr>
          <a:xfrm>
            <a:off x="6426200" y="25781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Procédure d'escalade</a:t>
            </a:r>
          </a:p>
        </p:txBody>
      </p:sp>
      <p:sp>
        <p:nvSpPr>
          <p:cNvPr id="17" name="Rectangle : coins arrondis 16">
            <a:extLst>
              <a:ext uri="{FF2B5EF4-FFF2-40B4-BE49-F238E27FC236}">
                <a16:creationId xmlns:a16="http://schemas.microsoft.com/office/drawing/2014/main" id="{26A384A8-6AD5-463C-886D-25480A24C759}"/>
              </a:ext>
            </a:extLst>
          </p:cNvPr>
          <p:cNvSpPr/>
          <p:nvPr/>
        </p:nvSpPr>
        <p:spPr>
          <a:xfrm>
            <a:off x="9499600" y="2819400"/>
            <a:ext cx="1270000"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Sprint 1</a:t>
            </a:r>
          </a:p>
        </p:txBody>
      </p:sp>
      <p:sp>
        <p:nvSpPr>
          <p:cNvPr id="18" name="Rectangle : coins arrondis 17">
            <a:extLst>
              <a:ext uri="{FF2B5EF4-FFF2-40B4-BE49-F238E27FC236}">
                <a16:creationId xmlns:a16="http://schemas.microsoft.com/office/drawing/2014/main" id="{B4BB3104-28DA-4223-920A-4E841BAEB3AD}"/>
              </a:ext>
            </a:extLst>
          </p:cNvPr>
          <p:cNvSpPr/>
          <p:nvPr/>
        </p:nvSpPr>
        <p:spPr>
          <a:xfrm>
            <a:off x="914400" y="34798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9" name="Ellipse 18">
            <a:extLst>
              <a:ext uri="{FF2B5EF4-FFF2-40B4-BE49-F238E27FC236}">
                <a16:creationId xmlns:a16="http://schemas.microsoft.com/office/drawing/2014/main" id="{794FD43F-D695-460C-8CC3-5147B5CAD2A2}"/>
              </a:ext>
            </a:extLst>
          </p:cNvPr>
          <p:cNvSpPr/>
          <p:nvPr/>
        </p:nvSpPr>
        <p:spPr>
          <a:xfrm>
            <a:off x="1092200" y="36957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3</a:t>
            </a:r>
          </a:p>
        </p:txBody>
      </p:sp>
      <p:sp>
        <p:nvSpPr>
          <p:cNvPr id="20" name="ZoneTexte 19">
            <a:extLst>
              <a:ext uri="{FF2B5EF4-FFF2-40B4-BE49-F238E27FC236}">
                <a16:creationId xmlns:a16="http://schemas.microsoft.com/office/drawing/2014/main" id="{99083B28-5934-458D-90FD-D7EDEFC1103B}"/>
              </a:ext>
            </a:extLst>
          </p:cNvPr>
          <p:cNvSpPr txBox="1"/>
          <p:nvPr/>
        </p:nvSpPr>
        <p:spPr>
          <a:xfrm>
            <a:off x="1625600" y="34798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Définitions des indicateurs imprécises</a:t>
            </a:r>
          </a:p>
        </p:txBody>
      </p:sp>
      <p:sp>
        <p:nvSpPr>
          <p:cNvPr id="21" name="ZoneTexte 20">
            <a:extLst>
              <a:ext uri="{FF2B5EF4-FFF2-40B4-BE49-F238E27FC236}">
                <a16:creationId xmlns:a16="http://schemas.microsoft.com/office/drawing/2014/main" id="{ACDF6E97-E20F-4F50-A355-3DB3075B11A0}"/>
              </a:ext>
            </a:extLst>
          </p:cNvPr>
          <p:cNvSpPr txBox="1"/>
          <p:nvPr/>
        </p:nvSpPr>
        <p:spPr>
          <a:xfrm>
            <a:off x="6045200" y="34798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22" name="ZoneTexte 21">
            <a:extLst>
              <a:ext uri="{FF2B5EF4-FFF2-40B4-BE49-F238E27FC236}">
                <a16:creationId xmlns:a16="http://schemas.microsoft.com/office/drawing/2014/main" id="{9BF157D7-341E-4710-8612-AE5A42B6DDBC}"/>
              </a:ext>
            </a:extLst>
          </p:cNvPr>
          <p:cNvSpPr txBox="1"/>
          <p:nvPr/>
        </p:nvSpPr>
        <p:spPr>
          <a:xfrm>
            <a:off x="6426200" y="34798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Glossaire des indicateurs</a:t>
            </a:r>
          </a:p>
        </p:txBody>
      </p:sp>
      <p:sp>
        <p:nvSpPr>
          <p:cNvPr id="23" name="Rectangle : coins arrondis 22">
            <a:extLst>
              <a:ext uri="{FF2B5EF4-FFF2-40B4-BE49-F238E27FC236}">
                <a16:creationId xmlns:a16="http://schemas.microsoft.com/office/drawing/2014/main" id="{8A0D8A6B-C624-41E9-A79F-6407ED5DA817}"/>
              </a:ext>
            </a:extLst>
          </p:cNvPr>
          <p:cNvSpPr/>
          <p:nvPr/>
        </p:nvSpPr>
        <p:spPr>
          <a:xfrm>
            <a:off x="9499600" y="3721100"/>
            <a:ext cx="1270000"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Phase 1</a:t>
            </a:r>
          </a:p>
        </p:txBody>
      </p:sp>
      <p:sp>
        <p:nvSpPr>
          <p:cNvPr id="24" name="Rectangle : coins arrondis 23">
            <a:extLst>
              <a:ext uri="{FF2B5EF4-FFF2-40B4-BE49-F238E27FC236}">
                <a16:creationId xmlns:a16="http://schemas.microsoft.com/office/drawing/2014/main" id="{6DE23729-B1A7-478A-84F5-8890888A16A7}"/>
              </a:ext>
            </a:extLst>
          </p:cNvPr>
          <p:cNvSpPr/>
          <p:nvPr/>
        </p:nvSpPr>
        <p:spPr>
          <a:xfrm>
            <a:off x="914400" y="43815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5" name="Ellipse 24">
            <a:extLst>
              <a:ext uri="{FF2B5EF4-FFF2-40B4-BE49-F238E27FC236}">
                <a16:creationId xmlns:a16="http://schemas.microsoft.com/office/drawing/2014/main" id="{B4E2F460-2C13-4F1E-9F02-B582EC4FFA84}"/>
              </a:ext>
            </a:extLst>
          </p:cNvPr>
          <p:cNvSpPr/>
          <p:nvPr/>
        </p:nvSpPr>
        <p:spPr>
          <a:xfrm>
            <a:off x="1092200" y="45974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4</a:t>
            </a:r>
          </a:p>
        </p:txBody>
      </p:sp>
      <p:sp>
        <p:nvSpPr>
          <p:cNvPr id="26" name="ZoneTexte 25">
            <a:extLst>
              <a:ext uri="{FF2B5EF4-FFF2-40B4-BE49-F238E27FC236}">
                <a16:creationId xmlns:a16="http://schemas.microsoft.com/office/drawing/2014/main" id="{E35E4B77-9781-4812-BA1F-27DFE4BE906E}"/>
              </a:ext>
            </a:extLst>
          </p:cNvPr>
          <p:cNvSpPr txBox="1"/>
          <p:nvPr/>
        </p:nvSpPr>
        <p:spPr>
          <a:xfrm>
            <a:off x="1625600" y="43815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Graphiques illisibles au lecteur d'écran</a:t>
            </a:r>
          </a:p>
        </p:txBody>
      </p:sp>
      <p:sp>
        <p:nvSpPr>
          <p:cNvPr id="27" name="ZoneTexte 26">
            <a:extLst>
              <a:ext uri="{FF2B5EF4-FFF2-40B4-BE49-F238E27FC236}">
                <a16:creationId xmlns:a16="http://schemas.microsoft.com/office/drawing/2014/main" id="{E046AE7F-DC56-4F1C-9646-DC6557BA0C11}"/>
              </a:ext>
            </a:extLst>
          </p:cNvPr>
          <p:cNvSpPr txBox="1"/>
          <p:nvPr/>
        </p:nvSpPr>
        <p:spPr>
          <a:xfrm>
            <a:off x="6045200" y="43815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28" name="ZoneTexte 27">
            <a:extLst>
              <a:ext uri="{FF2B5EF4-FFF2-40B4-BE49-F238E27FC236}">
                <a16:creationId xmlns:a16="http://schemas.microsoft.com/office/drawing/2014/main" id="{D8E05091-B20F-451B-BDA9-4A40B8EC98E3}"/>
              </a:ext>
            </a:extLst>
          </p:cNvPr>
          <p:cNvSpPr txBox="1"/>
          <p:nvPr/>
        </p:nvSpPr>
        <p:spPr>
          <a:xfrm>
            <a:off x="6426200" y="43815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Alternatives textuelles</a:t>
            </a:r>
          </a:p>
        </p:txBody>
      </p:sp>
      <p:sp>
        <p:nvSpPr>
          <p:cNvPr id="29" name="Rectangle : coins arrondis 28">
            <a:extLst>
              <a:ext uri="{FF2B5EF4-FFF2-40B4-BE49-F238E27FC236}">
                <a16:creationId xmlns:a16="http://schemas.microsoft.com/office/drawing/2014/main" id="{3D283CC4-DBE6-4DB1-BC49-C2B371DDA8CD}"/>
              </a:ext>
            </a:extLst>
          </p:cNvPr>
          <p:cNvSpPr/>
          <p:nvPr/>
        </p:nvSpPr>
        <p:spPr>
          <a:xfrm>
            <a:off x="9499600" y="4622800"/>
            <a:ext cx="1270000" cy="3302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Sprint 3</a:t>
            </a:r>
          </a:p>
        </p:txBody>
      </p:sp>
      <p:sp>
        <p:nvSpPr>
          <p:cNvPr id="30" name="Rectangle : coins arrondis 29">
            <a:extLst>
              <a:ext uri="{FF2B5EF4-FFF2-40B4-BE49-F238E27FC236}">
                <a16:creationId xmlns:a16="http://schemas.microsoft.com/office/drawing/2014/main" id="{D797BA5B-CEFC-461F-972D-E97D70F7B306}"/>
              </a:ext>
            </a:extLst>
          </p:cNvPr>
          <p:cNvSpPr/>
          <p:nvPr/>
        </p:nvSpPr>
        <p:spPr>
          <a:xfrm>
            <a:off x="914400" y="5283200"/>
            <a:ext cx="10007600" cy="6604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lstStyle/>
          <a:p>
            <a:pPr algn="l"/>
            <a:r>
              <a:rPr lang="fr-FR" sz="1400" b="1">
                <a:solidFill>
                  <a:srgbClr val="1A5276"/>
                </a:solidFill>
                <a:latin typeface="Segoe UI Semibold"/>
                <a:cs typeface="Segoe UI Semibold"/>
              </a:rPr>
              <a:t>L'ordre des sprints reflète directement ces priorités.   ·   2 autres retours suivis au registre.</a:t>
            </a:r>
          </a:p>
        </p:txBody>
      </p:sp>
    </p:spTree>
    <p:extLst>
      <p:ext uri="{BB962C8B-B14F-4D97-AF65-F5344CB8AC3E}">
        <p14:creationId xmlns:p14="http://schemas.microsoft.com/office/powerpoint/2010/main" val="211116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838678-846F-49DB-BFB0-C7EFC18D530E}"/>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ED4F6BE5-AFD7-473D-8665-68C6E923E31C}"/>
              </a:ext>
            </a:extLst>
          </p:cNvPr>
          <p:cNvSpPr txBox="1"/>
          <p:nvPr/>
        </p:nvSpPr>
        <p:spPr>
          <a:xfrm>
            <a:off x="1143000" y="482600"/>
            <a:ext cx="6350000" cy="254000"/>
          </a:xfrm>
          <a:prstGeom prst="rect">
            <a:avLst/>
          </a:prstGeom>
          <a:noFill/>
        </p:spPr>
        <p:txBody>
          <a:bodyPr vertOverflow="overflow" vert="horz" wrap="square" rtlCol="0" anchor="t">
            <a:spAutoFit/>
          </a:bodyPr>
          <a:lstStyle/>
          <a:p>
            <a:pPr algn="l"/>
            <a:r>
              <a:rPr lang="fr-FR" sz="1300" b="1">
                <a:solidFill>
                  <a:srgbClr val="2E86AB"/>
                </a:solidFill>
              </a:rPr>
              <a:t>ACCOMPAGNEMENT</a:t>
            </a:r>
          </a:p>
        </p:txBody>
      </p:sp>
      <p:sp>
        <p:nvSpPr>
          <p:cNvPr id="4" name="ZoneTexte 3">
            <a:extLst>
              <a:ext uri="{FF2B5EF4-FFF2-40B4-BE49-F238E27FC236}">
                <a16:creationId xmlns:a16="http://schemas.microsoft.com/office/drawing/2014/main" id="{39E14FC0-564A-45A1-8F03-7103D1F592AF}"/>
              </a:ext>
            </a:extLst>
          </p:cNvPr>
          <p:cNvSpPr txBox="1"/>
          <p:nvPr/>
        </p:nvSpPr>
        <p:spPr>
          <a:xfrm>
            <a:off x="1117600" y="711200"/>
            <a:ext cx="76200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4 profils, 4 parcours</a:t>
            </a:r>
          </a:p>
        </p:txBody>
      </p:sp>
      <p:sp>
        <p:nvSpPr>
          <p:cNvPr id="5" name="Rectangle : coins arrondis 4">
            <a:extLst>
              <a:ext uri="{FF2B5EF4-FFF2-40B4-BE49-F238E27FC236}">
                <a16:creationId xmlns:a16="http://schemas.microsoft.com/office/drawing/2014/main" id="{79C8CC31-FB9C-45FD-8815-809C4A4BA6CC}"/>
              </a:ext>
            </a:extLst>
          </p:cNvPr>
          <p:cNvSpPr/>
          <p:nvPr/>
        </p:nvSpPr>
        <p:spPr>
          <a:xfrm>
            <a:off x="914400" y="1473200"/>
            <a:ext cx="2349500" cy="1346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6" name="ZoneTexte 5">
            <a:extLst>
              <a:ext uri="{FF2B5EF4-FFF2-40B4-BE49-F238E27FC236}">
                <a16:creationId xmlns:a16="http://schemas.microsoft.com/office/drawing/2014/main" id="{7AA017E7-EF0E-4420-A90A-7451185F66E1}"/>
              </a:ext>
            </a:extLst>
          </p:cNvPr>
          <p:cNvSpPr txBox="1"/>
          <p:nvPr/>
        </p:nvSpPr>
        <p:spPr>
          <a:xfrm>
            <a:off x="914400" y="2260600"/>
            <a:ext cx="23495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Superviseurs</a:t>
            </a:r>
          </a:p>
        </p:txBody>
      </p:sp>
      <p:sp>
        <p:nvSpPr>
          <p:cNvPr id="7" name="ZoneTexte 6">
            <a:extLst>
              <a:ext uri="{FF2B5EF4-FFF2-40B4-BE49-F238E27FC236}">
                <a16:creationId xmlns:a16="http://schemas.microsoft.com/office/drawing/2014/main" id="{1A6409C2-CE4D-48E4-9761-58E388AAB992}"/>
              </a:ext>
            </a:extLst>
          </p:cNvPr>
          <p:cNvSpPr txBox="1"/>
          <p:nvPr/>
        </p:nvSpPr>
        <p:spPr>
          <a:xfrm>
            <a:off x="1066800" y="2514600"/>
            <a:ext cx="20447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Atelier 45 min, cas réels</a:t>
            </a:r>
          </a:p>
        </p:txBody>
      </p:sp>
      <p:sp>
        <p:nvSpPr>
          <p:cNvPr id="8" name="Rectangle : coins arrondis 7">
            <a:extLst>
              <a:ext uri="{FF2B5EF4-FFF2-40B4-BE49-F238E27FC236}">
                <a16:creationId xmlns:a16="http://schemas.microsoft.com/office/drawing/2014/main" id="{D16EE2BF-DAB2-44DB-9E23-931085836FCC}"/>
              </a:ext>
            </a:extLst>
          </p:cNvPr>
          <p:cNvSpPr/>
          <p:nvPr/>
        </p:nvSpPr>
        <p:spPr>
          <a:xfrm>
            <a:off x="3416300" y="1612900"/>
            <a:ext cx="2349500" cy="1346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9" name="ZoneTexte 8">
            <a:extLst>
              <a:ext uri="{FF2B5EF4-FFF2-40B4-BE49-F238E27FC236}">
                <a16:creationId xmlns:a16="http://schemas.microsoft.com/office/drawing/2014/main" id="{67E260AD-3867-4F1E-9982-FAACF469CE15}"/>
              </a:ext>
            </a:extLst>
          </p:cNvPr>
          <p:cNvSpPr txBox="1"/>
          <p:nvPr/>
        </p:nvSpPr>
        <p:spPr>
          <a:xfrm>
            <a:off x="3467100" y="2260600"/>
            <a:ext cx="23495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Agents</a:t>
            </a:r>
          </a:p>
        </p:txBody>
      </p:sp>
      <p:sp>
        <p:nvSpPr>
          <p:cNvPr id="10" name="ZoneTexte 9">
            <a:extLst>
              <a:ext uri="{FF2B5EF4-FFF2-40B4-BE49-F238E27FC236}">
                <a16:creationId xmlns:a16="http://schemas.microsoft.com/office/drawing/2014/main" id="{1AB0232B-F260-4F15-A266-D0FA58C542E5}"/>
              </a:ext>
            </a:extLst>
          </p:cNvPr>
          <p:cNvSpPr txBox="1"/>
          <p:nvPr/>
        </p:nvSpPr>
        <p:spPr>
          <a:xfrm>
            <a:off x="3619500" y="2514600"/>
            <a:ext cx="20447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Prise en main en binôme, sur poste</a:t>
            </a:r>
          </a:p>
        </p:txBody>
      </p:sp>
      <p:sp>
        <p:nvSpPr>
          <p:cNvPr id="11" name="Rectangle : coins arrondis 10">
            <a:extLst>
              <a:ext uri="{FF2B5EF4-FFF2-40B4-BE49-F238E27FC236}">
                <a16:creationId xmlns:a16="http://schemas.microsoft.com/office/drawing/2014/main" id="{82451A09-7954-4D99-B7CA-E8FDD552D601}"/>
              </a:ext>
            </a:extLst>
          </p:cNvPr>
          <p:cNvSpPr/>
          <p:nvPr/>
        </p:nvSpPr>
        <p:spPr>
          <a:xfrm>
            <a:off x="6019800" y="1473200"/>
            <a:ext cx="2349500" cy="1346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2" name="ZoneTexte 11">
            <a:extLst>
              <a:ext uri="{FF2B5EF4-FFF2-40B4-BE49-F238E27FC236}">
                <a16:creationId xmlns:a16="http://schemas.microsoft.com/office/drawing/2014/main" id="{BF3D7EEF-1435-4809-B737-9E72E946ADC8}"/>
              </a:ext>
            </a:extLst>
          </p:cNvPr>
          <p:cNvSpPr txBox="1"/>
          <p:nvPr/>
        </p:nvSpPr>
        <p:spPr>
          <a:xfrm>
            <a:off x="6019800" y="2260600"/>
            <a:ext cx="23495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Analystes</a:t>
            </a:r>
          </a:p>
        </p:txBody>
      </p:sp>
      <p:sp>
        <p:nvSpPr>
          <p:cNvPr id="13" name="ZoneTexte 12">
            <a:extLst>
              <a:ext uri="{FF2B5EF4-FFF2-40B4-BE49-F238E27FC236}">
                <a16:creationId xmlns:a16="http://schemas.microsoft.com/office/drawing/2014/main" id="{9C3B1738-3F15-41DC-91AF-8CCD807F3941}"/>
              </a:ext>
            </a:extLst>
          </p:cNvPr>
          <p:cNvSpPr txBox="1"/>
          <p:nvPr/>
        </p:nvSpPr>
        <p:spPr>
          <a:xfrm>
            <a:off x="6172200" y="2514600"/>
            <a:ext cx="20447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Atelier 45 min, cas réels</a:t>
            </a:r>
          </a:p>
        </p:txBody>
      </p:sp>
      <p:sp>
        <p:nvSpPr>
          <p:cNvPr id="14" name="Rectangle : coins arrondis 13">
            <a:extLst>
              <a:ext uri="{FF2B5EF4-FFF2-40B4-BE49-F238E27FC236}">
                <a16:creationId xmlns:a16="http://schemas.microsoft.com/office/drawing/2014/main" id="{AF9522A3-BC98-4B66-9A19-523D34039DF4}"/>
              </a:ext>
            </a:extLst>
          </p:cNvPr>
          <p:cNvSpPr/>
          <p:nvPr/>
        </p:nvSpPr>
        <p:spPr>
          <a:xfrm>
            <a:off x="8572500" y="1473200"/>
            <a:ext cx="2349500" cy="1346200"/>
          </a:xfrm>
          <a:prstGeom prst="roundRect">
            <a:avLst/>
          </a:prstGeom>
          <a:solidFill>
            <a:srgbClr val="EBF5EE"/>
          </a:solidFill>
          <a:ln w="12700" cap="flat" cmpd="sng" algn="ctr">
            <a:solidFill>
              <a:srgbClr val="27AE6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5" name="ZoneTexte 14">
            <a:extLst>
              <a:ext uri="{FF2B5EF4-FFF2-40B4-BE49-F238E27FC236}">
                <a16:creationId xmlns:a16="http://schemas.microsoft.com/office/drawing/2014/main" id="{994FC7AE-5568-4F16-9087-42B8B61CB144}"/>
              </a:ext>
            </a:extLst>
          </p:cNvPr>
          <p:cNvSpPr txBox="1"/>
          <p:nvPr/>
        </p:nvSpPr>
        <p:spPr>
          <a:xfrm>
            <a:off x="8572500" y="2260600"/>
            <a:ext cx="2349500" cy="254000"/>
          </a:xfrm>
          <a:prstGeom prst="rect">
            <a:avLst/>
          </a:prstGeom>
          <a:noFill/>
        </p:spPr>
        <p:txBody>
          <a:bodyPr vertOverflow="overflow" vert="horz" wrap="square" rtlCol="0" anchor="t">
            <a:spAutoFit/>
          </a:bodyPr>
          <a:lstStyle/>
          <a:p>
            <a:pPr algn="l"/>
            <a:r>
              <a:rPr lang="fr-FR" sz="1500" b="1">
                <a:solidFill>
                  <a:srgbClr val="1E7D45"/>
                </a:solidFill>
                <a:latin typeface="Segoe UI Semibold"/>
                <a:cs typeface="Segoe UI Semibold"/>
              </a:rPr>
              <a:t>Accessibilité</a:t>
            </a:r>
          </a:p>
        </p:txBody>
      </p:sp>
      <p:sp>
        <p:nvSpPr>
          <p:cNvPr id="16" name="ZoneTexte 15">
            <a:extLst>
              <a:ext uri="{FF2B5EF4-FFF2-40B4-BE49-F238E27FC236}">
                <a16:creationId xmlns:a16="http://schemas.microsoft.com/office/drawing/2014/main" id="{CEFD6198-FAE6-49BB-B17C-5A820E792C01}"/>
              </a:ext>
            </a:extLst>
          </p:cNvPr>
          <p:cNvSpPr txBox="1"/>
          <p:nvPr/>
        </p:nvSpPr>
        <p:spPr>
          <a:xfrm>
            <a:off x="8724900" y="2514600"/>
            <a:ext cx="20447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Session dédiée, rythme adapté</a:t>
            </a:r>
          </a:p>
        </p:txBody>
      </p:sp>
      <p:sp>
        <p:nvSpPr>
          <p:cNvPr id="17" name="ZoneTexte 16">
            <a:extLst>
              <a:ext uri="{FF2B5EF4-FFF2-40B4-BE49-F238E27FC236}">
                <a16:creationId xmlns:a16="http://schemas.microsoft.com/office/drawing/2014/main" id="{43BDB609-EEBF-4C69-A4DC-C915A4E6F37D}"/>
              </a:ext>
            </a:extLst>
          </p:cNvPr>
          <p:cNvSpPr txBox="1"/>
          <p:nvPr/>
        </p:nvSpPr>
        <p:spPr>
          <a:xfrm>
            <a:off x="914400" y="2997200"/>
            <a:ext cx="5080000" cy="228600"/>
          </a:xfrm>
          <a:prstGeom prst="rect">
            <a:avLst/>
          </a:prstGeom>
          <a:noFill/>
        </p:spPr>
        <p:txBody>
          <a:bodyPr vertOverflow="overflow" vert="horz" wrap="square" rtlCol="0" anchor="t">
            <a:spAutoFit/>
          </a:bodyPr>
          <a:lstStyle/>
          <a:p>
            <a:pPr algn="l"/>
            <a:r>
              <a:rPr lang="fr-FR" sz="1200" b="1">
                <a:solidFill>
                  <a:srgbClr val="2E86AB"/>
                </a:solidFill>
                <a:latin typeface="Segoe UI"/>
                <a:cs typeface="Segoe UI"/>
              </a:rPr>
              <a:t>LOGIQUE D'ACCOMPAGNEMENT</a:t>
            </a:r>
          </a:p>
        </p:txBody>
      </p:sp>
      <p:sp>
        <p:nvSpPr>
          <p:cNvPr id="18" name="Rectangle : coins arrondis 17">
            <a:extLst>
              <a:ext uri="{FF2B5EF4-FFF2-40B4-BE49-F238E27FC236}">
                <a16:creationId xmlns:a16="http://schemas.microsoft.com/office/drawing/2014/main" id="{16C98A27-69F6-4681-91F4-314B54530896}"/>
              </a:ext>
            </a:extLst>
          </p:cNvPr>
          <p:cNvSpPr/>
          <p:nvPr/>
        </p:nvSpPr>
        <p:spPr>
          <a:xfrm>
            <a:off x="914400" y="3251200"/>
            <a:ext cx="10007600" cy="482600"/>
          </a:xfrm>
          <a:prstGeom prst="roundRect">
            <a:avLst/>
          </a:prstGeom>
          <a:solidFill>
            <a:srgbClr val="EAF2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1A5276"/>
                </a:solidFill>
                <a:latin typeface="Segoe UI Semibold"/>
                <a:cs typeface="Segoe UI Semibold"/>
              </a:rPr>
              <a:t>Informer   →   Former   →   Accompagner sur le poste   →   Rendre autonome</a:t>
            </a:r>
          </a:p>
        </p:txBody>
      </p:sp>
      <p:sp>
        <p:nvSpPr>
          <p:cNvPr id="19" name="Rectangle : coins arrondis 18">
            <a:extLst>
              <a:ext uri="{FF2B5EF4-FFF2-40B4-BE49-F238E27FC236}">
                <a16:creationId xmlns:a16="http://schemas.microsoft.com/office/drawing/2014/main" id="{C80BCA12-D329-4CF5-877E-A5418C3A6D80}"/>
              </a:ext>
            </a:extLst>
          </p:cNvPr>
          <p:cNvSpPr/>
          <p:nvPr/>
        </p:nvSpPr>
        <p:spPr>
          <a:xfrm>
            <a:off x="914400" y="3911600"/>
            <a:ext cx="6096000" cy="7620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0" name="ZoneTexte 19">
            <a:extLst>
              <a:ext uri="{FF2B5EF4-FFF2-40B4-BE49-F238E27FC236}">
                <a16:creationId xmlns:a16="http://schemas.microsoft.com/office/drawing/2014/main" id="{00BE0EBA-E494-4337-8977-9AC0813C60A4}"/>
              </a:ext>
            </a:extLst>
          </p:cNvPr>
          <p:cNvSpPr txBox="1"/>
          <p:nvPr/>
        </p:nvSpPr>
        <p:spPr>
          <a:xfrm>
            <a:off x="1066800" y="3987800"/>
            <a:ext cx="5791200" cy="228600"/>
          </a:xfrm>
          <a:prstGeom prst="rect">
            <a:avLst/>
          </a:prstGeom>
          <a:noFill/>
        </p:spPr>
        <p:txBody>
          <a:bodyPr vertOverflow="overflow" vert="horz" wrap="square" rtlCol="0" anchor="t">
            <a:spAutoFit/>
          </a:bodyPr>
          <a:lstStyle/>
          <a:p>
            <a:pPr algn="l"/>
            <a:r>
              <a:rPr lang="fr-FR" sz="1200" b="1">
                <a:solidFill>
                  <a:srgbClr val="1A5276"/>
                </a:solidFill>
                <a:latin typeface="Segoe UI Semibold"/>
                <a:cs typeface="Segoe UI Semibold"/>
              </a:rPr>
              <a:t>Après le déploiement</a:t>
            </a:r>
          </a:p>
        </p:txBody>
      </p:sp>
      <p:sp>
        <p:nvSpPr>
          <p:cNvPr id="21" name="ZoneTexte 20">
            <a:extLst>
              <a:ext uri="{FF2B5EF4-FFF2-40B4-BE49-F238E27FC236}">
                <a16:creationId xmlns:a16="http://schemas.microsoft.com/office/drawing/2014/main" id="{1862359C-2891-43AB-89DE-19102B00262D}"/>
              </a:ext>
            </a:extLst>
          </p:cNvPr>
          <p:cNvSpPr txBox="1"/>
          <p:nvPr/>
        </p:nvSpPr>
        <p:spPr>
          <a:xfrm>
            <a:off x="1066800" y="4241800"/>
            <a:ext cx="5791200" cy="3048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Support en 2 niveaux avec procédure d'escalade claire</a:t>
            </a:r>
          </a:p>
        </p:txBody>
      </p:sp>
      <p:sp>
        <p:nvSpPr>
          <p:cNvPr id="22" name="Rectangle : coins arrondis 21">
            <a:extLst>
              <a:ext uri="{FF2B5EF4-FFF2-40B4-BE49-F238E27FC236}">
                <a16:creationId xmlns:a16="http://schemas.microsoft.com/office/drawing/2014/main" id="{C680A8FF-CAE8-4FAD-9AE9-6F1AA117036C}"/>
              </a:ext>
            </a:extLst>
          </p:cNvPr>
          <p:cNvSpPr/>
          <p:nvPr/>
        </p:nvSpPr>
        <p:spPr>
          <a:xfrm>
            <a:off x="7213600" y="3911600"/>
            <a:ext cx="3708400" cy="762000"/>
          </a:xfrm>
          <a:prstGeom prst="roundRect">
            <a:avLst/>
          </a:prstGeom>
          <a:solidFill>
            <a:srgbClr val="EBF5EE"/>
          </a:solidFill>
          <a:ln w="12700" cap="flat" cmpd="sng" algn="ctr">
            <a:solidFill>
              <a:srgbClr val="27AE6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3" name="ZoneTexte 22">
            <a:extLst>
              <a:ext uri="{FF2B5EF4-FFF2-40B4-BE49-F238E27FC236}">
                <a16:creationId xmlns:a16="http://schemas.microsoft.com/office/drawing/2014/main" id="{8E6517DE-D75C-4A59-B5DA-3A386AFB1007}"/>
              </a:ext>
            </a:extLst>
          </p:cNvPr>
          <p:cNvSpPr txBox="1"/>
          <p:nvPr/>
        </p:nvSpPr>
        <p:spPr>
          <a:xfrm>
            <a:off x="7366000" y="3987800"/>
            <a:ext cx="3403600" cy="228600"/>
          </a:xfrm>
          <a:prstGeom prst="rect">
            <a:avLst/>
          </a:prstGeom>
          <a:noFill/>
        </p:spPr>
        <p:txBody>
          <a:bodyPr vertOverflow="overflow" vert="horz" wrap="square" rtlCol="0" anchor="t">
            <a:spAutoFit/>
          </a:bodyPr>
          <a:lstStyle/>
          <a:p>
            <a:pPr algn="l"/>
            <a:r>
              <a:rPr lang="fr-FR" sz="1200" b="1">
                <a:solidFill>
                  <a:srgbClr val="1E7D45"/>
                </a:solidFill>
                <a:latin typeface="Segoe UI Semibold"/>
                <a:cs typeface="Segoe UI Semibold"/>
              </a:rPr>
              <a:t>Cible</a:t>
            </a:r>
          </a:p>
        </p:txBody>
      </p:sp>
      <p:sp>
        <p:nvSpPr>
          <p:cNvPr id="24" name="ZoneTexte 23">
            <a:extLst>
              <a:ext uri="{FF2B5EF4-FFF2-40B4-BE49-F238E27FC236}">
                <a16:creationId xmlns:a16="http://schemas.microsoft.com/office/drawing/2014/main" id="{C40212C1-C8F5-456A-AB24-9F47C1BC3C9B}"/>
              </a:ext>
            </a:extLst>
          </p:cNvPr>
          <p:cNvSpPr txBox="1"/>
          <p:nvPr/>
        </p:nvSpPr>
        <p:spPr>
          <a:xfrm>
            <a:off x="7366000" y="4241800"/>
            <a:ext cx="3403600" cy="492443"/>
          </a:xfrm>
          <a:prstGeom prst="rect">
            <a:avLst/>
          </a:prstGeom>
          <a:noFill/>
        </p:spPr>
        <p:txBody>
          <a:bodyPr vertOverflow="overflow" vert="horz" wrap="square" rtlCol="0" anchor="t">
            <a:spAutoFit/>
          </a:bodyPr>
          <a:lstStyle/>
          <a:p>
            <a:pPr algn="l"/>
            <a:r>
              <a:rPr lang="fr-FR" sz="1300">
                <a:solidFill>
                  <a:srgbClr val="1E7D45"/>
                </a:solidFill>
                <a:latin typeface="Segoe UI"/>
                <a:cs typeface="Segoe UI"/>
              </a:rPr>
              <a:t>100 % formés avant le pilote · satisfaction 4/5 min.</a:t>
            </a:r>
          </a:p>
        </p:txBody>
      </p:sp>
      <p:sp>
        <p:nvSpPr>
          <p:cNvPr id="25" name="Rectangle : coins arrondis 24">
            <a:extLst>
              <a:ext uri="{FF2B5EF4-FFF2-40B4-BE49-F238E27FC236}">
                <a16:creationId xmlns:a16="http://schemas.microsoft.com/office/drawing/2014/main" id="{3A9651D2-A895-43BA-9950-30A415D8BF39}"/>
              </a:ext>
            </a:extLst>
          </p:cNvPr>
          <p:cNvSpPr/>
          <p:nvPr/>
        </p:nvSpPr>
        <p:spPr>
          <a:xfrm>
            <a:off x="914400" y="4876800"/>
            <a:ext cx="10007600" cy="6350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r>
              <a:rPr lang="fr-FR" sz="1600" b="1">
                <a:solidFill>
                  <a:srgbClr val="FFFFFF"/>
                </a:solidFill>
                <a:latin typeface="Segoe UI Semibold"/>
                <a:cs typeface="Segoe UI Semibold"/>
              </a:rPr>
              <a:t>②  Décision attendue :  valider ce dispositif d'accompagnement</a:t>
            </a:r>
          </a:p>
        </p:txBody>
      </p:sp>
      <p:pic>
        <p:nvPicPr>
          <p:cNvPr id="26" name="Graphic 26" descr="Superviseur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28800" y="1651000"/>
            <a:ext cx="508000" cy="508000"/>
          </a:xfrm>
          <a:prstGeom prst="rect">
            <a:avLst/>
          </a:prstGeom>
        </p:spPr>
      </p:pic>
      <p:pic>
        <p:nvPicPr>
          <p:cNvPr id="27" name="Graphic 27" descr="Agent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81500" y="1651000"/>
            <a:ext cx="508000" cy="508000"/>
          </a:xfrm>
          <a:prstGeom prst="rect">
            <a:avLst/>
          </a:prstGeom>
        </p:spPr>
      </p:pic>
      <p:pic>
        <p:nvPicPr>
          <p:cNvPr id="28" name="Graphic 28" descr="Analyste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34200" y="1651000"/>
            <a:ext cx="508000" cy="508000"/>
          </a:xfrm>
          <a:prstGeom prst="rect">
            <a:avLst/>
          </a:prstGeom>
        </p:spPr>
      </p:pic>
      <p:pic>
        <p:nvPicPr>
          <p:cNvPr id="29" name="Graphic 29" descr="Accessibilité"/>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486900" y="1651000"/>
            <a:ext cx="508000" cy="508000"/>
          </a:xfrm>
          <a:prstGeom prst="rect">
            <a:avLst/>
          </a:prstGeom>
        </p:spPr>
      </p:pic>
    </p:spTree>
    <p:extLst>
      <p:ext uri="{BB962C8B-B14F-4D97-AF65-F5344CB8AC3E}">
        <p14:creationId xmlns:p14="http://schemas.microsoft.com/office/powerpoint/2010/main" val="37134089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ABD7F9B-FFC3-4369-92CC-633D88BFE21A}"/>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EF1BD864-3269-47EF-BF64-E0F1B7F1EEEB}"/>
              </a:ext>
            </a:extLst>
          </p:cNvPr>
          <p:cNvSpPr txBox="1"/>
          <p:nvPr/>
        </p:nvSpPr>
        <p:spPr>
          <a:xfrm>
            <a:off x="1143000" y="482600"/>
            <a:ext cx="6350000" cy="254000"/>
          </a:xfrm>
          <a:prstGeom prst="rect">
            <a:avLst/>
          </a:prstGeom>
          <a:noFill/>
        </p:spPr>
        <p:txBody>
          <a:bodyPr vertOverflow="overflow" vert="horz" wrap="square" rtlCol="0" anchor="t">
            <a:spAutoFit/>
          </a:bodyPr>
          <a:lstStyle/>
          <a:p>
            <a:pPr algn="l"/>
            <a:r>
              <a:rPr lang="fr-FR" sz="1300" b="1">
                <a:solidFill>
                  <a:srgbClr val="2E86AB"/>
                </a:solidFill>
              </a:rPr>
              <a:t>DÉCISIONS DEMANDÉES</a:t>
            </a:r>
          </a:p>
        </p:txBody>
      </p:sp>
      <p:sp>
        <p:nvSpPr>
          <p:cNvPr id="4" name="ZoneTexte 3">
            <a:extLst>
              <a:ext uri="{FF2B5EF4-FFF2-40B4-BE49-F238E27FC236}">
                <a16:creationId xmlns:a16="http://schemas.microsoft.com/office/drawing/2014/main" id="{EAF548CC-4EE6-43C2-BD45-3A1C9B6DB804}"/>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Les 4 décisions attendues de ce comité</a:t>
            </a:r>
          </a:p>
        </p:txBody>
      </p:sp>
      <p:sp>
        <p:nvSpPr>
          <p:cNvPr id="5" name="Rectangle : coins arrondis 4">
            <a:extLst>
              <a:ext uri="{FF2B5EF4-FFF2-40B4-BE49-F238E27FC236}">
                <a16:creationId xmlns:a16="http://schemas.microsoft.com/office/drawing/2014/main" id="{57F0C33E-9263-4D61-94AC-6C9AF1DD84CE}"/>
              </a:ext>
            </a:extLst>
          </p:cNvPr>
          <p:cNvSpPr/>
          <p:nvPr/>
        </p:nvSpPr>
        <p:spPr>
          <a:xfrm>
            <a:off x="914400" y="14732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6" name="Ellipse 5">
            <a:extLst>
              <a:ext uri="{FF2B5EF4-FFF2-40B4-BE49-F238E27FC236}">
                <a16:creationId xmlns:a16="http://schemas.microsoft.com/office/drawing/2014/main" id="{CED6267D-9F65-4E3B-BE45-F9877F674054}"/>
              </a:ext>
            </a:extLst>
          </p:cNvPr>
          <p:cNvSpPr/>
          <p:nvPr/>
        </p:nvSpPr>
        <p:spPr>
          <a:xfrm>
            <a:off x="1117600" y="16129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1</a:t>
            </a:r>
          </a:p>
        </p:txBody>
      </p:sp>
      <p:sp>
        <p:nvSpPr>
          <p:cNvPr id="7" name="ZoneTexte 6">
            <a:extLst>
              <a:ext uri="{FF2B5EF4-FFF2-40B4-BE49-F238E27FC236}">
                <a16:creationId xmlns:a16="http://schemas.microsoft.com/office/drawing/2014/main" id="{83B1CE69-AACD-4A15-B74E-63C896B2BDAF}"/>
              </a:ext>
            </a:extLst>
          </p:cNvPr>
          <p:cNvSpPr txBox="1"/>
          <p:nvPr/>
        </p:nvSpPr>
        <p:spPr>
          <a:xfrm>
            <a:off x="1701800" y="14732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Valider le mode de gouvernance</a:t>
            </a:r>
          </a:p>
        </p:txBody>
      </p:sp>
      <p:sp>
        <p:nvSpPr>
          <p:cNvPr id="8" name="Rectangle : coins arrondis 7">
            <a:extLst>
              <a:ext uri="{FF2B5EF4-FFF2-40B4-BE49-F238E27FC236}">
                <a16:creationId xmlns:a16="http://schemas.microsoft.com/office/drawing/2014/main" id="{B75DFE18-AC4E-43E2-BA37-58510C070DF9}"/>
              </a:ext>
            </a:extLst>
          </p:cNvPr>
          <p:cNvSpPr/>
          <p:nvPr/>
        </p:nvSpPr>
        <p:spPr>
          <a:xfrm>
            <a:off x="9652000" y="1612900"/>
            <a:ext cx="1066800" cy="4064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S2</a:t>
            </a:r>
          </a:p>
        </p:txBody>
      </p:sp>
      <p:sp>
        <p:nvSpPr>
          <p:cNvPr id="9" name="Rectangle : coins arrondis 8">
            <a:extLst>
              <a:ext uri="{FF2B5EF4-FFF2-40B4-BE49-F238E27FC236}">
                <a16:creationId xmlns:a16="http://schemas.microsoft.com/office/drawing/2014/main" id="{096C2C2D-42B4-4DC1-92A4-62E718F028DA}"/>
              </a:ext>
            </a:extLst>
          </p:cNvPr>
          <p:cNvSpPr/>
          <p:nvPr/>
        </p:nvSpPr>
        <p:spPr>
          <a:xfrm>
            <a:off x="914400" y="22606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0" name="Ellipse 9">
            <a:extLst>
              <a:ext uri="{FF2B5EF4-FFF2-40B4-BE49-F238E27FC236}">
                <a16:creationId xmlns:a16="http://schemas.microsoft.com/office/drawing/2014/main" id="{5102E8A9-C446-4190-A24A-51868FD59C4C}"/>
              </a:ext>
            </a:extLst>
          </p:cNvPr>
          <p:cNvSpPr/>
          <p:nvPr/>
        </p:nvSpPr>
        <p:spPr>
          <a:xfrm>
            <a:off x="1117600" y="24003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2</a:t>
            </a:r>
          </a:p>
        </p:txBody>
      </p:sp>
      <p:sp>
        <p:nvSpPr>
          <p:cNvPr id="11" name="ZoneTexte 10">
            <a:extLst>
              <a:ext uri="{FF2B5EF4-FFF2-40B4-BE49-F238E27FC236}">
                <a16:creationId xmlns:a16="http://schemas.microsoft.com/office/drawing/2014/main" id="{EB3B4889-7F21-4AEB-B84E-1631F69611E1}"/>
              </a:ext>
            </a:extLst>
          </p:cNvPr>
          <p:cNvSpPr txBox="1"/>
          <p:nvPr/>
        </p:nvSpPr>
        <p:spPr>
          <a:xfrm>
            <a:off x="1701800" y="22606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Valider le calendrier (4 phases, 5 jalons)</a:t>
            </a:r>
          </a:p>
        </p:txBody>
      </p:sp>
      <p:sp>
        <p:nvSpPr>
          <p:cNvPr id="12" name="Rectangle : coins arrondis 11">
            <a:extLst>
              <a:ext uri="{FF2B5EF4-FFF2-40B4-BE49-F238E27FC236}">
                <a16:creationId xmlns:a16="http://schemas.microsoft.com/office/drawing/2014/main" id="{8636CCB2-4D99-44C4-8959-36DFD3B0B0BB}"/>
              </a:ext>
            </a:extLst>
          </p:cNvPr>
          <p:cNvSpPr/>
          <p:nvPr/>
        </p:nvSpPr>
        <p:spPr>
          <a:xfrm>
            <a:off x="9652000" y="2400300"/>
            <a:ext cx="1066800" cy="4064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S2</a:t>
            </a:r>
          </a:p>
        </p:txBody>
      </p:sp>
      <p:sp>
        <p:nvSpPr>
          <p:cNvPr id="13" name="Rectangle : coins arrondis 12">
            <a:extLst>
              <a:ext uri="{FF2B5EF4-FFF2-40B4-BE49-F238E27FC236}">
                <a16:creationId xmlns:a16="http://schemas.microsoft.com/office/drawing/2014/main" id="{665C180D-389D-4B11-B41A-921587D79258}"/>
              </a:ext>
            </a:extLst>
          </p:cNvPr>
          <p:cNvSpPr/>
          <p:nvPr/>
        </p:nvSpPr>
        <p:spPr>
          <a:xfrm>
            <a:off x="914400" y="30480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4" name="Ellipse 13">
            <a:extLst>
              <a:ext uri="{FF2B5EF4-FFF2-40B4-BE49-F238E27FC236}">
                <a16:creationId xmlns:a16="http://schemas.microsoft.com/office/drawing/2014/main" id="{748FA1D8-7C54-454A-BAE6-844BEE4858A6}"/>
              </a:ext>
            </a:extLst>
          </p:cNvPr>
          <p:cNvSpPr/>
          <p:nvPr/>
        </p:nvSpPr>
        <p:spPr>
          <a:xfrm>
            <a:off x="1117600" y="31877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3</a:t>
            </a:r>
          </a:p>
        </p:txBody>
      </p:sp>
      <p:sp>
        <p:nvSpPr>
          <p:cNvPr id="15" name="ZoneTexte 14">
            <a:extLst>
              <a:ext uri="{FF2B5EF4-FFF2-40B4-BE49-F238E27FC236}">
                <a16:creationId xmlns:a16="http://schemas.microsoft.com/office/drawing/2014/main" id="{870B5CCD-867D-4E42-9741-240C0E70A82A}"/>
              </a:ext>
            </a:extLst>
          </p:cNvPr>
          <p:cNvSpPr txBox="1"/>
          <p:nvPr/>
        </p:nvSpPr>
        <p:spPr>
          <a:xfrm>
            <a:off x="1701800" y="30480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Arbitrer les priorités du backlog</a:t>
            </a:r>
          </a:p>
        </p:txBody>
      </p:sp>
      <p:sp>
        <p:nvSpPr>
          <p:cNvPr id="16" name="Rectangle : coins arrondis 15">
            <a:extLst>
              <a:ext uri="{FF2B5EF4-FFF2-40B4-BE49-F238E27FC236}">
                <a16:creationId xmlns:a16="http://schemas.microsoft.com/office/drawing/2014/main" id="{62DED501-A17F-49AB-8B97-13F7FC1E4F8B}"/>
              </a:ext>
            </a:extLst>
          </p:cNvPr>
          <p:cNvSpPr/>
          <p:nvPr/>
        </p:nvSpPr>
        <p:spPr>
          <a:xfrm>
            <a:off x="9652000" y="3187700"/>
            <a:ext cx="1066800" cy="4064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S2</a:t>
            </a:r>
          </a:p>
        </p:txBody>
      </p:sp>
      <p:sp>
        <p:nvSpPr>
          <p:cNvPr id="17" name="Rectangle : coins arrondis 16">
            <a:extLst>
              <a:ext uri="{FF2B5EF4-FFF2-40B4-BE49-F238E27FC236}">
                <a16:creationId xmlns:a16="http://schemas.microsoft.com/office/drawing/2014/main" id="{10B6674A-AFCB-4699-8EFD-00EB99937BCE}"/>
              </a:ext>
            </a:extLst>
          </p:cNvPr>
          <p:cNvSpPr/>
          <p:nvPr/>
        </p:nvSpPr>
        <p:spPr>
          <a:xfrm>
            <a:off x="914400" y="38354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8" name="Ellipse 17">
            <a:extLst>
              <a:ext uri="{FF2B5EF4-FFF2-40B4-BE49-F238E27FC236}">
                <a16:creationId xmlns:a16="http://schemas.microsoft.com/office/drawing/2014/main" id="{E950BD73-744B-44D9-8821-B228C4CDF604}"/>
              </a:ext>
            </a:extLst>
          </p:cNvPr>
          <p:cNvSpPr/>
          <p:nvPr/>
        </p:nvSpPr>
        <p:spPr>
          <a:xfrm>
            <a:off x="1117600" y="39751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4</a:t>
            </a:r>
          </a:p>
        </p:txBody>
      </p:sp>
      <p:sp>
        <p:nvSpPr>
          <p:cNvPr id="19" name="ZoneTexte 18">
            <a:extLst>
              <a:ext uri="{FF2B5EF4-FFF2-40B4-BE49-F238E27FC236}">
                <a16:creationId xmlns:a16="http://schemas.microsoft.com/office/drawing/2014/main" id="{F96FDB08-CEEA-4435-A24F-0CEFB30BEBA3}"/>
              </a:ext>
            </a:extLst>
          </p:cNvPr>
          <p:cNvSpPr txBox="1"/>
          <p:nvPr/>
        </p:nvSpPr>
        <p:spPr>
          <a:xfrm>
            <a:off x="1701800" y="38354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Valider le dispositif d'accompagnement</a:t>
            </a:r>
          </a:p>
        </p:txBody>
      </p:sp>
      <p:sp>
        <p:nvSpPr>
          <p:cNvPr id="20" name="Rectangle : coins arrondis 19">
            <a:extLst>
              <a:ext uri="{FF2B5EF4-FFF2-40B4-BE49-F238E27FC236}">
                <a16:creationId xmlns:a16="http://schemas.microsoft.com/office/drawing/2014/main" id="{1653D628-AF62-4B10-8335-8D9D589DDDDF}"/>
              </a:ext>
            </a:extLst>
          </p:cNvPr>
          <p:cNvSpPr/>
          <p:nvPr/>
        </p:nvSpPr>
        <p:spPr>
          <a:xfrm>
            <a:off x="9652000" y="3975100"/>
            <a:ext cx="1066800" cy="4064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S4</a:t>
            </a:r>
          </a:p>
        </p:txBody>
      </p:sp>
      <p:sp>
        <p:nvSpPr>
          <p:cNvPr id="21" name="ZoneTexte 20">
            <a:extLst>
              <a:ext uri="{FF2B5EF4-FFF2-40B4-BE49-F238E27FC236}">
                <a16:creationId xmlns:a16="http://schemas.microsoft.com/office/drawing/2014/main" id="{C22CE9B3-77BC-4C2D-B7A9-A2772B5795AE}"/>
              </a:ext>
            </a:extLst>
          </p:cNvPr>
          <p:cNvSpPr txBox="1"/>
          <p:nvPr/>
        </p:nvSpPr>
        <p:spPr>
          <a:xfrm>
            <a:off x="9652000" y="1143000"/>
            <a:ext cx="1066800" cy="228600"/>
          </a:xfrm>
          <a:prstGeom prst="rect">
            <a:avLst/>
          </a:prstGeom>
          <a:noFill/>
        </p:spPr>
        <p:txBody>
          <a:bodyPr vertOverflow="overflow" vert="horz" wrap="square" rtlCol="0" anchor="ctr" anchorCtr="0">
            <a:spAutoFit/>
          </a:bodyPr>
          <a:lstStyle/>
          <a:p>
            <a:pPr algn="l"/>
            <a:r>
              <a:rPr lang="fr-FR" sz="1100" b="1">
                <a:solidFill>
                  <a:srgbClr val="5D6D7E"/>
                </a:solidFill>
                <a:latin typeface="Segoe UI"/>
                <a:cs typeface="Segoe UI"/>
              </a:rPr>
              <a:t>Échéance</a:t>
            </a:r>
          </a:p>
        </p:txBody>
      </p:sp>
      <p:sp>
        <p:nvSpPr>
          <p:cNvPr id="22" name="Rectangle : coins arrondis 21">
            <a:extLst>
              <a:ext uri="{FF2B5EF4-FFF2-40B4-BE49-F238E27FC236}">
                <a16:creationId xmlns:a16="http://schemas.microsoft.com/office/drawing/2014/main" id="{57E931CE-09F8-418F-B7DC-DF25BDB9B2A4}"/>
              </a:ext>
            </a:extLst>
          </p:cNvPr>
          <p:cNvSpPr/>
          <p:nvPr/>
        </p:nvSpPr>
        <p:spPr>
          <a:xfrm>
            <a:off x="914400" y="4648200"/>
            <a:ext cx="10007600" cy="6096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lstStyle/>
          <a:p>
            <a:pPr algn="l"/>
            <a:r>
              <a:rPr lang="fr-FR" sz="1300" b="1">
                <a:solidFill>
                  <a:srgbClr val="1A5276"/>
                </a:solidFill>
                <a:latin typeface="Segoe UI Semibold"/>
                <a:cs typeface="Segoe UI Semibold"/>
              </a:rPr>
              <a:t>Prochaines étapes :  lancement du cadrage  ·  1er reporting hebdomadaire en S3  ·  jalon J1 en fin de S2.</a:t>
            </a:r>
          </a:p>
        </p:txBody>
      </p:sp>
      <p:sp>
        <p:nvSpPr>
          <p:cNvPr id="23" name="ZoneTexte 22">
            <a:extLst>
              <a:ext uri="{FF2B5EF4-FFF2-40B4-BE49-F238E27FC236}">
                <a16:creationId xmlns:a16="http://schemas.microsoft.com/office/drawing/2014/main" id="{088CB0AD-EA1A-4C70-9BF9-63B41D08040B}"/>
              </a:ext>
            </a:extLst>
          </p:cNvPr>
          <p:cNvSpPr txBox="1"/>
          <p:nvPr/>
        </p:nvSpPr>
        <p:spPr>
          <a:xfrm>
            <a:off x="914400" y="5359400"/>
            <a:ext cx="10007600" cy="355600"/>
          </a:xfrm>
          <a:prstGeom prst="rect">
            <a:avLst/>
          </a:prstGeom>
          <a:noFill/>
        </p:spPr>
        <p:txBody>
          <a:bodyPr vertOverflow="overflow" vert="horz" wrap="square" rtlCol="0" anchor="t">
            <a:spAutoFit/>
          </a:bodyPr>
          <a:lstStyle/>
          <a:p>
            <a:pPr algn="l"/>
            <a:r>
              <a:rPr lang="fr-FR" sz="1700" b="1">
                <a:solidFill>
                  <a:srgbClr val="1A5276"/>
                </a:solidFill>
                <a:latin typeface="Segoe UI Semibold"/>
                <a:cs typeface="Segoe UI Semibold"/>
              </a:rPr>
              <a:t>Merci. Je suis prêt à répondre à vos questions.</a:t>
            </a:r>
          </a:p>
        </p:txBody>
      </p:sp>
    </p:spTree>
    <p:extLst>
      <p:ext uri="{BB962C8B-B14F-4D97-AF65-F5344CB8AC3E}">
        <p14:creationId xmlns:p14="http://schemas.microsoft.com/office/powerpoint/2010/main" val="890942716"/>
      </p:ext>
    </p:extLst>
  </p:cSld>
  <p:clrMapOvr>
    <a:masterClrMapping/>
  </p:clrMapOvr>
</p:sld>
</file>

<file path=ppt/theme/theme1.xml><?xml version="1.0" encoding="utf-8"?>
<a:theme xmlns:a="http://schemas.openxmlformats.org/drawingml/2006/main" name="Office Theme [1784653823272]">
  <a:themeElements>
    <a:clrScheme name="Office">
      <a:dk1>
        <a:srgbClr val="1B2A38"/>
      </a:dk1>
      <a:lt1>
        <a:srgbClr val="FFFFFF"/>
      </a:lt1>
      <a:dk2>
        <a:srgbClr val="1A5276"/>
      </a:dk2>
      <a:lt2>
        <a:srgbClr val="EAF0F4"/>
      </a:lt2>
      <a:accent1>
        <a:srgbClr val="1A5276"/>
      </a:accent1>
      <a:accent2>
        <a:srgbClr val="2E86AB"/>
      </a:accent2>
      <a:accent3>
        <a:srgbClr val="27AE60"/>
      </a:accent3>
      <a:accent4>
        <a:srgbClr val="E67E22"/>
      </a:accent4>
      <a:accent5>
        <a:srgbClr val="C0392B"/>
      </a:accent5>
      <a:accent6>
        <a:srgbClr val="5D6D7E"/>
      </a:accent6>
      <a:hlink>
        <a:srgbClr val="0563C1"/>
      </a:hlink>
      <a:folHlink>
        <a:srgbClr val="954F72"/>
      </a:folHlink>
    </a:clrScheme>
    <a:fontScheme name="Office">
      <a:majorFont>
        <a:latin typeface="Segoe UI Semibold"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70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01b7194-a0d0-4138-bbb1-f369a6018c9e}">
  <we:reference id="WA200010001" version="1.0.0.1" store="en-US" storeType="OMEX"/>
  <we:alternateReferences/>
  <we:properties>
    <we:property name="Microsoft.Office.CampaignId" value="&quot;none&quot;"/>
    <we:property name="claude.fileId" value="&quot;b0c28f32-c3aa-4dc0-aa23-4f403c31bd61&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D401524DC532D42A0E0ED886331A72B" ma:contentTypeVersion="13" ma:contentTypeDescription="Create a new document." ma:contentTypeScope="" ma:versionID="d936d863d335d354da51eb78ca1ae338">
  <xsd:schema xmlns:xsd="http://www.w3.org/2001/XMLSchema" xmlns:xs="http://www.w3.org/2001/XMLSchema" xmlns:p="http://schemas.microsoft.com/office/2006/metadata/properties" xmlns:ns2="f577acbf-5b0b-4b4f-9948-268e97f8d3a4" xmlns:ns3="b1e4d6ee-9f6f-43f8-a618-24f3d84da28f" targetNamespace="http://schemas.microsoft.com/office/2006/metadata/properties" ma:root="true" ma:fieldsID="5fbac08d56b1b04aa33acbc31e882ce9" ns2:_="" ns3:_="">
    <xsd:import namespace="f577acbf-5b0b-4b4f-9948-268e97f8d3a4"/>
    <xsd:import namespace="b1e4d6ee-9f6f-43f8-a618-24f3d84da28f"/>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3:LastSharedByUser" minOccurs="0"/>
                <xsd:element ref="ns3:LastSharedByTime" minOccurs="0"/>
                <xsd:element ref="ns2:Document_x0020_Purpose" minOccurs="0"/>
                <xsd:element ref="ns2:Initiatives" minOccurs="0"/>
                <xsd:element ref="ns2:MediaServiceDateTaken" minOccurs="0"/>
                <xsd:element ref="ns2:MediaServiceAutoTags"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577acbf-5b0b-4b4f-9948-268e97f8d3a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Document_x0020_Purpose" ma:index="14" nillable="true" ma:displayName="Document Purpose" ma:default="Informational" ma:format="Dropdown" ma:internalName="Document_x0020_Purpose">
      <xsd:simpleType>
        <xsd:restriction base="dms:Choice">
          <xsd:enumeration value="Informational"/>
          <xsd:enumeration value="Feature Spec"/>
          <xsd:enumeration value="Engineering Design"/>
          <xsd:enumeration value="Planning"/>
        </xsd:restriction>
      </xsd:simpleType>
    </xsd:element>
    <xsd:element name="Initiatives" ma:index="15" nillable="true" ma:displayName="Initiatives" ma:description="List of initiatives related to this document" ma:internalName="Initiatives">
      <xsd:complexType>
        <xsd:complexContent>
          <xsd:extension base="dms:MultiChoice">
            <xsd:sequence>
              <xsd:element name="Value" maxOccurs="unbounded" minOccurs="0" nillable="true">
                <xsd:simpleType>
                  <xsd:restriction base="dms:Choice">
                    <xsd:enumeration value="Add-in MAU"/>
                    <xsd:enumeration value="Custom Functions"/>
                    <xsd:enumeration value="Data &amp; Analytics"/>
                    <xsd:enumeration value="DevEx: Portals &amp; Programs"/>
                    <xsd:enumeration value="DevEx: Tools &amp; Libraries"/>
                    <xsd:enumeration value="Engineering"/>
                    <xsd:enumeration value="Excel API"/>
                    <xsd:enumeration value="In-Market Support"/>
                    <xsd:enumeration value="Maker Access"/>
                    <xsd:enumeration value="SDX Runtime &amp; Partners"/>
                    <xsd:enumeration value="SDX Service Delivery"/>
                    <xsd:enumeration value="SDX API &amp; Pipeline"/>
                    <xsd:enumeration value="Shield &amp; OCE"/>
                  </xsd:restriction>
                </xsd:simpleType>
              </xsd:element>
            </xsd:sequence>
          </xsd:extension>
        </xsd:complexContent>
      </xsd:complexType>
    </xsd:element>
    <xsd:element name="MediaServiceDateTaken" ma:index="16" nillable="true" ma:displayName="MediaServiceDateTaken" ma:hidden="true" ma:internalName="MediaServiceDateTaken" ma:readOnly="true">
      <xsd:simpleType>
        <xsd:restriction base="dms:Text"/>
      </xsd:simpleType>
    </xsd:element>
    <xsd:element name="MediaServiceAutoTags" ma:index="17" nillable="true" ma:displayName="MediaServiceAutoTags" ma:internalName="MediaServiceAutoTags" ma:readOnly="true">
      <xsd:simpleType>
        <xsd:restriction base="dms:Text"/>
      </xsd:simpleType>
    </xsd:element>
    <xsd:element name="MediaServiceOCR" ma:index="18" nillable="true" ma:displayName="MediaServiceOCR" ma:internalName="MediaServiceOCR" ma:readOnly="true">
      <xsd:simpleType>
        <xsd:restriction base="dms:Note">
          <xsd:maxLength value="255"/>
        </xsd:restriction>
      </xsd:simpleType>
    </xsd:element>
    <xsd:element name="MediaServiceLocation" ma:index="19" nillable="true" ma:displayName="MediaServic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e4d6ee-9f6f-43f8-a618-24f3d84da28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LastSharedByUser" ma:index="12" nillable="true" ma:displayName="Last Shared By User" ma:hidden="true" ma:internalName="LastSharedByUser" ma:readOnly="true">
      <xsd:simpleType>
        <xsd:restriction base="dms:Note"/>
      </xsd:simpleType>
    </xsd:element>
    <xsd:element name="LastSharedByTime" ma:index="13" nillable="true" ma:displayName="Last Shared By Time"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Document_x0020_Purpose xmlns="f577acbf-5b0b-4b4f-9948-268e97f8d3a4">Informational</Document_x0020_Purpose>
    <Initiatives xmlns="f577acbf-5b0b-4b4f-9948-268e97f8d3a4"/>
  </documentManagement>
</p:properties>
</file>

<file path=customXml/itemProps1.xml><?xml version="1.0" encoding="utf-8"?>
<ds:datastoreItem xmlns:ds="http://schemas.openxmlformats.org/officeDocument/2006/customXml" ds:itemID="{A79EAE08-AAD0-49B9-BF66-164C225CC52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577acbf-5b0b-4b4f-9948-268e97f8d3a4"/>
    <ds:schemaRef ds:uri="b1e4d6ee-9f6f-43f8-a618-24f3d84da2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21AFCC0-734A-4A90-A597-A1CB34860DCD}">
  <ds:schemaRefs>
    <ds:schemaRef ds:uri="http://schemas.microsoft.com/sharepoint/v3/contenttype/forms"/>
  </ds:schemaRefs>
</ds:datastoreItem>
</file>

<file path=customXml/itemProps3.xml><?xml version="1.0" encoding="utf-8"?>
<ds:datastoreItem xmlns:ds="http://schemas.openxmlformats.org/officeDocument/2006/customXml" ds:itemID="{617AB1FA-2F28-4684-9230-02ACEB6C0B0A}">
  <ds:schemaRefs>
    <ds:schemaRef ds:uri="b1e4d6ee-9f6f-43f8-a618-24f3d84da28f"/>
    <ds:schemaRef ds:uri="http://purl.org/dc/terms/"/>
    <ds:schemaRef ds:uri="http://schemas.openxmlformats.org/package/2006/metadata/core-properties"/>
    <ds:schemaRef ds:uri="f577acbf-5b0b-4b4f-9948-268e97f8d3a4"/>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0</TotalTime>
  <Words>2656</Words>
  <Application>Microsoft Office PowerPoint</Application>
  <PresentationFormat>Grand écran</PresentationFormat>
  <Paragraphs>169</Paragraphs>
  <Slides>8</Slides>
  <Notes>8</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8</vt:i4>
      </vt:variant>
    </vt:vector>
  </HeadingPairs>
  <TitlesOfParts>
    <vt:vector size="13" baseType="lpstr">
      <vt:lpstr>Aptos</vt:lpstr>
      <vt:lpstr>Arial</vt:lpstr>
      <vt:lpstr>Segoe UI</vt:lpstr>
      <vt:lpstr>Segoe UI Semibold</vt:lpstr>
      <vt:lpstr>Office Theme [1784653823272]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dc:creator>
  <cp:lastModifiedBy>Ouassim MEGRAD</cp:lastModifiedBy>
  <cp:revision>6</cp:revision>
  <dcterms:created xsi:type="dcterms:W3CDTF">2018-06-07T21:39:02Z</dcterms:created>
  <dcterms:modified xsi:type="dcterms:W3CDTF">2026-07-21T17:37:00Z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0x010100CD401524DC532D42A0E0ED886331A72B</vt:lpwstr>
  </property>
  <property fmtid="{D5CDD505-2E9C-101B-9397-08002B2CF9AE}" pid="3" name="MSIP_Label_f42aa342-8706-4288-bd11-ebb85995028c_Enabled">
    <vt:lpwstr>True</vt:lpwstr>
  </property>
  <property fmtid="{D5CDD505-2E9C-101B-9397-08002B2CF9AE}" pid="4" name="MSIP_Label_f42aa342-8706-4288-bd11-ebb85995028c_SiteId">
    <vt:lpwstr>72f988bf-86f1-41af-91ab-2d7cd011db47</vt:lpwstr>
  </property>
  <property fmtid="{D5CDD505-2E9C-101B-9397-08002B2CF9AE}" pid="5" name="MSIP_Label_f42aa342-8706-4288-bd11-ebb85995028c_Owner">
    <vt:lpwstr>t-dahop@microsoft.com</vt:lpwstr>
  </property>
  <property fmtid="{D5CDD505-2E9C-101B-9397-08002B2CF9AE}" pid="6" name="MSIP_Label_f42aa342-8706-4288-bd11-ebb85995028c_SetDate">
    <vt:lpwstr>2018-06-18T13:45:27.3782680Z</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ies>
</file>