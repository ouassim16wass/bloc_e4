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5913C9E-D2CD-4DC9-AAB1-39FD6CF37F58}" type="datetimeFigureOut">
              <a:rPr lang="fr-FR" smtClean="0"/>
              <a:t>21/07/2026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508356-4CDE-4E03-A342-AF460C750D3C}" type="slidenum">
              <a:rPr lang="fr-FR" smtClean="0"/>
              <a:t>‹N°›</a:t>
            </a:fld>
            <a:endParaRPr lang="fr-FR"/>
          </a:p>
        </p:txBody>
      </p:sp>
    </p:spTree>
    <p:extLst>
      <p:ext uri="{BB962C8B-B14F-4D97-AF65-F5344CB8AC3E}">
        <p14:creationId xmlns:p14="http://schemas.microsoft.com/office/powerpoint/2010/main" val="3122306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30 - STATUT GLOBAL : VERT]
PITCH MOT A MOT :
Bonjour a tous. Je suis Ouassim Megrad, Lead Data de l'équipe Megslab. La direction de NovaVille a confie le passage à l'échelle de MobilityPulse a l'équipe Data Engineering, dont je suis le responsable. Ma mission : sécuriser le déploiement pilote sur 12 semaines.
Un point important avant de commencer : la solution existe déjà, sous forme de prototype qui collecte les signaux de mobilité, détecte les anomalies et affiche des indicateurs. Mon travail n'est donc pas de la développer, mais d'organiser son adoption.
La direction a constate trois limites : personne ne sait organiser le passage à l'échelle, les rôles entre les équipes ne sont pas formalises, et les utilisateurs demandent de la formation et du support. Mon dossier repond a ces trois limites, point par point : un plan projet, une gouvernance claire, et un accompagnement par profil.
Le statut global du projet est vert. Je vous presente le dispositif en huit points, et je terminerai par les quatre décisions que j'attends de ce comité.
TRANSITION : "Commencons par le calendrier."</a:t>
            </a:r>
          </a:p>
        </p:txBody>
      </p:sp>
      <p:sp>
        <p:nvSpPr>
          <p:cNvPr id="4" name="Espace réservé du numéro de diapositive 3"/>
          <p:cNvSpPr>
            <a:spLocks noGrp="1"/>
          </p:cNvSpPr>
          <p:nvPr>
            <p:ph type="sldNum" sz="quarter" idx="5"/>
          </p:nvPr>
        </p:nvSpPr>
        <p:spPr/>
        <p:txBody>
          <a:bodyPr/>
          <a:lstStyle/>
          <a:p>
            <a:fld id="{10508356-4CDE-4E03-A342-AF460C750D3C}" type="slidenum">
              <a:rPr lang="fr-FR" smtClean="0"/>
              <a:t>1</a:t>
            </a:fld>
            <a:endParaRPr lang="fr-FR"/>
          </a:p>
        </p:txBody>
      </p:sp>
    </p:spTree>
    <p:extLst>
      <p:ext uri="{BB962C8B-B14F-4D97-AF65-F5344CB8AC3E}">
        <p14:creationId xmlns:p14="http://schemas.microsoft.com/office/powerpoint/2010/main" val="217261774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PITCH MOT A MOT :
Le déploiement tient en 12 semaines, decoupe en quatre phases et cinq jalons. Deux semaines de cadrage pour installer la gouvernance. Puis six semaines de travail produit, en trois sprints de deux semaines. En parallele, a partir de la semaine 6, l'accompagnement des utilisateurs demarre. Et les deux dernieres semaines sont le déploiement pilote en conditions réelles.
Vous remarquez que les phases produit et formation se chevauchent : c'est volontaire. Les agents ont peu de temps disponible, donc j'etale les formations sur cinq semaines. Et surtout, tout le monde est forme avant le pilote : un pilote avec des utilisateurs non formés mesurerait l'échec de la formation, pas la valeur de l'outil.
CAS CONCRET A RACONTER :
"Pourquoi cet ordre de travail ? Un exemple : le support reclame une procédure d'escalade des incidents. Impossible de l'ecrire tant qu'on ne sait pas qui fait quoi : a qui on escalade ? C'est pour ca que la definition des rôles se fait en semaines 1 et 2, et la procédure juste apres, au sprint 1."
TRANSITION : "Justement, parlons des rôles."</a:t>
            </a:r>
          </a:p>
        </p:txBody>
      </p:sp>
      <p:sp>
        <p:nvSpPr>
          <p:cNvPr id="4" name="Espace réservé du numéro de diapositive 3"/>
          <p:cNvSpPr>
            <a:spLocks noGrp="1"/>
          </p:cNvSpPr>
          <p:nvPr>
            <p:ph type="sldNum" sz="quarter" idx="5"/>
          </p:nvPr>
        </p:nvSpPr>
        <p:spPr/>
        <p:txBody>
          <a:bodyPr/>
          <a:lstStyle/>
          <a:p>
            <a:fld id="{10508356-4CDE-4E03-A342-AF460C750D3C}" type="slidenum">
              <a:rPr lang="fr-FR" smtClean="0"/>
              <a:t>2</a:t>
            </a:fld>
            <a:endParaRPr lang="fr-FR"/>
          </a:p>
        </p:txBody>
      </p:sp>
    </p:spTree>
    <p:extLst>
      <p:ext uri="{BB962C8B-B14F-4D97-AF65-F5344CB8AC3E}">
        <p14:creationId xmlns:p14="http://schemas.microsoft.com/office/powerpoint/2010/main" val="21824848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 DECISION ATTENDUE No1]
PITCH MOT A MOT :
Pour la gouvernance, j'ai choisi une méthode hybride. Les evolutions du produit sont planifiables : je les organise en sprints de deux semaines, ce qui donne une cadence lisible pour vous, la direction. Le support, lui, est un flux imprévisible : je le gere en continu avec une file de priorités. Deux natures de travail, deux modes adaptés.
Le point central du dispositif, c'est le comité d'arbitrage hebdomadaire. Chaque activité a un seul responsable : le Product Owner priorise, moi je planifie, je garantis la fiabilité des indicateurs et je vous rends compte, et le référent accessibilité valide chaque support.
Premiere décision que je vous demande : valider ce mode de gouvernance.
CAS CONCRET A RACONTER :
"Imaginez la semaine 4. L'équipe technique veut livrer l'export CSV pour les analystes. Le centre de supervision reclame d'abord des alertes comprehensibles. Sans gouvernance, ce desaccord traine des semaines. Chez nous : comité du lundi, 30 minutes. Le Product Owner tranche, les alertes d'abord, parce que la non-adoption des agents est notre risque numero un, et moi j'eclaire la décision avec la charge et les dépendances techniques."
TRANSITION : "Une gouvernance pilote avec des chiffres. Voici les notres."</a:t>
            </a:r>
          </a:p>
        </p:txBody>
      </p:sp>
      <p:sp>
        <p:nvSpPr>
          <p:cNvPr id="4" name="Espace réservé du numéro de diapositive 3"/>
          <p:cNvSpPr>
            <a:spLocks noGrp="1"/>
          </p:cNvSpPr>
          <p:nvPr>
            <p:ph type="sldNum" sz="quarter" idx="5"/>
          </p:nvPr>
        </p:nvSpPr>
        <p:spPr/>
        <p:txBody>
          <a:bodyPr/>
          <a:lstStyle/>
          <a:p>
            <a:fld id="{10508356-4CDE-4E03-A342-AF460C750D3C}" type="slidenum">
              <a:rPr lang="fr-FR" smtClean="0"/>
              <a:t>3</a:t>
            </a:fld>
            <a:endParaRPr lang="fr-FR"/>
          </a:p>
        </p:txBody>
      </p:sp>
    </p:spTree>
    <p:extLst>
      <p:ext uri="{BB962C8B-B14F-4D97-AF65-F5344CB8AC3E}">
        <p14:creationId xmlns:p14="http://schemas.microsoft.com/office/powerpoint/2010/main" val="29178479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30 - LA SLIDE DU LEAD DATA]
PITCH MOT A MOT :
Le pilotage repose sur des indicateurs en quatre categories : le projet, le produit, l'adoption et l'impact environnemental. Tous les chiffres que vous voyez viennent du dossier fourni par la direction, je n'ai rien inventé.
Trois chiffres a retenir. L'adoption d'abord : 35 % des utilisateurs cibles utilisent l'outil aujourd'hui, l'objectif est 75 % en fin de pilote. Le temps de comprehension d'une alerte ensuite : 5 minutes aujourd'hui, 2 minutes en cible. Et les fausses alertes : 28 % aujourd'hui, 15 % en cible, parce que la confiance dans l'outil conditionne son adoption.
En tant que Lead Data, c'est mon coeur de métier : chaque indicateur a un responsable désigné, une formule documentee dans un glossaire, et une action prevue si la mesure derive.
CAS CONCRET A RACONTER :
"Prenons Malik, agent au centre de supervision. Aujourd'hui, en pleine heure de pointe, il recoit une alerte du genre 'anomalie de flux detectee, score 3,2'. Il met 5 minutes a comprendre, 5 minutes pendant lesquelles il ne décide rien. Notre travail : la meme alerte devient 'retard inhabituel sur la ligne de bus 12, secteur gare', avec une aide contextuelle. Objectif : 2 minutes."
TRANSITION : "Des chiffres pour piloter, et des risques sous controle."</a:t>
            </a:r>
          </a:p>
        </p:txBody>
      </p:sp>
      <p:sp>
        <p:nvSpPr>
          <p:cNvPr id="4" name="Espace réservé du numéro de diapositive 3"/>
          <p:cNvSpPr>
            <a:spLocks noGrp="1"/>
          </p:cNvSpPr>
          <p:nvPr>
            <p:ph type="sldNum" sz="quarter" idx="5"/>
          </p:nvPr>
        </p:nvSpPr>
        <p:spPr/>
        <p:txBody>
          <a:bodyPr/>
          <a:lstStyle/>
          <a:p>
            <a:fld id="{10508356-4CDE-4E03-A342-AF460C750D3C}" type="slidenum">
              <a:rPr lang="fr-FR" smtClean="0"/>
              <a:t>4</a:t>
            </a:fld>
            <a:endParaRPr lang="fr-FR"/>
          </a:p>
        </p:txBody>
      </p:sp>
    </p:spTree>
    <p:extLst>
      <p:ext uri="{BB962C8B-B14F-4D97-AF65-F5344CB8AC3E}">
        <p14:creationId xmlns:p14="http://schemas.microsoft.com/office/powerpoint/2010/main" val="33234160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PITCH MOT A MOT :
Six risques sont documentés au registre, je vous presente les trois majeurs. Le premier, c'est la non-adoption par les agents : c'est le risque qui tuerait le projet. Mes parades : des formations courtes, de la co-construction avec le terrain, et un canal de retours structuré. Le deuxieme, ce sont les conflits de priorités entre l'IT et le métier : c'est le comité d'arbitrage hebdomadaire qui le traite. Le troisieme, c'est une accessibilité insuffisante : chaque support est valide par le référent accessibilité avant diffusion, pas apres coup.
Et j'insiste : chaque risque a aussi un plan de contingence avec un seuil défini à l'avance. Pas d'improvisation en cours de pilote : les décisions difficiles sont préparées avant.
CAS CONCRET A RACONTER :
"Concretement : nous sommes en semaine 8, le tableau de bord affiche 48 % d'adoption alors qu'on devrait etre autour de 55. Le seuil des 50 % est franchi : je n'improvise pas, je declenche le plan prepare, ateliers cibles, accompagnement en binome, et je passe le statut a l'orange dans mon reporting avec la décision que je vous demande."
TRANSITION : "Ces risques, ce sont aussi les utilisateurs qui nous les signalent."</a:t>
            </a:r>
          </a:p>
        </p:txBody>
      </p:sp>
      <p:sp>
        <p:nvSpPr>
          <p:cNvPr id="4" name="Espace réservé du numéro de diapositive 3"/>
          <p:cNvSpPr>
            <a:spLocks noGrp="1"/>
          </p:cNvSpPr>
          <p:nvPr>
            <p:ph type="sldNum" sz="quarter" idx="5"/>
          </p:nvPr>
        </p:nvSpPr>
        <p:spPr/>
        <p:txBody>
          <a:bodyPr/>
          <a:lstStyle/>
          <a:p>
            <a:fld id="{10508356-4CDE-4E03-A342-AF460C750D3C}" type="slidenum">
              <a:rPr lang="fr-FR" smtClean="0"/>
              <a:t>5</a:t>
            </a:fld>
            <a:endParaRPr lang="fr-FR"/>
          </a:p>
        </p:txBody>
      </p:sp>
    </p:spTree>
    <p:extLst>
      <p:ext uri="{BB962C8B-B14F-4D97-AF65-F5344CB8AC3E}">
        <p14:creationId xmlns:p14="http://schemas.microsoft.com/office/powerpoint/2010/main" val="7904753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PITCH MOT A MOT :
Six retours utilisateurs ont ete recueillis sur le prototype. Je les ai priorises en croisant deux criteres : l'impact et la fréquence.
Trois retours cumulent impact fort et fréquence élevée : le vocabulaire des alertes est trop technique, il n'existe aucune procédure en cas de mauvaise alerte, et les définitions des indicateurs sont imprécises. Ils sont traites en premier.
Le retour sur les graphiques illisibles au lecteur d'écran est moins frequent, mais je l'ai remonte en priorité : l'accessibilité est une exigence d'inclusion de ce projet, pas une option.
Ce que je veux que vous reteniez : l'ordre de mes sprints n'est pas arbitraire, il reflète directement ce que le terrain nous a dit.
TRANSITION : "Ecouter le terrain, c'est aussi le former."</a:t>
            </a:r>
          </a:p>
        </p:txBody>
      </p:sp>
      <p:sp>
        <p:nvSpPr>
          <p:cNvPr id="4" name="Espace réservé du numéro de diapositive 3"/>
          <p:cNvSpPr>
            <a:spLocks noGrp="1"/>
          </p:cNvSpPr>
          <p:nvPr>
            <p:ph type="sldNum" sz="quarter" idx="5"/>
          </p:nvPr>
        </p:nvSpPr>
        <p:spPr/>
        <p:txBody>
          <a:bodyPr/>
          <a:lstStyle/>
          <a:p>
            <a:fld id="{10508356-4CDE-4E03-A342-AF460C750D3C}" type="slidenum">
              <a:rPr lang="fr-FR" smtClean="0"/>
              <a:t>6</a:t>
            </a:fld>
            <a:endParaRPr lang="fr-FR"/>
          </a:p>
        </p:txBody>
      </p:sp>
    </p:spTree>
    <p:extLst>
      <p:ext uri="{BB962C8B-B14F-4D97-AF65-F5344CB8AC3E}">
        <p14:creationId xmlns:p14="http://schemas.microsoft.com/office/powerpoint/2010/main" val="22732552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15 - DECISION ATTENDUE No2]
PITCH MOT A MOT :
L'accompagnement suit une logique simple : informer, former, accompagner sur le poste, puis rendre autonome. Quatre profils, quatre parcours adaptes : le superviseur presse, l'agent en salle opérationnelle, l'analyste, et l'utilisateur en situation de handicap.
La contrainte principale, c'est le temps : les agents en ont tres peu. Donc tout est court : un seul atelier de 45 minutes par profil, des tutoriels de 3 a 5 minutes, et la prise en main se fait en binome, sur leur poste, pendant leur travail reel.
Pour l'accessibilité : une session dédiée a rythme adapte, des supports compatibles lecteur d'écran, des videos sous-titrees, et chaque support est valide avant diffusion. Apres le déploiement, un support en deux niveaux prend le relais. La formation crée l'adoption, le support l'empêche de retomber.
La cible : 100 % des profils formés avant le pilote, satisfaction de 4 sur 5 minimum. C'est ma deuxieme demande de validation.
CAS CONCRET A RACONTER :
"Suivons Malik sur les 12 semaines. Semaine 6 : il recoit l'annonce et une demo de 15 minutes. Semaine 8 : il suit SON atelier de 45 minutes, construit sur de vraies alertes de son quotidien. Semaines 9 et 10 : quelqu'un vient a son poste, deux fois 30 minutes. Semaine 11, le pilote demarre : Malik est autonome."
TRANSITION : "Je recapitule ce que j'attends de vous."</a:t>
            </a:r>
          </a:p>
        </p:txBody>
      </p:sp>
      <p:sp>
        <p:nvSpPr>
          <p:cNvPr id="4" name="Espace réservé du numéro de diapositive 3"/>
          <p:cNvSpPr>
            <a:spLocks noGrp="1"/>
          </p:cNvSpPr>
          <p:nvPr>
            <p:ph type="sldNum" sz="quarter" idx="5"/>
          </p:nvPr>
        </p:nvSpPr>
        <p:spPr/>
        <p:txBody>
          <a:bodyPr/>
          <a:lstStyle/>
          <a:p>
            <a:fld id="{10508356-4CDE-4E03-A342-AF460C750D3C}" type="slidenum">
              <a:rPr lang="fr-FR" smtClean="0"/>
              <a:t>7</a:t>
            </a:fld>
            <a:endParaRPr lang="fr-FR"/>
          </a:p>
        </p:txBody>
      </p:sp>
    </p:spTree>
    <p:extLst>
      <p:ext uri="{BB962C8B-B14F-4D97-AF65-F5344CB8AC3E}">
        <p14:creationId xmlns:p14="http://schemas.microsoft.com/office/powerpoint/2010/main" val="10447919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[DUREE : 1 min - NE JAMAIS SAUTER CETTE SLIDE]
PITCH MOT A MOT :
Pour conclure, voici les quatre décisions que j'attends de ce comité. Deux dès cette semaine : valider le mode de gouvernance, et valider le calendrier en quatre phases et cinq jalons. Ensuite : arbitrer les priorités du backlog que je vous ai proposées, et d'ici la semaine 4, valider le dispositif d'accompagnement des utilisateurs.
Si vous validez aujourd'hui, le cadrage démarre immédiatement, vous recevez le premier reporting hebdomadaire en semaine 3, et nous nous retrouvons au jalon 1 en fin de semaine 2 pour constater que la gouvernance est en place.
Un prototype prometteur, un plan en 12 semaines, des indicateurs fiables et des utilisateurs accompagnes : voila comment nous securisons MobilityPulse.
Merci de votre attention. Je suis prêt a répondre à vos questions.
APRES CETTE SLIDE : silence, sourire, laisser le jury ouvrir les questions.</a:t>
            </a:r>
          </a:p>
        </p:txBody>
      </p:sp>
      <p:sp>
        <p:nvSpPr>
          <p:cNvPr id="4" name="Espace réservé du numéro de diapositive 3"/>
          <p:cNvSpPr>
            <a:spLocks noGrp="1"/>
          </p:cNvSpPr>
          <p:nvPr>
            <p:ph type="sldNum" sz="quarter" idx="5"/>
          </p:nvPr>
        </p:nvSpPr>
        <p:spPr/>
        <p:txBody>
          <a:bodyPr/>
          <a:lstStyle/>
          <a:p>
            <a:fld id="{10508356-4CDE-4E03-A342-AF460C750D3C}" type="slidenum">
              <a:rPr lang="fr-FR" smtClean="0"/>
              <a:t>8</a:t>
            </a:fld>
            <a:endParaRPr lang="fr-FR"/>
          </a:p>
        </p:txBody>
      </p:sp>
    </p:spTree>
    <p:extLst>
      <p:ext uri="{BB962C8B-B14F-4D97-AF65-F5344CB8AC3E}">
        <p14:creationId xmlns:p14="http://schemas.microsoft.com/office/powerpoint/2010/main" val="40797774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a:t>[SLIDE ANNEXE : NE PAS PRESENTER DANS LES 10 MINUTES. L'afficher seulement si le jury pose une question technique.]
QUAND L'UTILISER : questions du type "parlez-moi de l'architecture", "qu'avez-vous fait techniquement", "comment garantissez-vous la qualité des données".
REPONSE TYPE (mot a mot) :
"Volontairement, je n'ai pas mis de technique dans le reporting : la charte impose un vocabulaire non technique pour la direction. Mais bien sur, en tant que Lead Data, je pilote le socle : permettez-moi de vous montrer l'annexe.
La chaine collecte les signaux de mobilité et les centralise dans un entrepôt de données. Mon équipe garantit la qualite : contrôles automatisés de complétude et de cohérence, car sans qualite data, aucun indicateur n'est fiable. Le modele de detection d'anomalies est surveille par le MLOps, et je pilote le réglage des seuils : c'est comme ca qu'on fera passer les fausses alertes de 28 a 15 %. Cote restitution : une API de consultation, le tableau de bord interne et les exports CSV avec gestion des permissions.
Et mon role transverse : chaque KPI a sa formule documentee et son owner, le canal de feedback est structure, et l'empreinte numerique est estimee par run pour l'indicateur RSE.
Le developpement lui-meme relève des épreuves E2 et E3 : ici, mon travail est de piloter la qualité, la fiabilité et l'exploitation de ce socle."</a:t>
            </a:r>
          </a:p>
        </p:txBody>
      </p:sp>
      <p:sp>
        <p:nvSpPr>
          <p:cNvPr id="4" name="Espace réservé du numéro de diapositive 3"/>
          <p:cNvSpPr>
            <a:spLocks noGrp="1"/>
          </p:cNvSpPr>
          <p:nvPr>
            <p:ph type="sldNum" sz="quarter" idx="5"/>
          </p:nvPr>
        </p:nvSpPr>
        <p:spPr/>
        <p:txBody>
          <a:bodyPr/>
          <a:lstStyle/>
          <a:p>
            <a:fld id="{10508356-4CDE-4E03-A342-AF460C750D3C}" type="slidenum">
              <a:rPr lang="fr-FR" smtClean="0"/>
              <a:t>9</a:t>
            </a:fld>
            <a:endParaRPr lang="fr-FR"/>
          </a:p>
        </p:txBody>
      </p:sp>
    </p:spTree>
    <p:extLst>
      <p:ext uri="{BB962C8B-B14F-4D97-AF65-F5344CB8AC3E}">
        <p14:creationId xmlns:p14="http://schemas.microsoft.com/office/powerpoint/2010/main" val="14264082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9C0AAA3-CF80-211B-D82C-D86BA817722D}"/>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E9707545-F755-E71E-617B-8FD588A632C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26FE0C2D-DFAF-C28B-FA4A-DD100CD3DDDF}"/>
              </a:ext>
            </a:extLst>
          </p:cNvPr>
          <p:cNvSpPr>
            <a:spLocks noGrp="1"/>
          </p:cNvSpPr>
          <p:nvPr>
            <p:ph type="dt" sz="half" idx="10"/>
          </p:nvPr>
        </p:nvSpPr>
        <p:spPr/>
        <p:txBody>
          <a:bodyPr/>
          <a:lstStyle/>
          <a:p>
            <a:fld id="{4D3F388F-D9A6-40DF-88EF-7FB37B0C17FD}" type="datetimeFigureOut">
              <a:rPr lang="fr-FR" smtClean="0"/>
              <a:t>21/07/2026</a:t>
            </a:fld>
            <a:endParaRPr lang="fr-FR"/>
          </a:p>
        </p:txBody>
      </p:sp>
      <p:sp>
        <p:nvSpPr>
          <p:cNvPr id="5" name="Espace réservé du pied de page 4">
            <a:extLst>
              <a:ext uri="{FF2B5EF4-FFF2-40B4-BE49-F238E27FC236}">
                <a16:creationId xmlns:a16="http://schemas.microsoft.com/office/drawing/2014/main" id="{47A5BAC5-C2A7-9F0F-1550-F3CFA4BCB8F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7D6F67B3-C886-D278-E23D-9B6823AB906B}"/>
              </a:ext>
            </a:extLst>
          </p:cNvPr>
          <p:cNvSpPr>
            <a:spLocks noGrp="1"/>
          </p:cNvSpPr>
          <p:nvPr>
            <p:ph type="sldNum" sz="quarter" idx="12"/>
          </p:nvPr>
        </p:nvSpPr>
        <p:spPr/>
        <p:txBody>
          <a:bodyPr/>
          <a:lstStyle/>
          <a:p>
            <a:fld id="{0B853DBB-3E62-4AD5-99BA-61816D9E2362}" type="slidenum">
              <a:rPr lang="fr-FR" smtClean="0"/>
              <a:t>‹N°›</a:t>
            </a:fld>
            <a:endParaRPr lang="fr-FR"/>
          </a:p>
        </p:txBody>
      </p:sp>
    </p:spTree>
    <p:extLst>
      <p:ext uri="{BB962C8B-B14F-4D97-AF65-F5344CB8AC3E}">
        <p14:creationId xmlns:p14="http://schemas.microsoft.com/office/powerpoint/2010/main" val="14096903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1F3EC04-CA5A-EAC0-2D1D-2EA1F8BE5F4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34C1BDB3-CD83-0C83-B24D-036FC21C6364}"/>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E77B7AF-FA42-BF70-42B0-B53C8DD60B92}"/>
              </a:ext>
            </a:extLst>
          </p:cNvPr>
          <p:cNvSpPr>
            <a:spLocks noGrp="1"/>
          </p:cNvSpPr>
          <p:nvPr>
            <p:ph type="dt" sz="half" idx="10"/>
          </p:nvPr>
        </p:nvSpPr>
        <p:spPr/>
        <p:txBody>
          <a:bodyPr/>
          <a:lstStyle/>
          <a:p>
            <a:fld id="{4D3F388F-D9A6-40DF-88EF-7FB37B0C17FD}" type="datetimeFigureOut">
              <a:rPr lang="fr-FR" smtClean="0"/>
              <a:t>21/07/2026</a:t>
            </a:fld>
            <a:endParaRPr lang="fr-FR"/>
          </a:p>
        </p:txBody>
      </p:sp>
      <p:sp>
        <p:nvSpPr>
          <p:cNvPr id="5" name="Espace réservé du pied de page 4">
            <a:extLst>
              <a:ext uri="{FF2B5EF4-FFF2-40B4-BE49-F238E27FC236}">
                <a16:creationId xmlns:a16="http://schemas.microsoft.com/office/drawing/2014/main" id="{B8544ABC-22A3-FA53-430D-C60100C5A476}"/>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24B9D532-8442-5556-582C-B782E2A3D911}"/>
              </a:ext>
            </a:extLst>
          </p:cNvPr>
          <p:cNvSpPr>
            <a:spLocks noGrp="1"/>
          </p:cNvSpPr>
          <p:nvPr>
            <p:ph type="sldNum" sz="quarter" idx="12"/>
          </p:nvPr>
        </p:nvSpPr>
        <p:spPr/>
        <p:txBody>
          <a:bodyPr/>
          <a:lstStyle/>
          <a:p>
            <a:fld id="{0B853DBB-3E62-4AD5-99BA-61816D9E2362}" type="slidenum">
              <a:rPr lang="fr-FR" smtClean="0"/>
              <a:t>‹N°›</a:t>
            </a:fld>
            <a:endParaRPr lang="fr-FR"/>
          </a:p>
        </p:txBody>
      </p:sp>
    </p:spTree>
    <p:extLst>
      <p:ext uri="{BB962C8B-B14F-4D97-AF65-F5344CB8AC3E}">
        <p14:creationId xmlns:p14="http://schemas.microsoft.com/office/powerpoint/2010/main" val="4843763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D870B10-7E55-77AA-D741-878F978F7C79}"/>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953786E7-EAB3-C7E0-13D8-6D3DCD3A321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4F7C1864-921F-EE0D-EABE-B1C7B6EC3F47}"/>
              </a:ext>
            </a:extLst>
          </p:cNvPr>
          <p:cNvSpPr>
            <a:spLocks noGrp="1"/>
          </p:cNvSpPr>
          <p:nvPr>
            <p:ph type="dt" sz="half" idx="10"/>
          </p:nvPr>
        </p:nvSpPr>
        <p:spPr/>
        <p:txBody>
          <a:bodyPr/>
          <a:lstStyle/>
          <a:p>
            <a:fld id="{4D3F388F-D9A6-40DF-88EF-7FB37B0C17FD}" type="datetimeFigureOut">
              <a:rPr lang="fr-FR" smtClean="0"/>
              <a:t>21/07/2026</a:t>
            </a:fld>
            <a:endParaRPr lang="fr-FR"/>
          </a:p>
        </p:txBody>
      </p:sp>
      <p:sp>
        <p:nvSpPr>
          <p:cNvPr id="5" name="Espace réservé du pied de page 4">
            <a:extLst>
              <a:ext uri="{FF2B5EF4-FFF2-40B4-BE49-F238E27FC236}">
                <a16:creationId xmlns:a16="http://schemas.microsoft.com/office/drawing/2014/main" id="{083A586B-7A92-F2AC-EDCC-F3904CE509C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3D1D458-DB09-EAE4-B65B-BFFD4F2D79DD}"/>
              </a:ext>
            </a:extLst>
          </p:cNvPr>
          <p:cNvSpPr>
            <a:spLocks noGrp="1"/>
          </p:cNvSpPr>
          <p:nvPr>
            <p:ph type="sldNum" sz="quarter" idx="12"/>
          </p:nvPr>
        </p:nvSpPr>
        <p:spPr/>
        <p:txBody>
          <a:bodyPr/>
          <a:lstStyle/>
          <a:p>
            <a:fld id="{0B853DBB-3E62-4AD5-99BA-61816D9E2362}" type="slidenum">
              <a:rPr lang="fr-FR" smtClean="0"/>
              <a:t>‹N°›</a:t>
            </a:fld>
            <a:endParaRPr lang="fr-FR"/>
          </a:p>
        </p:txBody>
      </p:sp>
    </p:spTree>
    <p:extLst>
      <p:ext uri="{BB962C8B-B14F-4D97-AF65-F5344CB8AC3E}">
        <p14:creationId xmlns:p14="http://schemas.microsoft.com/office/powerpoint/2010/main" val="481749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EC75E20-8705-0A7C-6019-A97433FEE9E3}"/>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62DCF18E-E4D8-69E5-E6B9-1079DCD149F9}"/>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5772188B-CCDF-2566-D794-53EB16744747}"/>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E24EBA52-8DC2-2157-3308-A71B59A70C61}"/>
              </a:ext>
            </a:extLst>
          </p:cNvPr>
          <p:cNvSpPr>
            <a:spLocks noGrp="1"/>
          </p:cNvSpPr>
          <p:nvPr>
            <p:ph type="dt" sz="half" idx="10"/>
          </p:nvPr>
        </p:nvSpPr>
        <p:spPr/>
        <p:txBody>
          <a:bodyPr/>
          <a:lstStyle/>
          <a:p>
            <a:fld id="{4D3F388F-D9A6-40DF-88EF-7FB37B0C17FD}" type="datetimeFigureOut">
              <a:rPr lang="fr-FR" smtClean="0"/>
              <a:t>21/07/2026</a:t>
            </a:fld>
            <a:endParaRPr lang="fr-FR"/>
          </a:p>
        </p:txBody>
      </p:sp>
      <p:sp>
        <p:nvSpPr>
          <p:cNvPr id="6" name="Espace réservé du pied de page 5">
            <a:extLst>
              <a:ext uri="{FF2B5EF4-FFF2-40B4-BE49-F238E27FC236}">
                <a16:creationId xmlns:a16="http://schemas.microsoft.com/office/drawing/2014/main" id="{F4F8164F-759A-9B7C-0FA7-3340A5FFC18D}"/>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4CB7F148-949D-763E-B1A2-61A4741580A3}"/>
              </a:ext>
            </a:extLst>
          </p:cNvPr>
          <p:cNvSpPr>
            <a:spLocks noGrp="1"/>
          </p:cNvSpPr>
          <p:nvPr>
            <p:ph type="sldNum" sz="quarter" idx="12"/>
          </p:nvPr>
        </p:nvSpPr>
        <p:spPr/>
        <p:txBody>
          <a:bodyPr/>
          <a:lstStyle/>
          <a:p>
            <a:fld id="{0B853DBB-3E62-4AD5-99BA-61816D9E2362}" type="slidenum">
              <a:rPr lang="fr-FR" smtClean="0"/>
              <a:t>‹N°›</a:t>
            </a:fld>
            <a:endParaRPr lang="fr-FR"/>
          </a:p>
        </p:txBody>
      </p:sp>
    </p:spTree>
    <p:extLst>
      <p:ext uri="{BB962C8B-B14F-4D97-AF65-F5344CB8AC3E}">
        <p14:creationId xmlns:p14="http://schemas.microsoft.com/office/powerpoint/2010/main" val="1712782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B0C60AD-2AC9-D73B-9CB5-D5B99D7F7E50}"/>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277164B9-27CA-43C4-4D3D-3D59B99259E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A1B24E38-B1CC-5F13-EF3E-B7BE9C4FF0A0}"/>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67A8792C-1FF9-96D1-A29C-2188CB80274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8C31D688-2ADE-8D9E-3AF1-260EC3DB1C35}"/>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34A4929-F4A3-57E8-93D5-A28443C81862}"/>
              </a:ext>
            </a:extLst>
          </p:cNvPr>
          <p:cNvSpPr>
            <a:spLocks noGrp="1"/>
          </p:cNvSpPr>
          <p:nvPr>
            <p:ph type="dt" sz="half" idx="10"/>
          </p:nvPr>
        </p:nvSpPr>
        <p:spPr/>
        <p:txBody>
          <a:bodyPr/>
          <a:lstStyle/>
          <a:p>
            <a:fld id="{4D3F388F-D9A6-40DF-88EF-7FB37B0C17FD}" type="datetimeFigureOut">
              <a:rPr lang="fr-FR" smtClean="0"/>
              <a:t>21/07/2026</a:t>
            </a:fld>
            <a:endParaRPr lang="fr-FR"/>
          </a:p>
        </p:txBody>
      </p:sp>
      <p:sp>
        <p:nvSpPr>
          <p:cNvPr id="8" name="Espace réservé du pied de page 7">
            <a:extLst>
              <a:ext uri="{FF2B5EF4-FFF2-40B4-BE49-F238E27FC236}">
                <a16:creationId xmlns:a16="http://schemas.microsoft.com/office/drawing/2014/main" id="{5983C90E-337B-E954-2188-430E0B63A28E}"/>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2EC073E9-074B-2F06-8068-88B1670197A3}"/>
              </a:ext>
            </a:extLst>
          </p:cNvPr>
          <p:cNvSpPr>
            <a:spLocks noGrp="1"/>
          </p:cNvSpPr>
          <p:nvPr>
            <p:ph type="sldNum" sz="quarter" idx="12"/>
          </p:nvPr>
        </p:nvSpPr>
        <p:spPr/>
        <p:txBody>
          <a:bodyPr/>
          <a:lstStyle/>
          <a:p>
            <a:fld id="{0B853DBB-3E62-4AD5-99BA-61816D9E2362}" type="slidenum">
              <a:rPr lang="fr-FR" smtClean="0"/>
              <a:t>‹N°›</a:t>
            </a:fld>
            <a:endParaRPr lang="fr-FR"/>
          </a:p>
        </p:txBody>
      </p:sp>
    </p:spTree>
    <p:extLst>
      <p:ext uri="{BB962C8B-B14F-4D97-AF65-F5344CB8AC3E}">
        <p14:creationId xmlns:p14="http://schemas.microsoft.com/office/powerpoint/2010/main" val="39907551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282B4C9-F03D-E416-D757-0FFC5521ADC0}"/>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A8902A9A-86C9-6C03-AE92-09A2123306CB}"/>
              </a:ext>
            </a:extLst>
          </p:cNvPr>
          <p:cNvSpPr>
            <a:spLocks noGrp="1"/>
          </p:cNvSpPr>
          <p:nvPr>
            <p:ph type="dt" sz="half" idx="10"/>
          </p:nvPr>
        </p:nvSpPr>
        <p:spPr/>
        <p:txBody>
          <a:bodyPr/>
          <a:lstStyle/>
          <a:p>
            <a:fld id="{4D3F388F-D9A6-40DF-88EF-7FB37B0C17FD}" type="datetimeFigureOut">
              <a:rPr lang="fr-FR" smtClean="0"/>
              <a:t>21/07/2026</a:t>
            </a:fld>
            <a:endParaRPr lang="fr-FR"/>
          </a:p>
        </p:txBody>
      </p:sp>
      <p:sp>
        <p:nvSpPr>
          <p:cNvPr id="4" name="Espace réservé du pied de page 3">
            <a:extLst>
              <a:ext uri="{FF2B5EF4-FFF2-40B4-BE49-F238E27FC236}">
                <a16:creationId xmlns:a16="http://schemas.microsoft.com/office/drawing/2014/main" id="{787DCB8C-9490-8812-67A2-E36D33B01CBA}"/>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EF60260F-484D-071A-F186-C961B20628CF}"/>
              </a:ext>
            </a:extLst>
          </p:cNvPr>
          <p:cNvSpPr>
            <a:spLocks noGrp="1"/>
          </p:cNvSpPr>
          <p:nvPr>
            <p:ph type="sldNum" sz="quarter" idx="12"/>
          </p:nvPr>
        </p:nvSpPr>
        <p:spPr/>
        <p:txBody>
          <a:bodyPr/>
          <a:lstStyle/>
          <a:p>
            <a:fld id="{0B853DBB-3E62-4AD5-99BA-61816D9E2362}" type="slidenum">
              <a:rPr lang="fr-FR" smtClean="0"/>
              <a:t>‹N°›</a:t>
            </a:fld>
            <a:endParaRPr lang="fr-FR"/>
          </a:p>
        </p:txBody>
      </p:sp>
    </p:spTree>
    <p:extLst>
      <p:ext uri="{BB962C8B-B14F-4D97-AF65-F5344CB8AC3E}">
        <p14:creationId xmlns:p14="http://schemas.microsoft.com/office/powerpoint/2010/main" val="37047804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18752CA9-A290-9966-71EC-14BA619EAF74}"/>
              </a:ext>
            </a:extLst>
          </p:cNvPr>
          <p:cNvSpPr>
            <a:spLocks noGrp="1"/>
          </p:cNvSpPr>
          <p:nvPr>
            <p:ph type="dt" sz="half" idx="10"/>
          </p:nvPr>
        </p:nvSpPr>
        <p:spPr/>
        <p:txBody>
          <a:bodyPr/>
          <a:lstStyle/>
          <a:p>
            <a:fld id="{4D3F388F-D9A6-40DF-88EF-7FB37B0C17FD}" type="datetimeFigureOut">
              <a:rPr lang="fr-FR" smtClean="0"/>
              <a:t>21/07/2026</a:t>
            </a:fld>
            <a:endParaRPr lang="fr-FR"/>
          </a:p>
        </p:txBody>
      </p:sp>
      <p:sp>
        <p:nvSpPr>
          <p:cNvPr id="3" name="Espace réservé du pied de page 2">
            <a:extLst>
              <a:ext uri="{FF2B5EF4-FFF2-40B4-BE49-F238E27FC236}">
                <a16:creationId xmlns:a16="http://schemas.microsoft.com/office/drawing/2014/main" id="{E28F249B-2F94-B3B7-FA57-BBD4DC4977F9}"/>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1B7FEA7A-F93E-7DBA-AA85-83386CFCFEA0}"/>
              </a:ext>
            </a:extLst>
          </p:cNvPr>
          <p:cNvSpPr>
            <a:spLocks noGrp="1"/>
          </p:cNvSpPr>
          <p:nvPr>
            <p:ph type="sldNum" sz="quarter" idx="12"/>
          </p:nvPr>
        </p:nvSpPr>
        <p:spPr/>
        <p:txBody>
          <a:bodyPr/>
          <a:lstStyle/>
          <a:p>
            <a:fld id="{0B853DBB-3E62-4AD5-99BA-61816D9E2362}" type="slidenum">
              <a:rPr lang="fr-FR" smtClean="0"/>
              <a:t>‹N°›</a:t>
            </a:fld>
            <a:endParaRPr lang="fr-FR"/>
          </a:p>
        </p:txBody>
      </p:sp>
    </p:spTree>
    <p:extLst>
      <p:ext uri="{BB962C8B-B14F-4D97-AF65-F5344CB8AC3E}">
        <p14:creationId xmlns:p14="http://schemas.microsoft.com/office/powerpoint/2010/main" val="9160290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23D2C13-157B-FF43-E898-2E087037D5CB}"/>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4A18A69A-C781-0FDD-3480-26AAB543C9C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ECAD8A14-C2FE-D9EE-18D8-4D878A2189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29FF838B-A095-6DC0-FD3E-A237F1231A49}"/>
              </a:ext>
            </a:extLst>
          </p:cNvPr>
          <p:cNvSpPr>
            <a:spLocks noGrp="1"/>
          </p:cNvSpPr>
          <p:nvPr>
            <p:ph type="dt" sz="half" idx="10"/>
          </p:nvPr>
        </p:nvSpPr>
        <p:spPr/>
        <p:txBody>
          <a:bodyPr/>
          <a:lstStyle/>
          <a:p>
            <a:fld id="{4D3F388F-D9A6-40DF-88EF-7FB37B0C17FD}" type="datetimeFigureOut">
              <a:rPr lang="fr-FR" smtClean="0"/>
              <a:t>21/07/2026</a:t>
            </a:fld>
            <a:endParaRPr lang="fr-FR"/>
          </a:p>
        </p:txBody>
      </p:sp>
      <p:sp>
        <p:nvSpPr>
          <p:cNvPr id="6" name="Espace réservé du pied de page 5">
            <a:extLst>
              <a:ext uri="{FF2B5EF4-FFF2-40B4-BE49-F238E27FC236}">
                <a16:creationId xmlns:a16="http://schemas.microsoft.com/office/drawing/2014/main" id="{D74C2721-5FF1-6650-370B-16019A75C10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048AC95B-D76F-5D1C-6E16-BE5E81688765}"/>
              </a:ext>
            </a:extLst>
          </p:cNvPr>
          <p:cNvSpPr>
            <a:spLocks noGrp="1"/>
          </p:cNvSpPr>
          <p:nvPr>
            <p:ph type="sldNum" sz="quarter" idx="12"/>
          </p:nvPr>
        </p:nvSpPr>
        <p:spPr/>
        <p:txBody>
          <a:bodyPr/>
          <a:lstStyle/>
          <a:p>
            <a:fld id="{0B853DBB-3E62-4AD5-99BA-61816D9E2362}" type="slidenum">
              <a:rPr lang="fr-FR" smtClean="0"/>
              <a:t>‹N°›</a:t>
            </a:fld>
            <a:endParaRPr lang="fr-FR"/>
          </a:p>
        </p:txBody>
      </p:sp>
    </p:spTree>
    <p:extLst>
      <p:ext uri="{BB962C8B-B14F-4D97-AF65-F5344CB8AC3E}">
        <p14:creationId xmlns:p14="http://schemas.microsoft.com/office/powerpoint/2010/main" val="1624554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EEF9BDA-E121-CE65-3AC2-81296D59E37C}"/>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B0068F28-CFE3-0A5F-9C92-745E45EAC3F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81576F78-A9BF-7482-D9BB-6BBBA9C5E6F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2EC0B11B-8D5F-ACEB-AE63-422DB70F8472}"/>
              </a:ext>
            </a:extLst>
          </p:cNvPr>
          <p:cNvSpPr>
            <a:spLocks noGrp="1"/>
          </p:cNvSpPr>
          <p:nvPr>
            <p:ph type="dt" sz="half" idx="10"/>
          </p:nvPr>
        </p:nvSpPr>
        <p:spPr/>
        <p:txBody>
          <a:bodyPr/>
          <a:lstStyle/>
          <a:p>
            <a:fld id="{4D3F388F-D9A6-40DF-88EF-7FB37B0C17FD}" type="datetimeFigureOut">
              <a:rPr lang="fr-FR" smtClean="0"/>
              <a:t>21/07/2026</a:t>
            </a:fld>
            <a:endParaRPr lang="fr-FR"/>
          </a:p>
        </p:txBody>
      </p:sp>
      <p:sp>
        <p:nvSpPr>
          <p:cNvPr id="6" name="Espace réservé du pied de page 5">
            <a:extLst>
              <a:ext uri="{FF2B5EF4-FFF2-40B4-BE49-F238E27FC236}">
                <a16:creationId xmlns:a16="http://schemas.microsoft.com/office/drawing/2014/main" id="{6E92F65B-AF2C-CD32-97D9-107EF0BE36D8}"/>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5AF5A4D0-5B75-D202-F1CD-4927498B28F8}"/>
              </a:ext>
            </a:extLst>
          </p:cNvPr>
          <p:cNvSpPr>
            <a:spLocks noGrp="1"/>
          </p:cNvSpPr>
          <p:nvPr>
            <p:ph type="sldNum" sz="quarter" idx="12"/>
          </p:nvPr>
        </p:nvSpPr>
        <p:spPr/>
        <p:txBody>
          <a:bodyPr/>
          <a:lstStyle/>
          <a:p>
            <a:fld id="{0B853DBB-3E62-4AD5-99BA-61816D9E2362}" type="slidenum">
              <a:rPr lang="fr-FR" smtClean="0"/>
              <a:t>‹N°›</a:t>
            </a:fld>
            <a:endParaRPr lang="fr-FR"/>
          </a:p>
        </p:txBody>
      </p:sp>
    </p:spTree>
    <p:extLst>
      <p:ext uri="{BB962C8B-B14F-4D97-AF65-F5344CB8AC3E}">
        <p14:creationId xmlns:p14="http://schemas.microsoft.com/office/powerpoint/2010/main" val="14769018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1650F4C-23FA-91D0-854C-46A1F1486A74}"/>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5F251622-20C6-7AF0-4E07-B2BED62166F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ABE2733-4708-018E-C6F5-FA329195422F}"/>
              </a:ext>
            </a:extLst>
          </p:cNvPr>
          <p:cNvSpPr>
            <a:spLocks noGrp="1"/>
          </p:cNvSpPr>
          <p:nvPr>
            <p:ph type="dt" sz="half" idx="10"/>
          </p:nvPr>
        </p:nvSpPr>
        <p:spPr/>
        <p:txBody>
          <a:bodyPr/>
          <a:lstStyle/>
          <a:p>
            <a:fld id="{4D3F388F-D9A6-40DF-88EF-7FB37B0C17FD}" type="datetimeFigureOut">
              <a:rPr lang="fr-FR" smtClean="0"/>
              <a:t>21/07/2026</a:t>
            </a:fld>
            <a:endParaRPr lang="fr-FR"/>
          </a:p>
        </p:txBody>
      </p:sp>
      <p:sp>
        <p:nvSpPr>
          <p:cNvPr id="5" name="Espace réservé du pied de page 4">
            <a:extLst>
              <a:ext uri="{FF2B5EF4-FFF2-40B4-BE49-F238E27FC236}">
                <a16:creationId xmlns:a16="http://schemas.microsoft.com/office/drawing/2014/main" id="{5E63FDAD-06FF-9183-834B-EE0824F588B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E385777-E5CD-2825-BFF3-B8E6942E32A7}"/>
              </a:ext>
            </a:extLst>
          </p:cNvPr>
          <p:cNvSpPr>
            <a:spLocks noGrp="1"/>
          </p:cNvSpPr>
          <p:nvPr>
            <p:ph type="sldNum" sz="quarter" idx="12"/>
          </p:nvPr>
        </p:nvSpPr>
        <p:spPr/>
        <p:txBody>
          <a:bodyPr/>
          <a:lstStyle/>
          <a:p>
            <a:fld id="{0B853DBB-3E62-4AD5-99BA-61816D9E2362}" type="slidenum">
              <a:rPr lang="fr-FR" smtClean="0"/>
              <a:t>‹N°›</a:t>
            </a:fld>
            <a:endParaRPr lang="fr-FR"/>
          </a:p>
        </p:txBody>
      </p:sp>
    </p:spTree>
    <p:extLst>
      <p:ext uri="{BB962C8B-B14F-4D97-AF65-F5344CB8AC3E}">
        <p14:creationId xmlns:p14="http://schemas.microsoft.com/office/powerpoint/2010/main" val="24786527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A4452C2F-4E5E-0177-8C29-867129B8B303}"/>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A9D9B8C8-4698-00AD-AFA5-233B0F5CDF12}"/>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2D7676B6-6F64-1C7D-CBE9-874A3D36A784}"/>
              </a:ext>
            </a:extLst>
          </p:cNvPr>
          <p:cNvSpPr>
            <a:spLocks noGrp="1"/>
          </p:cNvSpPr>
          <p:nvPr>
            <p:ph type="dt" sz="half" idx="10"/>
          </p:nvPr>
        </p:nvSpPr>
        <p:spPr/>
        <p:txBody>
          <a:bodyPr/>
          <a:lstStyle/>
          <a:p>
            <a:fld id="{4D3F388F-D9A6-40DF-88EF-7FB37B0C17FD}" type="datetimeFigureOut">
              <a:rPr lang="fr-FR" smtClean="0"/>
              <a:t>21/07/2026</a:t>
            </a:fld>
            <a:endParaRPr lang="fr-FR"/>
          </a:p>
        </p:txBody>
      </p:sp>
      <p:sp>
        <p:nvSpPr>
          <p:cNvPr id="5" name="Espace réservé du pied de page 4">
            <a:extLst>
              <a:ext uri="{FF2B5EF4-FFF2-40B4-BE49-F238E27FC236}">
                <a16:creationId xmlns:a16="http://schemas.microsoft.com/office/drawing/2014/main" id="{CFE02649-FBED-881E-FFE6-89AFB02FBDC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FB9BE71-4D1C-E97D-28A1-DA56AE1065A1}"/>
              </a:ext>
            </a:extLst>
          </p:cNvPr>
          <p:cNvSpPr>
            <a:spLocks noGrp="1"/>
          </p:cNvSpPr>
          <p:nvPr>
            <p:ph type="sldNum" sz="quarter" idx="12"/>
          </p:nvPr>
        </p:nvSpPr>
        <p:spPr/>
        <p:txBody>
          <a:bodyPr/>
          <a:lstStyle/>
          <a:p>
            <a:fld id="{0B853DBB-3E62-4AD5-99BA-61816D9E2362}" type="slidenum">
              <a:rPr lang="fr-FR" smtClean="0"/>
              <a:t>‹N°›</a:t>
            </a:fld>
            <a:endParaRPr lang="fr-FR"/>
          </a:p>
        </p:txBody>
      </p:sp>
    </p:spTree>
    <p:extLst>
      <p:ext uri="{BB962C8B-B14F-4D97-AF65-F5344CB8AC3E}">
        <p14:creationId xmlns:p14="http://schemas.microsoft.com/office/powerpoint/2010/main" val="18875965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3D0517EC-BE4C-E369-440B-3A4E068230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033F506D-58C7-0B8C-A319-C5C31FD6F80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709E06B-7DC9-7795-1DEB-516176F3CF5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D3F388F-D9A6-40DF-88EF-7FB37B0C17FD}" type="datetimeFigureOut">
              <a:rPr lang="fr-FR" smtClean="0"/>
              <a:t>21/07/2026</a:t>
            </a:fld>
            <a:endParaRPr lang="fr-FR"/>
          </a:p>
        </p:txBody>
      </p:sp>
      <p:sp>
        <p:nvSpPr>
          <p:cNvPr id="5" name="Espace réservé du pied de page 4">
            <a:extLst>
              <a:ext uri="{FF2B5EF4-FFF2-40B4-BE49-F238E27FC236}">
                <a16:creationId xmlns:a16="http://schemas.microsoft.com/office/drawing/2014/main" id="{2336AF79-7A08-93C5-06FA-FD9DF2BD0A3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079FEFA-9DFA-B362-D5D4-A6E9E197A72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B853DBB-3E62-4AD5-99BA-61816D9E2362}" type="slidenum">
              <a:rPr lang="fr-FR" smtClean="0"/>
              <a:t>‹N°›</a:t>
            </a:fld>
            <a:endParaRPr lang="fr-FR"/>
          </a:p>
        </p:txBody>
      </p:sp>
    </p:spTree>
    <p:extLst>
      <p:ext uri="{BB962C8B-B14F-4D97-AF65-F5344CB8AC3E}">
        <p14:creationId xmlns:p14="http://schemas.microsoft.com/office/powerpoint/2010/main" val="28315108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D8D7BEE2-AD99-749C-5D86-BE480518EF8E}"/>
              </a:ext>
            </a:extLst>
          </p:cNvPr>
          <p:cNvSpPr txBox="1"/>
          <p:nvPr/>
        </p:nvSpPr>
        <p:spPr>
          <a:xfrm>
            <a:off x="457200" y="381000"/>
            <a:ext cx="6350000" cy="276999"/>
          </a:xfrm>
          <a:prstGeom prst="rect">
            <a:avLst/>
          </a:prstGeom>
          <a:noFill/>
        </p:spPr>
        <p:txBody>
          <a:bodyPr vert="horz" wrap="square" rtlCol="0">
            <a:spAutoFit/>
          </a:bodyPr>
          <a:lstStyle/>
          <a:p>
            <a:r>
              <a:rPr lang="fr-FR" sz="1200" b="1">
                <a:solidFill>
                  <a:srgbClr val="6E7680"/>
                </a:solidFill>
                <a:latin typeface="Calibri" panose="020F0502020204030204" pitchFamily="34" charset="0"/>
              </a:rPr>
              <a:t>REPORTING AU COMITÉ DE DIRECTION</a:t>
            </a:r>
          </a:p>
        </p:txBody>
      </p:sp>
      <p:sp>
        <p:nvSpPr>
          <p:cNvPr id="3" name="ZoneTexte 2">
            <a:extLst>
              <a:ext uri="{FF2B5EF4-FFF2-40B4-BE49-F238E27FC236}">
                <a16:creationId xmlns:a16="http://schemas.microsoft.com/office/drawing/2014/main" id="{E1B40067-A238-EF19-82B2-98BE3BBB4117}"/>
              </a:ext>
            </a:extLst>
          </p:cNvPr>
          <p:cNvSpPr txBox="1"/>
          <p:nvPr/>
        </p:nvSpPr>
        <p:spPr>
          <a:xfrm>
            <a:off x="457200" y="711200"/>
            <a:ext cx="11277600" cy="553998"/>
          </a:xfrm>
          <a:prstGeom prst="rect">
            <a:avLst/>
          </a:prstGeom>
          <a:noFill/>
        </p:spPr>
        <p:txBody>
          <a:bodyPr vert="horz" wrap="square" rtlCol="0">
            <a:spAutoFit/>
          </a:bodyPr>
          <a:lstStyle/>
          <a:p>
            <a:r>
              <a:rPr lang="fr-FR" sz="3000" b="1">
                <a:solidFill>
                  <a:srgbClr val="1A5276"/>
                </a:solidFill>
                <a:latin typeface="Calibri" panose="020F0502020204030204" pitchFamily="34" charset="0"/>
              </a:rPr>
              <a:t>MobilityPulse : sécuriser le déploiement en 12 semaines</a:t>
            </a:r>
          </a:p>
        </p:txBody>
      </p:sp>
      <p:sp>
        <p:nvSpPr>
          <p:cNvPr id="4" name="ZoneTexte 3">
            <a:extLst>
              <a:ext uri="{FF2B5EF4-FFF2-40B4-BE49-F238E27FC236}">
                <a16:creationId xmlns:a16="http://schemas.microsoft.com/office/drawing/2014/main" id="{8D2A5B2C-3D36-051D-89FC-475522B75528}"/>
              </a:ext>
            </a:extLst>
          </p:cNvPr>
          <p:cNvSpPr txBox="1"/>
          <p:nvPr/>
        </p:nvSpPr>
        <p:spPr>
          <a:xfrm>
            <a:off x="457200" y="1371600"/>
            <a:ext cx="11277600" cy="307777"/>
          </a:xfrm>
          <a:prstGeom prst="rect">
            <a:avLst/>
          </a:prstGeom>
          <a:noFill/>
        </p:spPr>
        <p:txBody>
          <a:bodyPr vert="horz" wrap="square" rtlCol="0">
            <a:spAutoFit/>
          </a:bodyPr>
          <a:lstStyle/>
          <a:p>
            <a:r>
              <a:rPr lang="fr-FR" sz="1400">
                <a:solidFill>
                  <a:srgbClr val="212121"/>
                </a:solidFill>
                <a:latin typeface="Calibri" panose="020F0502020204030204" pitchFamily="34" charset="0"/>
              </a:rPr>
              <a:t>Ouassim Megrad  ·  Lead Data  ·  équipe Megslab  ·  21/07/2026</a:t>
            </a:r>
          </a:p>
        </p:txBody>
      </p:sp>
      <p:sp>
        <p:nvSpPr>
          <p:cNvPr id="5" name="Rectangle : coins arrondis 4">
            <a:extLst>
              <a:ext uri="{FF2B5EF4-FFF2-40B4-BE49-F238E27FC236}">
                <a16:creationId xmlns:a16="http://schemas.microsoft.com/office/drawing/2014/main" id="{07093DCA-73E6-E714-40C4-B0EAA4ECE4BB}"/>
              </a:ext>
            </a:extLst>
          </p:cNvPr>
          <p:cNvSpPr/>
          <p:nvPr/>
        </p:nvSpPr>
        <p:spPr>
          <a:xfrm>
            <a:off x="457200" y="1803400"/>
            <a:ext cx="7874000" cy="431800"/>
          </a:xfrm>
          <a:prstGeom prst="roundRect">
            <a:avLst/>
          </a:prstGeom>
          <a:solidFill>
            <a:srgbClr val="1E844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a:solidFill>
                  <a:srgbClr val="FFFFFF"/>
                </a:solidFill>
              </a:rPr>
              <a:t>STATUT GLOBAL : VERT  ·  prêt à lancer  ·  aucun obstacle bloquant</a:t>
            </a:r>
          </a:p>
        </p:txBody>
      </p:sp>
      <p:sp>
        <p:nvSpPr>
          <p:cNvPr id="6" name="ZoneTexte 5">
            <a:extLst>
              <a:ext uri="{FF2B5EF4-FFF2-40B4-BE49-F238E27FC236}">
                <a16:creationId xmlns:a16="http://schemas.microsoft.com/office/drawing/2014/main" id="{B8B72F18-7E3C-B3AE-97B4-26AE52E7C8EA}"/>
              </a:ext>
            </a:extLst>
          </p:cNvPr>
          <p:cNvSpPr txBox="1"/>
          <p:nvPr/>
        </p:nvSpPr>
        <p:spPr>
          <a:xfrm>
            <a:off x="457200" y="2438400"/>
            <a:ext cx="11277600" cy="523220"/>
          </a:xfrm>
          <a:prstGeom prst="rect">
            <a:avLst/>
          </a:prstGeom>
          <a:noFill/>
        </p:spPr>
        <p:txBody>
          <a:bodyPr vert="horz" wrap="square" rtlCol="0">
            <a:spAutoFit/>
          </a:bodyPr>
          <a:lstStyle/>
          <a:p>
            <a:r>
              <a:rPr lang="fr-FR" sz="1400">
                <a:solidFill>
                  <a:srgbClr val="212121"/>
                </a:solidFill>
                <a:latin typeface="Calibri" panose="020F0502020204030204" pitchFamily="34" charset="0"/>
              </a:rPr>
              <a:t>La solution existe déjà en prototype : elle collecte les signaux de mobilité, détecte les anomalies et affiche des indicateurs. Ma mission n'est pas de la développer, mais d'organiser son adoption en 12 semaines.</a:t>
            </a:r>
          </a:p>
        </p:txBody>
      </p:sp>
      <p:sp>
        <p:nvSpPr>
          <p:cNvPr id="7" name="Rectangle : coins arrondis 6">
            <a:extLst>
              <a:ext uri="{FF2B5EF4-FFF2-40B4-BE49-F238E27FC236}">
                <a16:creationId xmlns:a16="http://schemas.microsoft.com/office/drawing/2014/main" id="{599024E4-64CD-7A9B-9D9C-B150207A8C6F}"/>
              </a:ext>
            </a:extLst>
          </p:cNvPr>
          <p:cNvSpPr/>
          <p:nvPr/>
        </p:nvSpPr>
        <p:spPr>
          <a:xfrm>
            <a:off x="457200" y="3327400"/>
            <a:ext cx="3556000" cy="2667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7C0172FA-9BE8-B664-2304-5D05C713B497}"/>
              </a:ext>
            </a:extLst>
          </p:cNvPr>
          <p:cNvSpPr txBox="1"/>
          <p:nvPr/>
        </p:nvSpPr>
        <p:spPr>
          <a:xfrm>
            <a:off x="635000" y="3454400"/>
            <a:ext cx="3200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1 · Organisation</a:t>
            </a:r>
          </a:p>
        </p:txBody>
      </p:sp>
      <p:sp>
        <p:nvSpPr>
          <p:cNvPr id="9" name="ZoneTexte 8">
            <a:extLst>
              <a:ext uri="{FF2B5EF4-FFF2-40B4-BE49-F238E27FC236}">
                <a16:creationId xmlns:a16="http://schemas.microsoft.com/office/drawing/2014/main" id="{E19F093F-C149-DAD1-C96A-76F34D53E9FB}"/>
              </a:ext>
            </a:extLst>
          </p:cNvPr>
          <p:cNvSpPr txBox="1"/>
          <p:nvPr/>
        </p:nvSpPr>
        <p:spPr>
          <a:xfrm>
            <a:off x="635000" y="3784600"/>
            <a:ext cx="3200400" cy="830997"/>
          </a:xfrm>
          <a:prstGeom prst="rect">
            <a:avLst/>
          </a:prstGeom>
          <a:noFill/>
        </p:spPr>
        <p:txBody>
          <a:bodyPr vert="horz" wrap="square" rtlCol="0">
            <a:spAutoFit/>
          </a:bodyPr>
          <a:lstStyle/>
          <a:p>
            <a:r>
              <a:rPr lang="fr-FR" sz="1200">
                <a:solidFill>
                  <a:srgbClr val="212121"/>
                </a:solidFill>
                <a:latin typeface="Calibri" panose="020F0502020204030204" pitchFamily="34" charset="0"/>
              </a:rPr>
              <a:t>Constat de la direction : personne ne sait organiser le passage à l'échelle. Ma réponse : un plan projet en 12 semaines, 4 phases et 5 jalons, calé sur les dépendances réelles du backlog.</a:t>
            </a:r>
          </a:p>
        </p:txBody>
      </p:sp>
      <p:sp>
        <p:nvSpPr>
          <p:cNvPr id="10" name="Rectangle : coins arrondis 9">
            <a:extLst>
              <a:ext uri="{FF2B5EF4-FFF2-40B4-BE49-F238E27FC236}">
                <a16:creationId xmlns:a16="http://schemas.microsoft.com/office/drawing/2014/main" id="{2BD6EB49-FE65-F00A-40E5-FA2F9BE2E919}"/>
              </a:ext>
            </a:extLst>
          </p:cNvPr>
          <p:cNvSpPr/>
          <p:nvPr/>
        </p:nvSpPr>
        <p:spPr>
          <a:xfrm>
            <a:off x="4318000" y="3327400"/>
            <a:ext cx="3556000" cy="2667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C90FFBD3-D366-C89D-FFA0-1951C3CDBF27}"/>
              </a:ext>
            </a:extLst>
          </p:cNvPr>
          <p:cNvSpPr txBox="1"/>
          <p:nvPr/>
        </p:nvSpPr>
        <p:spPr>
          <a:xfrm>
            <a:off x="4495800" y="3454400"/>
            <a:ext cx="3200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2 · Gouvernance</a:t>
            </a:r>
          </a:p>
        </p:txBody>
      </p:sp>
      <p:sp>
        <p:nvSpPr>
          <p:cNvPr id="12" name="ZoneTexte 11">
            <a:extLst>
              <a:ext uri="{FF2B5EF4-FFF2-40B4-BE49-F238E27FC236}">
                <a16:creationId xmlns:a16="http://schemas.microsoft.com/office/drawing/2014/main" id="{6386FE49-11AB-4931-7653-2A4281CD7D37}"/>
              </a:ext>
            </a:extLst>
          </p:cNvPr>
          <p:cNvSpPr txBox="1"/>
          <p:nvPr/>
        </p:nvSpPr>
        <p:spPr>
          <a:xfrm>
            <a:off x="4495800" y="3784600"/>
            <a:ext cx="3200400" cy="830997"/>
          </a:xfrm>
          <a:prstGeom prst="rect">
            <a:avLst/>
          </a:prstGeom>
          <a:noFill/>
        </p:spPr>
        <p:txBody>
          <a:bodyPr vert="horz" wrap="square" rtlCol="0">
            <a:spAutoFit/>
          </a:bodyPr>
          <a:lstStyle/>
          <a:p>
            <a:r>
              <a:rPr lang="fr-FR" sz="1200">
                <a:solidFill>
                  <a:srgbClr val="212121"/>
                </a:solidFill>
                <a:latin typeface="Calibri" panose="020F0502020204030204" pitchFamily="34" charset="0"/>
              </a:rPr>
              <a:t>Constat : les rôles entre data, IT, métier et exploitation ne sont pas formalisés. Ma réponse : une matrice RACI avec un seul responsable par activité, et un comité d'arbitrage hebdomadaire.</a:t>
            </a:r>
          </a:p>
        </p:txBody>
      </p:sp>
      <p:sp>
        <p:nvSpPr>
          <p:cNvPr id="13" name="Rectangle : coins arrondis 12">
            <a:extLst>
              <a:ext uri="{FF2B5EF4-FFF2-40B4-BE49-F238E27FC236}">
                <a16:creationId xmlns:a16="http://schemas.microsoft.com/office/drawing/2014/main" id="{0556A217-A5FF-A78F-AC5A-C6F18FA80A4E}"/>
              </a:ext>
            </a:extLst>
          </p:cNvPr>
          <p:cNvSpPr/>
          <p:nvPr/>
        </p:nvSpPr>
        <p:spPr>
          <a:xfrm>
            <a:off x="8178800" y="3327400"/>
            <a:ext cx="3556000" cy="2667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6749FA65-5500-E1BA-5D8A-8C3353F91BA8}"/>
              </a:ext>
            </a:extLst>
          </p:cNvPr>
          <p:cNvSpPr txBox="1"/>
          <p:nvPr/>
        </p:nvSpPr>
        <p:spPr>
          <a:xfrm>
            <a:off x="8356600" y="3454400"/>
            <a:ext cx="3200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3 · Accompagnement</a:t>
            </a:r>
          </a:p>
        </p:txBody>
      </p:sp>
      <p:sp>
        <p:nvSpPr>
          <p:cNvPr id="15" name="ZoneTexte 14">
            <a:extLst>
              <a:ext uri="{FF2B5EF4-FFF2-40B4-BE49-F238E27FC236}">
                <a16:creationId xmlns:a16="http://schemas.microsoft.com/office/drawing/2014/main" id="{B4863CD6-CFF3-8A12-A8CE-EA7853BBB95E}"/>
              </a:ext>
            </a:extLst>
          </p:cNvPr>
          <p:cNvSpPr txBox="1"/>
          <p:nvPr/>
        </p:nvSpPr>
        <p:spPr>
          <a:xfrm>
            <a:off x="8356600" y="3784600"/>
            <a:ext cx="3200400" cy="830997"/>
          </a:xfrm>
          <a:prstGeom prst="rect">
            <a:avLst/>
          </a:prstGeom>
          <a:noFill/>
        </p:spPr>
        <p:txBody>
          <a:bodyPr vert="horz" wrap="square" rtlCol="0">
            <a:spAutoFit/>
          </a:bodyPr>
          <a:lstStyle/>
          <a:p>
            <a:r>
              <a:rPr lang="fr-FR" sz="1200">
                <a:solidFill>
                  <a:srgbClr val="212121"/>
                </a:solidFill>
                <a:latin typeface="Calibri" panose="020F0502020204030204" pitchFamily="34" charset="0"/>
              </a:rPr>
              <a:t>Constat : les utilisateurs demandent formation, lisibilité et support. Ma réponse : un parcours court et accessible, adapté à chacun des 4 profils, et un support pérenne en 2 niveaux.</a:t>
            </a:r>
          </a:p>
        </p:txBody>
      </p:sp>
      <p:sp>
        <p:nvSpPr>
          <p:cNvPr id="16" name="ZoneTexte 15">
            <a:extLst>
              <a:ext uri="{FF2B5EF4-FFF2-40B4-BE49-F238E27FC236}">
                <a16:creationId xmlns:a16="http://schemas.microsoft.com/office/drawing/2014/main" id="{F9D4C7C6-19B0-B86D-0EEC-001983C5749F}"/>
              </a:ext>
            </a:extLst>
          </p:cNvPr>
          <p:cNvSpPr txBox="1"/>
          <p:nvPr/>
        </p:nvSpPr>
        <p:spPr>
          <a:xfrm>
            <a:off x="457200" y="6527800"/>
            <a:ext cx="76200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Ouassim Megrad  ·  Lead Data  ·  équipe Megslab</a:t>
            </a:r>
          </a:p>
        </p:txBody>
      </p:sp>
      <p:sp>
        <p:nvSpPr>
          <p:cNvPr id="17" name="ZoneTexte 16">
            <a:extLst>
              <a:ext uri="{FF2B5EF4-FFF2-40B4-BE49-F238E27FC236}">
                <a16:creationId xmlns:a16="http://schemas.microsoft.com/office/drawing/2014/main" id="{4DCD8655-442E-FA40-3F2F-D7225ED7F7FE}"/>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1 / 9</a:t>
            </a:r>
          </a:p>
        </p:txBody>
      </p:sp>
    </p:spTree>
    <p:extLst>
      <p:ext uri="{BB962C8B-B14F-4D97-AF65-F5344CB8AC3E}">
        <p14:creationId xmlns:p14="http://schemas.microsoft.com/office/powerpoint/2010/main" val="2748608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74CA9E3-8757-E5FC-54DD-C4787CE71598}"/>
              </a:ext>
            </a:extLst>
          </p:cNvPr>
          <p:cNvSpPr/>
          <p:nvPr/>
        </p:nvSpPr>
        <p:spPr>
          <a:xfrm>
            <a:off x="0" y="0"/>
            <a:ext cx="12192000" cy="812800"/>
          </a:xfrm>
          <a:prstGeom prst="rect">
            <a:avLst/>
          </a:prstGeom>
          <a:solidFill>
            <a:srgbClr val="1A52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2D8A87A3-7412-D15B-3E02-136DF52AD4BC}"/>
              </a:ext>
            </a:extLst>
          </p:cNvPr>
          <p:cNvSpPr txBox="1"/>
          <p:nvPr/>
        </p:nvSpPr>
        <p:spPr>
          <a:xfrm>
            <a:off x="457200" y="101600"/>
            <a:ext cx="11176000" cy="446276"/>
          </a:xfrm>
          <a:prstGeom prst="rect">
            <a:avLst/>
          </a:prstGeom>
          <a:noFill/>
        </p:spPr>
        <p:txBody>
          <a:bodyPr vert="horz" wrap="square" rtlCol="0">
            <a:spAutoFit/>
          </a:bodyPr>
          <a:lstStyle/>
          <a:p>
            <a:r>
              <a:rPr lang="fr-FR" sz="2300" b="1">
                <a:solidFill>
                  <a:srgbClr val="FFFFFF"/>
                </a:solidFill>
                <a:latin typeface="Calibri" panose="020F0502020204030204" pitchFamily="34" charset="0"/>
              </a:rPr>
              <a:t>Planning : 12 semaines, 4 phases, 5 jalons</a:t>
            </a:r>
          </a:p>
        </p:txBody>
      </p:sp>
      <p:sp>
        <p:nvSpPr>
          <p:cNvPr id="4" name="ZoneTexte 3">
            <a:extLst>
              <a:ext uri="{FF2B5EF4-FFF2-40B4-BE49-F238E27FC236}">
                <a16:creationId xmlns:a16="http://schemas.microsoft.com/office/drawing/2014/main" id="{4B57C481-517B-F48C-1BC3-DBF89033D331}"/>
              </a:ext>
            </a:extLst>
          </p:cNvPr>
          <p:cNvSpPr txBox="1"/>
          <p:nvPr/>
        </p:nvSpPr>
        <p:spPr>
          <a:xfrm>
            <a:off x="457200" y="482600"/>
            <a:ext cx="11430000" cy="276999"/>
          </a:xfrm>
          <a:prstGeom prst="rect">
            <a:avLst/>
          </a:prstGeom>
          <a:noFill/>
        </p:spPr>
        <p:txBody>
          <a:bodyPr vert="horz" wrap="square" rtlCol="0">
            <a:spAutoFit/>
          </a:bodyPr>
          <a:lstStyle/>
          <a:p>
            <a:r>
              <a:rPr lang="fr-FR" sz="1200">
                <a:solidFill>
                  <a:srgbClr val="EEF3F8"/>
                </a:solidFill>
                <a:latin typeface="Calibri" panose="020F0502020204030204" pitchFamily="34" charset="0"/>
              </a:rPr>
              <a:t>Un calendrier calé sur les dépendances réelles, validé au jalon J1</a:t>
            </a:r>
          </a:p>
        </p:txBody>
      </p:sp>
      <p:sp>
        <p:nvSpPr>
          <p:cNvPr id="5" name="ZoneTexte 4">
            <a:extLst>
              <a:ext uri="{FF2B5EF4-FFF2-40B4-BE49-F238E27FC236}">
                <a16:creationId xmlns:a16="http://schemas.microsoft.com/office/drawing/2014/main" id="{48BEF61A-2B7F-DDBF-3C7C-134FB9CE846A}"/>
              </a:ext>
            </a:extLst>
          </p:cNvPr>
          <p:cNvSpPr txBox="1"/>
          <p:nvPr/>
        </p:nvSpPr>
        <p:spPr>
          <a:xfrm>
            <a:off x="457200" y="6527800"/>
            <a:ext cx="76200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Ouassim Megrad  ·  Lead Data  ·  équipe Megslab</a:t>
            </a:r>
          </a:p>
        </p:txBody>
      </p:sp>
      <p:sp>
        <p:nvSpPr>
          <p:cNvPr id="6" name="ZoneTexte 5">
            <a:extLst>
              <a:ext uri="{FF2B5EF4-FFF2-40B4-BE49-F238E27FC236}">
                <a16:creationId xmlns:a16="http://schemas.microsoft.com/office/drawing/2014/main" id="{52517CDE-DE95-971F-9587-A150B8A3D926}"/>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2 / 9</a:t>
            </a:r>
          </a:p>
        </p:txBody>
      </p:sp>
      <p:graphicFrame>
        <p:nvGraphicFramePr>
          <p:cNvPr id="7" name="Tableau 6">
            <a:extLst>
              <a:ext uri="{FF2B5EF4-FFF2-40B4-BE49-F238E27FC236}">
                <a16:creationId xmlns:a16="http://schemas.microsoft.com/office/drawing/2014/main" id="{545B9147-6CCC-8298-DDE2-F7BD8EF87639}"/>
              </a:ext>
            </a:extLst>
          </p:cNvPr>
          <p:cNvGraphicFramePr>
            <a:graphicFrameLocks noGrp="1"/>
          </p:cNvGraphicFramePr>
          <p:nvPr>
            <p:extLst>
              <p:ext uri="{D42A27DB-BD31-4B8C-83A1-F6EECF244321}">
                <p14:modId xmlns:p14="http://schemas.microsoft.com/office/powerpoint/2010/main" val="833410960"/>
              </p:ext>
            </p:extLst>
          </p:nvPr>
        </p:nvGraphicFramePr>
        <p:xfrm>
          <a:off x="457200" y="1066800"/>
          <a:ext cx="11277600" cy="2540000"/>
        </p:xfrm>
        <a:graphic>
          <a:graphicData uri="http://schemas.openxmlformats.org/drawingml/2006/table">
            <a:tbl>
              <a:tblPr firstRow="1" bandRow="1">
                <a:tableStyleId>{5C22544A-7EE6-4342-B048-85BDC9FD1C3A}</a:tableStyleId>
              </a:tblPr>
              <a:tblGrid>
                <a:gridCol w="2540000">
                  <a:extLst>
                    <a:ext uri="{9D8B030D-6E8A-4147-A177-3AD203B41FA5}">
                      <a16:colId xmlns:a16="http://schemas.microsoft.com/office/drawing/2014/main" val="3682529408"/>
                    </a:ext>
                  </a:extLst>
                </a:gridCol>
                <a:gridCol w="1016000">
                  <a:extLst>
                    <a:ext uri="{9D8B030D-6E8A-4147-A177-3AD203B41FA5}">
                      <a16:colId xmlns:a16="http://schemas.microsoft.com/office/drawing/2014/main" val="1926898859"/>
                    </a:ext>
                  </a:extLst>
                </a:gridCol>
                <a:gridCol w="3556000">
                  <a:extLst>
                    <a:ext uri="{9D8B030D-6E8A-4147-A177-3AD203B41FA5}">
                      <a16:colId xmlns:a16="http://schemas.microsoft.com/office/drawing/2014/main" val="1263598916"/>
                    </a:ext>
                  </a:extLst>
                </a:gridCol>
                <a:gridCol w="2921000">
                  <a:extLst>
                    <a:ext uri="{9D8B030D-6E8A-4147-A177-3AD203B41FA5}">
                      <a16:colId xmlns:a16="http://schemas.microsoft.com/office/drawing/2014/main" val="615179796"/>
                    </a:ext>
                  </a:extLst>
                </a:gridCol>
                <a:gridCol w="1244600">
                  <a:extLst>
                    <a:ext uri="{9D8B030D-6E8A-4147-A177-3AD203B41FA5}">
                      <a16:colId xmlns:a16="http://schemas.microsoft.com/office/drawing/2014/main" val="1267376481"/>
                    </a:ext>
                  </a:extLst>
                </a:gridCol>
              </a:tblGrid>
              <a:tr h="508000">
                <a:tc>
                  <a:txBody>
                    <a:bodyPr/>
                    <a:lstStyle/>
                    <a:p>
                      <a:r>
                        <a:rPr lang="fr-FR" sz="1200" b="1">
                          <a:solidFill>
                            <a:srgbClr val="FFFFFF"/>
                          </a:solidFill>
                          <a:latin typeface="Calibri" panose="020F0502020204030204" pitchFamily="34" charset="0"/>
                        </a:rPr>
                        <a:t>Phase</a:t>
                      </a:r>
                    </a:p>
                  </a:txBody>
                  <a:tcPr>
                    <a:solidFill>
                      <a:srgbClr val="1A5276"/>
                    </a:solidFill>
                  </a:tcPr>
                </a:tc>
                <a:tc>
                  <a:txBody>
                    <a:bodyPr/>
                    <a:lstStyle/>
                    <a:p>
                      <a:r>
                        <a:rPr lang="fr-FR" sz="1200" b="1">
                          <a:solidFill>
                            <a:srgbClr val="FFFFFF"/>
                          </a:solidFill>
                          <a:latin typeface="Calibri" panose="020F0502020204030204" pitchFamily="34" charset="0"/>
                        </a:rPr>
                        <a:t>Semaines</a:t>
                      </a:r>
                    </a:p>
                  </a:txBody>
                  <a:tcPr>
                    <a:solidFill>
                      <a:srgbClr val="1A5276"/>
                    </a:solidFill>
                  </a:tcPr>
                </a:tc>
                <a:tc>
                  <a:txBody>
                    <a:bodyPr/>
                    <a:lstStyle/>
                    <a:p>
                      <a:r>
                        <a:rPr lang="fr-FR" sz="1200" b="1">
                          <a:solidFill>
                            <a:srgbClr val="FFFFFF"/>
                          </a:solidFill>
                          <a:latin typeface="Calibri" panose="020F0502020204030204" pitchFamily="34" charset="0"/>
                        </a:rPr>
                        <a:t>Objectif</a:t>
                      </a:r>
                    </a:p>
                  </a:txBody>
                  <a:tcPr>
                    <a:solidFill>
                      <a:srgbClr val="1A5276"/>
                    </a:solidFill>
                  </a:tcPr>
                </a:tc>
                <a:tc>
                  <a:txBody>
                    <a:bodyPr/>
                    <a:lstStyle/>
                    <a:p>
                      <a:r>
                        <a:rPr lang="fr-FR" sz="1200" b="1">
                          <a:solidFill>
                            <a:srgbClr val="FFFFFF"/>
                          </a:solidFill>
                          <a:latin typeface="Calibri" panose="020F0502020204030204" pitchFamily="34" charset="0"/>
                        </a:rPr>
                        <a:t>Jalon</a:t>
                      </a:r>
                    </a:p>
                  </a:txBody>
                  <a:tcPr>
                    <a:solidFill>
                      <a:srgbClr val="1A5276"/>
                    </a:solidFill>
                  </a:tcPr>
                </a:tc>
                <a:tc>
                  <a:txBody>
                    <a:bodyPr/>
                    <a:lstStyle/>
                    <a:p>
                      <a:r>
                        <a:rPr lang="fr-FR" sz="1200" b="1">
                          <a:solidFill>
                            <a:srgbClr val="FFFFFF"/>
                          </a:solidFill>
                          <a:latin typeface="Calibri" panose="020F0502020204030204" pitchFamily="34" charset="0"/>
                        </a:rPr>
                        <a:t>Statut</a:t>
                      </a:r>
                    </a:p>
                  </a:txBody>
                  <a:tcPr>
                    <a:solidFill>
                      <a:srgbClr val="1A5276"/>
                    </a:solidFill>
                  </a:tcPr>
                </a:tc>
                <a:extLst>
                  <a:ext uri="{0D108BD9-81ED-4DB2-BD59-A6C34878D82A}">
                    <a16:rowId xmlns:a16="http://schemas.microsoft.com/office/drawing/2014/main" val="1657259797"/>
                  </a:ext>
                </a:extLst>
              </a:tr>
              <a:tr h="508000">
                <a:tc>
                  <a:txBody>
                    <a:bodyPr/>
                    <a:lstStyle/>
                    <a:p>
                      <a:r>
                        <a:rPr lang="fr-FR" sz="1200" b="0">
                          <a:solidFill>
                            <a:srgbClr val="212121"/>
                          </a:solidFill>
                          <a:latin typeface="Calibri" panose="020F0502020204030204" pitchFamily="34" charset="0"/>
                        </a:rPr>
                        <a:t>Cadrage et gouvernance</a:t>
                      </a:r>
                    </a:p>
                  </a:txBody>
                  <a:tcPr>
                    <a:solidFill>
                      <a:srgbClr val="FFFFFF"/>
                    </a:solidFill>
                  </a:tcPr>
                </a:tc>
                <a:tc>
                  <a:txBody>
                    <a:bodyPr/>
                    <a:lstStyle/>
                    <a:p>
                      <a:r>
                        <a:rPr lang="fr-FR" sz="1200" b="0">
                          <a:solidFill>
                            <a:srgbClr val="212121"/>
                          </a:solidFill>
                          <a:latin typeface="Calibri" panose="020F0502020204030204" pitchFamily="34" charset="0"/>
                        </a:rPr>
                        <a:t>S1 à S2</a:t>
                      </a:r>
                    </a:p>
                  </a:txBody>
                  <a:tcPr>
                    <a:solidFill>
                      <a:srgbClr val="FFFFFF"/>
                    </a:solidFill>
                  </a:tcPr>
                </a:tc>
                <a:tc>
                  <a:txBody>
                    <a:bodyPr/>
                    <a:lstStyle/>
                    <a:p>
                      <a:r>
                        <a:rPr lang="fr-FR" sz="1200" b="0">
                          <a:solidFill>
                            <a:srgbClr val="212121"/>
                          </a:solidFill>
                          <a:latin typeface="Calibri" panose="020F0502020204030204" pitchFamily="34" charset="0"/>
                        </a:rPr>
                        <a:t>Installer les règles du jeu : RACI, comité, indicateurs</a:t>
                      </a:r>
                    </a:p>
                  </a:txBody>
                  <a:tcPr>
                    <a:solidFill>
                      <a:srgbClr val="FFFFFF"/>
                    </a:solidFill>
                  </a:tcPr>
                </a:tc>
                <a:tc>
                  <a:txBody>
                    <a:bodyPr/>
                    <a:lstStyle/>
                    <a:p>
                      <a:r>
                        <a:rPr lang="fr-FR" sz="1200" b="0">
                          <a:solidFill>
                            <a:srgbClr val="212121"/>
                          </a:solidFill>
                          <a:latin typeface="Calibri" panose="020F0502020204030204" pitchFamily="34" charset="0"/>
                        </a:rPr>
                        <a:t>J1 : gouvernance validée</a:t>
                      </a:r>
                    </a:p>
                  </a:txBody>
                  <a:tcPr>
                    <a:solidFill>
                      <a:srgbClr val="FFFFFF"/>
                    </a:solidFill>
                  </a:tcPr>
                </a:tc>
                <a:tc>
                  <a:txBody>
                    <a:bodyPr/>
                    <a:lstStyle/>
                    <a:p>
                      <a:r>
                        <a:rPr lang="fr-FR" sz="1200" b="0">
                          <a:solidFill>
                            <a:srgbClr val="212121"/>
                          </a:solidFill>
                          <a:latin typeface="Calibri" panose="020F0502020204030204" pitchFamily="34" charset="0"/>
                        </a:rPr>
                        <a:t>VERT, en cours</a:t>
                      </a:r>
                    </a:p>
                  </a:txBody>
                  <a:tcPr>
                    <a:solidFill>
                      <a:srgbClr val="FFFFFF"/>
                    </a:solidFill>
                  </a:tcPr>
                </a:tc>
                <a:extLst>
                  <a:ext uri="{0D108BD9-81ED-4DB2-BD59-A6C34878D82A}">
                    <a16:rowId xmlns:a16="http://schemas.microsoft.com/office/drawing/2014/main" val="481501817"/>
                  </a:ext>
                </a:extLst>
              </a:tr>
              <a:tr h="508000">
                <a:tc>
                  <a:txBody>
                    <a:bodyPr/>
                    <a:lstStyle/>
                    <a:p>
                      <a:r>
                        <a:rPr lang="fr-FR" sz="1200" b="0">
                          <a:solidFill>
                            <a:srgbClr val="212121"/>
                          </a:solidFill>
                          <a:latin typeface="Calibri" panose="020F0502020204030204" pitchFamily="34" charset="0"/>
                        </a:rPr>
                        <a:t>Itérations produit (3 sprints)</a:t>
                      </a:r>
                    </a:p>
                  </a:txBody>
                  <a:tcPr>
                    <a:solidFill>
                      <a:srgbClr val="EEF3F8"/>
                    </a:solidFill>
                  </a:tcPr>
                </a:tc>
                <a:tc>
                  <a:txBody>
                    <a:bodyPr/>
                    <a:lstStyle/>
                    <a:p>
                      <a:r>
                        <a:rPr lang="fr-FR" sz="1200" b="0">
                          <a:solidFill>
                            <a:srgbClr val="212121"/>
                          </a:solidFill>
                          <a:latin typeface="Calibri" panose="020F0502020204030204" pitchFamily="34" charset="0"/>
                        </a:rPr>
                        <a:t>S3 à S8</a:t>
                      </a:r>
                    </a:p>
                  </a:txBody>
                  <a:tcPr>
                    <a:solidFill>
                      <a:srgbClr val="EEF3F8"/>
                    </a:solidFill>
                  </a:tcPr>
                </a:tc>
                <a:tc>
                  <a:txBody>
                    <a:bodyPr/>
                    <a:lstStyle/>
                    <a:p>
                      <a:r>
                        <a:rPr lang="fr-FR" sz="1200" b="0">
                          <a:solidFill>
                            <a:srgbClr val="212121"/>
                          </a:solidFill>
                          <a:latin typeface="Calibri" panose="020F0502020204030204" pitchFamily="34" charset="0"/>
                        </a:rPr>
                        <a:t>Livrer les évolutions prioritaires du backlog</a:t>
                      </a:r>
                    </a:p>
                  </a:txBody>
                  <a:tcPr>
                    <a:solidFill>
                      <a:srgbClr val="EEF3F8"/>
                    </a:solidFill>
                  </a:tcPr>
                </a:tc>
                <a:tc>
                  <a:txBody>
                    <a:bodyPr/>
                    <a:lstStyle/>
                    <a:p>
                      <a:r>
                        <a:rPr lang="fr-FR" sz="1200" b="0">
                          <a:solidFill>
                            <a:srgbClr val="212121"/>
                          </a:solidFill>
                          <a:latin typeface="Calibri" panose="020F0502020204030204" pitchFamily="34" charset="0"/>
                        </a:rPr>
                        <a:t>J2 : reporting en place  ·  J3 : produit prêt</a:t>
                      </a:r>
                    </a:p>
                  </a:txBody>
                  <a:tcPr>
                    <a:solidFill>
                      <a:srgbClr val="EEF3F8"/>
                    </a:solidFill>
                  </a:tcPr>
                </a:tc>
                <a:tc>
                  <a:txBody>
                    <a:bodyPr/>
                    <a:lstStyle/>
                    <a:p>
                      <a:r>
                        <a:rPr lang="fr-FR" sz="1200" b="0">
                          <a:solidFill>
                            <a:srgbClr val="212121"/>
                          </a:solidFill>
                          <a:latin typeface="Calibri" panose="020F0502020204030204" pitchFamily="34" charset="0"/>
                        </a:rPr>
                        <a:t>À venir</a:t>
                      </a:r>
                    </a:p>
                  </a:txBody>
                  <a:tcPr>
                    <a:solidFill>
                      <a:srgbClr val="EEF3F8"/>
                    </a:solidFill>
                  </a:tcPr>
                </a:tc>
                <a:extLst>
                  <a:ext uri="{0D108BD9-81ED-4DB2-BD59-A6C34878D82A}">
                    <a16:rowId xmlns:a16="http://schemas.microsoft.com/office/drawing/2014/main" val="2284390295"/>
                  </a:ext>
                </a:extLst>
              </a:tr>
              <a:tr h="508000">
                <a:tc>
                  <a:txBody>
                    <a:bodyPr/>
                    <a:lstStyle/>
                    <a:p>
                      <a:r>
                        <a:rPr lang="fr-FR" sz="1200" b="0">
                          <a:solidFill>
                            <a:srgbClr val="212121"/>
                          </a:solidFill>
                          <a:latin typeface="Calibri" panose="020F0502020204030204" pitchFamily="34" charset="0"/>
                        </a:rPr>
                        <a:t>Accompagnement et formation</a:t>
                      </a:r>
                    </a:p>
                  </a:txBody>
                  <a:tcPr>
                    <a:solidFill>
                      <a:srgbClr val="FFFFFF"/>
                    </a:solidFill>
                  </a:tcPr>
                </a:tc>
                <a:tc>
                  <a:txBody>
                    <a:bodyPr/>
                    <a:lstStyle/>
                    <a:p>
                      <a:r>
                        <a:rPr lang="fr-FR" sz="1200" b="0">
                          <a:solidFill>
                            <a:srgbClr val="212121"/>
                          </a:solidFill>
                          <a:latin typeface="Calibri" panose="020F0502020204030204" pitchFamily="34" charset="0"/>
                        </a:rPr>
                        <a:t>S6 à S10</a:t>
                      </a:r>
                    </a:p>
                  </a:txBody>
                  <a:tcPr>
                    <a:solidFill>
                      <a:srgbClr val="FFFFFF"/>
                    </a:solidFill>
                  </a:tcPr>
                </a:tc>
                <a:tc>
                  <a:txBody>
                    <a:bodyPr/>
                    <a:lstStyle/>
                    <a:p>
                      <a:r>
                        <a:rPr lang="fr-FR" sz="1200" b="0">
                          <a:solidFill>
                            <a:srgbClr val="212121"/>
                          </a:solidFill>
                          <a:latin typeface="Calibri" panose="020F0502020204030204" pitchFamily="34" charset="0"/>
                        </a:rPr>
                        <a:t>Former 100 % des profils, supports accessibles</a:t>
                      </a:r>
                    </a:p>
                  </a:txBody>
                  <a:tcPr>
                    <a:solidFill>
                      <a:srgbClr val="FFFFFF"/>
                    </a:solidFill>
                  </a:tcPr>
                </a:tc>
                <a:tc>
                  <a:txBody>
                    <a:bodyPr/>
                    <a:lstStyle/>
                    <a:p>
                      <a:r>
                        <a:rPr lang="fr-FR" sz="1200" b="0">
                          <a:solidFill>
                            <a:srgbClr val="212121"/>
                          </a:solidFill>
                          <a:latin typeface="Calibri" panose="020F0502020204030204" pitchFamily="34" charset="0"/>
                        </a:rPr>
                        <a:t>J4 : tous formés, satisfaction 4/5 min.</a:t>
                      </a:r>
                    </a:p>
                  </a:txBody>
                  <a:tcPr>
                    <a:solidFill>
                      <a:srgbClr val="FFFFFF"/>
                    </a:solidFill>
                  </a:tcPr>
                </a:tc>
                <a:tc>
                  <a:txBody>
                    <a:bodyPr/>
                    <a:lstStyle/>
                    <a:p>
                      <a:r>
                        <a:rPr lang="fr-FR" sz="1200" b="0">
                          <a:solidFill>
                            <a:srgbClr val="212121"/>
                          </a:solidFill>
                          <a:latin typeface="Calibri" panose="020F0502020204030204" pitchFamily="34" charset="0"/>
                        </a:rPr>
                        <a:t>À venir</a:t>
                      </a:r>
                    </a:p>
                  </a:txBody>
                  <a:tcPr>
                    <a:solidFill>
                      <a:srgbClr val="FFFFFF"/>
                    </a:solidFill>
                  </a:tcPr>
                </a:tc>
                <a:extLst>
                  <a:ext uri="{0D108BD9-81ED-4DB2-BD59-A6C34878D82A}">
                    <a16:rowId xmlns:a16="http://schemas.microsoft.com/office/drawing/2014/main" val="642556481"/>
                  </a:ext>
                </a:extLst>
              </a:tr>
              <a:tr h="508000">
                <a:tc>
                  <a:txBody>
                    <a:bodyPr/>
                    <a:lstStyle/>
                    <a:p>
                      <a:r>
                        <a:rPr lang="fr-FR" sz="1200" b="0">
                          <a:solidFill>
                            <a:srgbClr val="212121"/>
                          </a:solidFill>
                          <a:latin typeface="Calibri" panose="020F0502020204030204" pitchFamily="34" charset="0"/>
                        </a:rPr>
                        <a:t>Déploiement pilote</a:t>
                      </a:r>
                    </a:p>
                  </a:txBody>
                  <a:tcPr>
                    <a:solidFill>
                      <a:srgbClr val="EEF3F8"/>
                    </a:solidFill>
                  </a:tcPr>
                </a:tc>
                <a:tc>
                  <a:txBody>
                    <a:bodyPr/>
                    <a:lstStyle/>
                    <a:p>
                      <a:r>
                        <a:rPr lang="fr-FR" sz="1200" b="0">
                          <a:solidFill>
                            <a:srgbClr val="212121"/>
                          </a:solidFill>
                          <a:latin typeface="Calibri" panose="020F0502020204030204" pitchFamily="34" charset="0"/>
                        </a:rPr>
                        <a:t>S11 à S12</a:t>
                      </a:r>
                    </a:p>
                  </a:txBody>
                  <a:tcPr>
                    <a:solidFill>
                      <a:srgbClr val="EEF3F8"/>
                    </a:solidFill>
                  </a:tcPr>
                </a:tc>
                <a:tc>
                  <a:txBody>
                    <a:bodyPr/>
                    <a:lstStyle/>
                    <a:p>
                      <a:r>
                        <a:rPr lang="fr-FR" sz="1200" b="0">
                          <a:solidFill>
                            <a:srgbClr val="212121"/>
                          </a:solidFill>
                          <a:latin typeface="Calibri" panose="020F0502020204030204" pitchFamily="34" charset="0"/>
                        </a:rPr>
                        <a:t>Mesurer l'adoption en conditions réelles</a:t>
                      </a:r>
                    </a:p>
                  </a:txBody>
                  <a:tcPr>
                    <a:solidFill>
                      <a:srgbClr val="EEF3F8"/>
                    </a:solidFill>
                  </a:tcPr>
                </a:tc>
                <a:tc>
                  <a:txBody>
                    <a:bodyPr/>
                    <a:lstStyle/>
                    <a:p>
                      <a:r>
                        <a:rPr lang="pl-PL" sz="1200" b="0">
                          <a:solidFill>
                            <a:srgbClr val="212121"/>
                          </a:solidFill>
                          <a:latin typeface="Calibri" panose="020F0502020204030204" pitchFamily="34" charset="0"/>
                        </a:rPr>
                        <a:t>J5 : bilan et go/no-go</a:t>
                      </a:r>
                      <a:endParaRPr lang="fr-FR" sz="1200" b="0">
                        <a:solidFill>
                          <a:srgbClr val="212121"/>
                        </a:solidFill>
                        <a:latin typeface="Calibri" panose="020F0502020204030204" pitchFamily="34" charset="0"/>
                      </a:endParaRPr>
                    </a:p>
                  </a:txBody>
                  <a:tcPr>
                    <a:solidFill>
                      <a:srgbClr val="EEF3F8"/>
                    </a:solidFill>
                  </a:tcPr>
                </a:tc>
                <a:tc>
                  <a:txBody>
                    <a:bodyPr/>
                    <a:lstStyle/>
                    <a:p>
                      <a:r>
                        <a:rPr lang="fr-FR" sz="1200" b="0">
                          <a:solidFill>
                            <a:srgbClr val="212121"/>
                          </a:solidFill>
                          <a:latin typeface="Calibri" panose="020F0502020204030204" pitchFamily="34" charset="0"/>
                        </a:rPr>
                        <a:t>À venir</a:t>
                      </a:r>
                    </a:p>
                  </a:txBody>
                  <a:tcPr>
                    <a:solidFill>
                      <a:srgbClr val="EEF3F8"/>
                    </a:solidFill>
                  </a:tcPr>
                </a:tc>
                <a:extLst>
                  <a:ext uri="{0D108BD9-81ED-4DB2-BD59-A6C34878D82A}">
                    <a16:rowId xmlns:a16="http://schemas.microsoft.com/office/drawing/2014/main" val="49545982"/>
                  </a:ext>
                </a:extLst>
              </a:tr>
            </a:tbl>
          </a:graphicData>
        </a:graphic>
      </p:graphicFrame>
      <p:sp>
        <p:nvSpPr>
          <p:cNvPr id="8" name="ZoneTexte 7">
            <a:extLst>
              <a:ext uri="{FF2B5EF4-FFF2-40B4-BE49-F238E27FC236}">
                <a16:creationId xmlns:a16="http://schemas.microsoft.com/office/drawing/2014/main" id="{8F948715-2F79-5350-8140-8B20C5962DB5}"/>
              </a:ext>
            </a:extLst>
          </p:cNvPr>
          <p:cNvSpPr txBox="1"/>
          <p:nvPr/>
        </p:nvSpPr>
        <p:spPr>
          <a:xfrm>
            <a:off x="457200" y="4191000"/>
            <a:ext cx="11277600" cy="692497"/>
          </a:xfrm>
          <a:prstGeom prst="rect">
            <a:avLst/>
          </a:prstGeom>
          <a:noFill/>
        </p:spPr>
        <p:txBody>
          <a:bodyPr vert="horz" wrap="square" rtlCol="0">
            <a:spAutoFit/>
          </a:bodyPr>
          <a:lstStyle/>
          <a:p>
            <a:r>
              <a:rPr lang="fr-FR" sz="1300">
                <a:solidFill>
                  <a:srgbClr val="212121"/>
                </a:solidFill>
                <a:latin typeface="Calibri" panose="020F0502020204030204" pitchFamily="34" charset="0"/>
              </a:rPr>
              <a:t>Les formations se terminent avant le pilote (S10) : un pilote avec des utilisateurs non formés mesurerait l'échec de la formation, pas la valeur de l'outil. Les phases produit et formation se chevauchent volontairement : les agents ont peu de temps disponible, donc les formations s'étalent sur 5 semaines. L'ordre des tâches suit les dépendances : les rôles avant la procédure d'escalade, les indicateurs avant le reporting, la qualité des données avant les tendances par ligne.</a:t>
            </a:r>
          </a:p>
        </p:txBody>
      </p:sp>
    </p:spTree>
    <p:extLst>
      <p:ext uri="{BB962C8B-B14F-4D97-AF65-F5344CB8AC3E}">
        <p14:creationId xmlns:p14="http://schemas.microsoft.com/office/powerpoint/2010/main" val="1168798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BBD0A8B-D4A4-2FC6-7056-10375C4A1DF1}"/>
              </a:ext>
            </a:extLst>
          </p:cNvPr>
          <p:cNvSpPr/>
          <p:nvPr/>
        </p:nvSpPr>
        <p:spPr>
          <a:xfrm>
            <a:off x="0" y="0"/>
            <a:ext cx="12192000" cy="812800"/>
          </a:xfrm>
          <a:prstGeom prst="rect">
            <a:avLst/>
          </a:prstGeom>
          <a:solidFill>
            <a:srgbClr val="1A52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F91E13BD-0430-A8B8-5E85-561FD4ED1638}"/>
              </a:ext>
            </a:extLst>
          </p:cNvPr>
          <p:cNvSpPr txBox="1"/>
          <p:nvPr/>
        </p:nvSpPr>
        <p:spPr>
          <a:xfrm>
            <a:off x="457200" y="101600"/>
            <a:ext cx="11176000" cy="446276"/>
          </a:xfrm>
          <a:prstGeom prst="rect">
            <a:avLst/>
          </a:prstGeom>
          <a:noFill/>
        </p:spPr>
        <p:txBody>
          <a:bodyPr vert="horz" wrap="square" rtlCol="0">
            <a:spAutoFit/>
          </a:bodyPr>
          <a:lstStyle/>
          <a:p>
            <a:r>
              <a:rPr lang="fr-FR" sz="2300" b="1">
                <a:solidFill>
                  <a:srgbClr val="FFFFFF"/>
                </a:solidFill>
                <a:latin typeface="Calibri" panose="020F0502020204030204" pitchFamily="34" charset="0"/>
              </a:rPr>
              <a:t>Gouvernance : qui décide quoi</a:t>
            </a:r>
          </a:p>
        </p:txBody>
      </p:sp>
      <p:sp>
        <p:nvSpPr>
          <p:cNvPr id="4" name="ZoneTexte 3">
            <a:extLst>
              <a:ext uri="{FF2B5EF4-FFF2-40B4-BE49-F238E27FC236}">
                <a16:creationId xmlns:a16="http://schemas.microsoft.com/office/drawing/2014/main" id="{C54BE7E2-F7BB-E9DE-72D3-32E53284E088}"/>
              </a:ext>
            </a:extLst>
          </p:cNvPr>
          <p:cNvSpPr txBox="1"/>
          <p:nvPr/>
        </p:nvSpPr>
        <p:spPr>
          <a:xfrm>
            <a:off x="457200" y="482600"/>
            <a:ext cx="11430000" cy="276999"/>
          </a:xfrm>
          <a:prstGeom prst="rect">
            <a:avLst/>
          </a:prstGeom>
          <a:noFill/>
        </p:spPr>
        <p:txBody>
          <a:bodyPr vert="horz" wrap="square" rtlCol="0">
            <a:spAutoFit/>
          </a:bodyPr>
          <a:lstStyle/>
          <a:p>
            <a:r>
              <a:rPr lang="fr-FR" sz="1200">
                <a:solidFill>
                  <a:srgbClr val="EEF3F8"/>
                </a:solidFill>
                <a:latin typeface="Calibri" panose="020F0502020204030204" pitchFamily="34" charset="0"/>
              </a:rPr>
              <a:t>Une méthode hybride, un arbitrage hebdomadaire, un seul responsable par activité</a:t>
            </a:r>
          </a:p>
        </p:txBody>
      </p:sp>
      <p:sp>
        <p:nvSpPr>
          <p:cNvPr id="5" name="ZoneTexte 4">
            <a:extLst>
              <a:ext uri="{FF2B5EF4-FFF2-40B4-BE49-F238E27FC236}">
                <a16:creationId xmlns:a16="http://schemas.microsoft.com/office/drawing/2014/main" id="{7605F431-20D2-C002-9532-C9AE6106DBFA}"/>
              </a:ext>
            </a:extLst>
          </p:cNvPr>
          <p:cNvSpPr txBox="1"/>
          <p:nvPr/>
        </p:nvSpPr>
        <p:spPr>
          <a:xfrm>
            <a:off x="457200" y="6527800"/>
            <a:ext cx="76200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Ouassim Megrad  ·  Lead Data  ·  équipe Megslab</a:t>
            </a:r>
          </a:p>
        </p:txBody>
      </p:sp>
      <p:sp>
        <p:nvSpPr>
          <p:cNvPr id="6" name="ZoneTexte 5">
            <a:extLst>
              <a:ext uri="{FF2B5EF4-FFF2-40B4-BE49-F238E27FC236}">
                <a16:creationId xmlns:a16="http://schemas.microsoft.com/office/drawing/2014/main" id="{F3BAC118-D125-F603-9C45-391685243E9B}"/>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3 / 9</a:t>
            </a:r>
          </a:p>
        </p:txBody>
      </p:sp>
      <p:sp>
        <p:nvSpPr>
          <p:cNvPr id="7" name="Rectangle : coins arrondis 6">
            <a:extLst>
              <a:ext uri="{FF2B5EF4-FFF2-40B4-BE49-F238E27FC236}">
                <a16:creationId xmlns:a16="http://schemas.microsoft.com/office/drawing/2014/main" id="{19CF5A14-F6C7-9904-BBA4-133285DDFB00}"/>
              </a:ext>
            </a:extLst>
          </p:cNvPr>
          <p:cNvSpPr/>
          <p:nvPr/>
        </p:nvSpPr>
        <p:spPr>
          <a:xfrm>
            <a:off x="457200" y="1016000"/>
            <a:ext cx="5461000" cy="16256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E22BABED-CAD4-55DD-C351-F52825BADBAC}"/>
              </a:ext>
            </a:extLst>
          </p:cNvPr>
          <p:cNvSpPr txBox="1"/>
          <p:nvPr/>
        </p:nvSpPr>
        <p:spPr>
          <a:xfrm>
            <a:off x="635000" y="1143000"/>
            <a:ext cx="5105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MÉTHODE HYBRIDE</a:t>
            </a:r>
          </a:p>
        </p:txBody>
      </p:sp>
      <p:sp>
        <p:nvSpPr>
          <p:cNvPr id="9" name="ZoneTexte 8">
            <a:extLst>
              <a:ext uri="{FF2B5EF4-FFF2-40B4-BE49-F238E27FC236}">
                <a16:creationId xmlns:a16="http://schemas.microsoft.com/office/drawing/2014/main" id="{0498EF09-EDEA-6095-5042-0CA3EE9333BD}"/>
              </a:ext>
            </a:extLst>
          </p:cNvPr>
          <p:cNvSpPr txBox="1"/>
          <p:nvPr/>
        </p:nvSpPr>
        <p:spPr>
          <a:xfrm>
            <a:off x="635000" y="1473200"/>
            <a:ext cx="5105400" cy="646331"/>
          </a:xfrm>
          <a:prstGeom prst="rect">
            <a:avLst/>
          </a:prstGeom>
          <a:noFill/>
        </p:spPr>
        <p:txBody>
          <a:bodyPr vert="horz" wrap="square" rtlCol="0">
            <a:spAutoFit/>
          </a:bodyPr>
          <a:lstStyle/>
          <a:p>
            <a:r>
              <a:rPr lang="fr-FR" sz="1200">
                <a:solidFill>
                  <a:srgbClr val="212121"/>
                </a:solidFill>
                <a:latin typeface="Calibri" panose="020F0502020204030204" pitchFamily="34" charset="0"/>
              </a:rPr>
              <a:t>Produit : 3 sprints de 2 semaines, une cadence prévisible et lisible pour la direction. Support : des demandes imprévisibles, traitees en continu dans une file de priorités limitée. Deux natures de travail, deux modes adaptés.</a:t>
            </a:r>
          </a:p>
        </p:txBody>
      </p:sp>
      <p:sp>
        <p:nvSpPr>
          <p:cNvPr id="10" name="Rectangle : coins arrondis 9">
            <a:extLst>
              <a:ext uri="{FF2B5EF4-FFF2-40B4-BE49-F238E27FC236}">
                <a16:creationId xmlns:a16="http://schemas.microsoft.com/office/drawing/2014/main" id="{EFE21A6C-D93A-6427-36A7-77920587696D}"/>
              </a:ext>
            </a:extLst>
          </p:cNvPr>
          <p:cNvSpPr/>
          <p:nvPr/>
        </p:nvSpPr>
        <p:spPr>
          <a:xfrm>
            <a:off x="6273800" y="1016000"/>
            <a:ext cx="5461000" cy="16256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5539267A-6966-F246-F071-46FDC091F1DF}"/>
              </a:ext>
            </a:extLst>
          </p:cNvPr>
          <p:cNvSpPr txBox="1"/>
          <p:nvPr/>
        </p:nvSpPr>
        <p:spPr>
          <a:xfrm>
            <a:off x="6451600" y="1143000"/>
            <a:ext cx="5105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COMITÉ D'ARBITRAGE HEBDOMADAIRE</a:t>
            </a:r>
          </a:p>
        </p:txBody>
      </p:sp>
      <p:sp>
        <p:nvSpPr>
          <p:cNvPr id="12" name="ZoneTexte 11">
            <a:extLst>
              <a:ext uri="{FF2B5EF4-FFF2-40B4-BE49-F238E27FC236}">
                <a16:creationId xmlns:a16="http://schemas.microsoft.com/office/drawing/2014/main" id="{EE6841B7-9F79-6067-00AE-E098EF5B3A69}"/>
              </a:ext>
            </a:extLst>
          </p:cNvPr>
          <p:cNvSpPr txBox="1"/>
          <p:nvPr/>
        </p:nvSpPr>
        <p:spPr>
          <a:xfrm>
            <a:off x="6451600" y="1473200"/>
            <a:ext cx="5105400" cy="646331"/>
          </a:xfrm>
          <a:prstGeom prst="rect">
            <a:avLst/>
          </a:prstGeom>
          <a:noFill/>
        </p:spPr>
        <p:txBody>
          <a:bodyPr vert="horz" wrap="square" rtlCol="0">
            <a:spAutoFit/>
          </a:bodyPr>
          <a:lstStyle/>
          <a:p>
            <a:r>
              <a:rPr lang="fr-FR" sz="1200">
                <a:solidFill>
                  <a:srgbClr val="212121"/>
                </a:solidFill>
                <a:latin typeface="Calibri" panose="020F0502020204030204" pitchFamily="34" charset="0"/>
              </a:rPr>
              <a:t>PO, Lead Data et référent métier, 30 minutes chaque lundi : les conflits de priorités se règlent en jours, pas en mois. Exemple : export CSV ou alertes lisibles en premier ? Le PO tranche, éclairé par mes analyses de charge.</a:t>
            </a:r>
          </a:p>
        </p:txBody>
      </p:sp>
      <p:graphicFrame>
        <p:nvGraphicFramePr>
          <p:cNvPr id="13" name="Tableau 12">
            <a:extLst>
              <a:ext uri="{FF2B5EF4-FFF2-40B4-BE49-F238E27FC236}">
                <a16:creationId xmlns:a16="http://schemas.microsoft.com/office/drawing/2014/main" id="{48B2E934-6564-04A6-5065-120C98A86A4C}"/>
              </a:ext>
            </a:extLst>
          </p:cNvPr>
          <p:cNvGraphicFramePr>
            <a:graphicFrameLocks noGrp="1"/>
          </p:cNvGraphicFramePr>
          <p:nvPr>
            <p:extLst>
              <p:ext uri="{D42A27DB-BD31-4B8C-83A1-F6EECF244321}">
                <p14:modId xmlns:p14="http://schemas.microsoft.com/office/powerpoint/2010/main" val="341569020"/>
              </p:ext>
            </p:extLst>
          </p:nvPr>
        </p:nvGraphicFramePr>
        <p:xfrm>
          <a:off x="457200" y="2844800"/>
          <a:ext cx="11277600" cy="2032000"/>
        </p:xfrm>
        <a:graphic>
          <a:graphicData uri="http://schemas.openxmlformats.org/drawingml/2006/table">
            <a:tbl>
              <a:tblPr firstRow="1" bandRow="1">
                <a:tableStyleId>{5C22544A-7EE6-4342-B048-85BDC9FD1C3A}</a:tableStyleId>
              </a:tblPr>
              <a:tblGrid>
                <a:gridCol w="2794000">
                  <a:extLst>
                    <a:ext uri="{9D8B030D-6E8A-4147-A177-3AD203B41FA5}">
                      <a16:colId xmlns:a16="http://schemas.microsoft.com/office/drawing/2014/main" val="1264520063"/>
                    </a:ext>
                  </a:extLst>
                </a:gridCol>
                <a:gridCol w="8483600">
                  <a:extLst>
                    <a:ext uri="{9D8B030D-6E8A-4147-A177-3AD203B41FA5}">
                      <a16:colId xmlns:a16="http://schemas.microsoft.com/office/drawing/2014/main" val="1667040233"/>
                    </a:ext>
                  </a:extLst>
                </a:gridCol>
              </a:tblGrid>
              <a:tr h="508000">
                <a:tc>
                  <a:txBody>
                    <a:bodyPr/>
                    <a:lstStyle/>
                    <a:p>
                      <a:r>
                        <a:rPr lang="fr-FR" sz="1200" b="1">
                          <a:solidFill>
                            <a:srgbClr val="FFFFFF"/>
                          </a:solidFill>
                          <a:latin typeface="Calibri" panose="020F0502020204030204" pitchFamily="34" charset="0"/>
                        </a:rPr>
                        <a:t>Rôle</a:t>
                      </a:r>
                    </a:p>
                  </a:txBody>
                  <a:tcPr>
                    <a:solidFill>
                      <a:srgbClr val="1A5276"/>
                    </a:solidFill>
                  </a:tcPr>
                </a:tc>
                <a:tc>
                  <a:txBody>
                    <a:bodyPr/>
                    <a:lstStyle/>
                    <a:p>
                      <a:r>
                        <a:rPr lang="fr-FR" sz="1200" b="1">
                          <a:solidFill>
                            <a:srgbClr val="FFFFFF"/>
                          </a:solidFill>
                          <a:latin typeface="Calibri" panose="020F0502020204030204" pitchFamily="34" charset="0"/>
                        </a:rPr>
                        <a:t>Responsabilité dans le projet</a:t>
                      </a:r>
                    </a:p>
                  </a:txBody>
                  <a:tcPr>
                    <a:solidFill>
                      <a:srgbClr val="1A5276"/>
                    </a:solidFill>
                  </a:tcPr>
                </a:tc>
                <a:extLst>
                  <a:ext uri="{0D108BD9-81ED-4DB2-BD59-A6C34878D82A}">
                    <a16:rowId xmlns:a16="http://schemas.microsoft.com/office/drawing/2014/main" val="3560622832"/>
                  </a:ext>
                </a:extLst>
              </a:tr>
              <a:tr h="508000">
                <a:tc>
                  <a:txBody>
                    <a:bodyPr/>
                    <a:lstStyle/>
                    <a:p>
                      <a:r>
                        <a:rPr lang="fr-FR" sz="1200" b="0">
                          <a:solidFill>
                            <a:srgbClr val="212121"/>
                          </a:solidFill>
                          <a:latin typeface="Calibri" panose="020F0502020204030204" pitchFamily="34" charset="0"/>
                        </a:rPr>
                        <a:t>Product Owner</a:t>
                      </a:r>
                    </a:p>
                  </a:txBody>
                  <a:tcPr>
                    <a:solidFill>
                      <a:srgbClr val="FFFFFF"/>
                    </a:solidFill>
                  </a:tcPr>
                </a:tc>
                <a:tc>
                  <a:txBody>
                    <a:bodyPr/>
                    <a:lstStyle/>
                    <a:p>
                      <a:r>
                        <a:rPr lang="fr-FR" sz="1200" b="0">
                          <a:solidFill>
                            <a:srgbClr val="212121"/>
                          </a:solidFill>
                          <a:latin typeface="Calibri" panose="020F0502020204030204" pitchFamily="34" charset="0"/>
                        </a:rPr>
                        <a:t>Priorise le backlog et porte la valeur métier aupres des équipes</a:t>
                      </a:r>
                    </a:p>
                  </a:txBody>
                  <a:tcPr>
                    <a:solidFill>
                      <a:srgbClr val="FFFFFF"/>
                    </a:solidFill>
                  </a:tcPr>
                </a:tc>
                <a:extLst>
                  <a:ext uri="{0D108BD9-81ED-4DB2-BD59-A6C34878D82A}">
                    <a16:rowId xmlns:a16="http://schemas.microsoft.com/office/drawing/2014/main" val="809892134"/>
                  </a:ext>
                </a:extLst>
              </a:tr>
              <a:tr h="508000">
                <a:tc>
                  <a:txBody>
                    <a:bodyPr/>
                    <a:lstStyle/>
                    <a:p>
                      <a:r>
                        <a:rPr lang="fr-FR" sz="1200" b="0">
                          <a:solidFill>
                            <a:srgbClr val="212121"/>
                          </a:solidFill>
                          <a:latin typeface="Calibri" panose="020F0502020204030204" pitchFamily="34" charset="0"/>
                        </a:rPr>
                        <a:t>Lead Data (moi)</a:t>
                      </a:r>
                    </a:p>
                  </a:txBody>
                  <a:tcPr>
                    <a:solidFill>
                      <a:srgbClr val="EEF3F8"/>
                    </a:solidFill>
                  </a:tcPr>
                </a:tc>
                <a:tc>
                  <a:txBody>
                    <a:bodyPr/>
                    <a:lstStyle/>
                    <a:p>
                      <a:r>
                        <a:rPr lang="fr-FR" sz="1200" b="0">
                          <a:solidFill>
                            <a:srgbClr val="212121"/>
                          </a:solidFill>
                          <a:latin typeface="Calibri" panose="020F0502020204030204" pitchFamily="34" charset="0"/>
                        </a:rPr>
                        <a:t>Planifie le projet, garantit la fiabilité des indicateurs, rend compte à la direction</a:t>
                      </a:r>
                    </a:p>
                  </a:txBody>
                  <a:tcPr>
                    <a:solidFill>
                      <a:srgbClr val="EEF3F8"/>
                    </a:solidFill>
                  </a:tcPr>
                </a:tc>
                <a:extLst>
                  <a:ext uri="{0D108BD9-81ED-4DB2-BD59-A6C34878D82A}">
                    <a16:rowId xmlns:a16="http://schemas.microsoft.com/office/drawing/2014/main" val="1871626477"/>
                  </a:ext>
                </a:extLst>
              </a:tr>
              <a:tr h="508000">
                <a:tc>
                  <a:txBody>
                    <a:bodyPr/>
                    <a:lstStyle/>
                    <a:p>
                      <a:r>
                        <a:rPr lang="fr-FR" sz="1200" b="0">
                          <a:solidFill>
                            <a:srgbClr val="212121"/>
                          </a:solidFill>
                          <a:latin typeface="Calibri" panose="020F0502020204030204" pitchFamily="34" charset="0"/>
                        </a:rPr>
                        <a:t>Référent accessibilité</a:t>
                      </a:r>
                    </a:p>
                  </a:txBody>
                  <a:tcPr>
                    <a:solidFill>
                      <a:srgbClr val="FFFFFF"/>
                    </a:solidFill>
                  </a:tcPr>
                </a:tc>
                <a:tc>
                  <a:txBody>
                    <a:bodyPr/>
                    <a:lstStyle/>
                    <a:p>
                      <a:r>
                        <a:rPr lang="fr-FR" sz="1200" b="0">
                          <a:solidFill>
                            <a:srgbClr val="212121"/>
                          </a:solidFill>
                          <a:latin typeface="Calibri" panose="020F0502020204030204" pitchFamily="34" charset="0"/>
                        </a:rPr>
                        <a:t>Valide l'accessibilité de chaque support avant toute diffusion</a:t>
                      </a:r>
                    </a:p>
                  </a:txBody>
                  <a:tcPr>
                    <a:solidFill>
                      <a:srgbClr val="FFFFFF"/>
                    </a:solidFill>
                  </a:tcPr>
                </a:tc>
                <a:extLst>
                  <a:ext uri="{0D108BD9-81ED-4DB2-BD59-A6C34878D82A}">
                    <a16:rowId xmlns:a16="http://schemas.microsoft.com/office/drawing/2014/main" val="2283588210"/>
                  </a:ext>
                </a:extLst>
              </a:tr>
            </a:tbl>
          </a:graphicData>
        </a:graphic>
      </p:graphicFrame>
      <p:sp>
        <p:nvSpPr>
          <p:cNvPr id="14" name="Rectangle : coins arrondis 13">
            <a:extLst>
              <a:ext uri="{FF2B5EF4-FFF2-40B4-BE49-F238E27FC236}">
                <a16:creationId xmlns:a16="http://schemas.microsoft.com/office/drawing/2014/main" id="{F4BB0CF6-DEEA-511E-D4F2-4421786A0720}"/>
              </a:ext>
            </a:extLst>
          </p:cNvPr>
          <p:cNvSpPr/>
          <p:nvPr/>
        </p:nvSpPr>
        <p:spPr>
          <a:xfrm>
            <a:off x="457200" y="5613400"/>
            <a:ext cx="11277600" cy="533400"/>
          </a:xfrm>
          <a:prstGeom prst="roundRect">
            <a:avLst/>
          </a:prstGeom>
          <a:solidFill>
            <a:srgbClr val="CA6F1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500" b="1">
                <a:solidFill>
                  <a:srgbClr val="FFFFFF"/>
                </a:solidFill>
                <a:latin typeface="Calibri" panose="020F0502020204030204" pitchFamily="34" charset="0"/>
              </a:rPr>
              <a:t>Décision attendue n°1 : valider ce mode de gouvernance</a:t>
            </a:r>
          </a:p>
        </p:txBody>
      </p:sp>
    </p:spTree>
    <p:extLst>
      <p:ext uri="{BB962C8B-B14F-4D97-AF65-F5344CB8AC3E}">
        <p14:creationId xmlns:p14="http://schemas.microsoft.com/office/powerpoint/2010/main" val="9330712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8EAB406-F9BF-CB02-1922-44B9705E15C8}"/>
              </a:ext>
            </a:extLst>
          </p:cNvPr>
          <p:cNvSpPr/>
          <p:nvPr/>
        </p:nvSpPr>
        <p:spPr>
          <a:xfrm>
            <a:off x="0" y="0"/>
            <a:ext cx="12192000" cy="812800"/>
          </a:xfrm>
          <a:prstGeom prst="rect">
            <a:avLst/>
          </a:prstGeom>
          <a:solidFill>
            <a:srgbClr val="1A52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E22BEDAF-0136-3790-B7DA-1A95BAFB445A}"/>
              </a:ext>
            </a:extLst>
          </p:cNvPr>
          <p:cNvSpPr txBox="1"/>
          <p:nvPr/>
        </p:nvSpPr>
        <p:spPr>
          <a:xfrm>
            <a:off x="457200" y="101600"/>
            <a:ext cx="11176000" cy="446276"/>
          </a:xfrm>
          <a:prstGeom prst="rect">
            <a:avLst/>
          </a:prstGeom>
          <a:noFill/>
        </p:spPr>
        <p:txBody>
          <a:bodyPr vert="horz" wrap="square" rtlCol="0">
            <a:spAutoFit/>
          </a:bodyPr>
          <a:lstStyle/>
          <a:p>
            <a:r>
              <a:rPr lang="fr-FR" sz="2300" b="1">
                <a:solidFill>
                  <a:srgbClr val="FFFFFF"/>
                </a:solidFill>
                <a:latin typeface="Calibri" panose="020F0502020204030204" pitchFamily="34" charset="0"/>
              </a:rPr>
              <a:t>Indicateurs : des cibles chiffrées en 4 catégories</a:t>
            </a:r>
          </a:p>
        </p:txBody>
      </p:sp>
      <p:sp>
        <p:nvSpPr>
          <p:cNvPr id="4" name="ZoneTexte 3">
            <a:extLst>
              <a:ext uri="{FF2B5EF4-FFF2-40B4-BE49-F238E27FC236}">
                <a16:creationId xmlns:a16="http://schemas.microsoft.com/office/drawing/2014/main" id="{BB5BE975-BDA5-3AA1-BEE3-F3A92A96184C}"/>
              </a:ext>
            </a:extLst>
          </p:cNvPr>
          <p:cNvSpPr txBox="1"/>
          <p:nvPr/>
        </p:nvSpPr>
        <p:spPr>
          <a:xfrm>
            <a:off x="457200" y="482600"/>
            <a:ext cx="11430000" cy="276999"/>
          </a:xfrm>
          <a:prstGeom prst="rect">
            <a:avLst/>
          </a:prstGeom>
          <a:noFill/>
        </p:spPr>
        <p:txBody>
          <a:bodyPr vert="horz" wrap="square" rtlCol="0">
            <a:spAutoFit/>
          </a:bodyPr>
          <a:lstStyle/>
          <a:p>
            <a:r>
              <a:rPr lang="fr-FR" sz="1200">
                <a:solidFill>
                  <a:srgbClr val="EEF3F8"/>
                </a:solidFill>
                <a:latin typeface="Calibri" panose="020F0502020204030204" pitchFamily="34" charset="0"/>
              </a:rPr>
              <a:t>Adoption, produit, projet, RSE : tous les chiffres proviennent du dossier de la direction</a:t>
            </a:r>
          </a:p>
        </p:txBody>
      </p:sp>
      <p:sp>
        <p:nvSpPr>
          <p:cNvPr id="5" name="ZoneTexte 4">
            <a:extLst>
              <a:ext uri="{FF2B5EF4-FFF2-40B4-BE49-F238E27FC236}">
                <a16:creationId xmlns:a16="http://schemas.microsoft.com/office/drawing/2014/main" id="{9E29427E-7785-B7E4-75D5-F43650300D95}"/>
              </a:ext>
            </a:extLst>
          </p:cNvPr>
          <p:cNvSpPr txBox="1"/>
          <p:nvPr/>
        </p:nvSpPr>
        <p:spPr>
          <a:xfrm>
            <a:off x="457200" y="6527800"/>
            <a:ext cx="76200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Ouassim Megrad  ·  Lead Data  ·  équipe Megslab</a:t>
            </a:r>
          </a:p>
        </p:txBody>
      </p:sp>
      <p:sp>
        <p:nvSpPr>
          <p:cNvPr id="6" name="ZoneTexte 5">
            <a:extLst>
              <a:ext uri="{FF2B5EF4-FFF2-40B4-BE49-F238E27FC236}">
                <a16:creationId xmlns:a16="http://schemas.microsoft.com/office/drawing/2014/main" id="{CFEA1335-FAB0-FDEB-4DD5-E8C8F2F3349F}"/>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4 / 9</a:t>
            </a:r>
          </a:p>
        </p:txBody>
      </p:sp>
      <p:graphicFrame>
        <p:nvGraphicFramePr>
          <p:cNvPr id="7" name="Tableau 6">
            <a:extLst>
              <a:ext uri="{FF2B5EF4-FFF2-40B4-BE49-F238E27FC236}">
                <a16:creationId xmlns:a16="http://schemas.microsoft.com/office/drawing/2014/main" id="{EE0BFD03-A07F-A487-967D-98BC39CB0FCD}"/>
              </a:ext>
            </a:extLst>
          </p:cNvPr>
          <p:cNvGraphicFramePr>
            <a:graphicFrameLocks noGrp="1"/>
          </p:cNvGraphicFramePr>
          <p:nvPr>
            <p:extLst>
              <p:ext uri="{D42A27DB-BD31-4B8C-83A1-F6EECF244321}">
                <p14:modId xmlns:p14="http://schemas.microsoft.com/office/powerpoint/2010/main" val="419892767"/>
              </p:ext>
            </p:extLst>
          </p:nvPr>
        </p:nvGraphicFramePr>
        <p:xfrm>
          <a:off x="457200" y="1066800"/>
          <a:ext cx="11277600" cy="3048000"/>
        </p:xfrm>
        <a:graphic>
          <a:graphicData uri="http://schemas.openxmlformats.org/drawingml/2006/table">
            <a:tbl>
              <a:tblPr firstRow="1" bandRow="1">
                <a:tableStyleId>{5C22544A-7EE6-4342-B048-85BDC9FD1C3A}</a:tableStyleId>
              </a:tblPr>
              <a:tblGrid>
                <a:gridCol w="4191000">
                  <a:extLst>
                    <a:ext uri="{9D8B030D-6E8A-4147-A177-3AD203B41FA5}">
                      <a16:colId xmlns:a16="http://schemas.microsoft.com/office/drawing/2014/main" val="1918618119"/>
                    </a:ext>
                  </a:extLst>
                </a:gridCol>
                <a:gridCol w="2413000">
                  <a:extLst>
                    <a:ext uri="{9D8B030D-6E8A-4147-A177-3AD203B41FA5}">
                      <a16:colId xmlns:a16="http://schemas.microsoft.com/office/drawing/2014/main" val="1083167727"/>
                    </a:ext>
                  </a:extLst>
                </a:gridCol>
                <a:gridCol w="2286000">
                  <a:extLst>
                    <a:ext uri="{9D8B030D-6E8A-4147-A177-3AD203B41FA5}">
                      <a16:colId xmlns:a16="http://schemas.microsoft.com/office/drawing/2014/main" val="3763416880"/>
                    </a:ext>
                  </a:extLst>
                </a:gridCol>
                <a:gridCol w="2387600">
                  <a:extLst>
                    <a:ext uri="{9D8B030D-6E8A-4147-A177-3AD203B41FA5}">
                      <a16:colId xmlns:a16="http://schemas.microsoft.com/office/drawing/2014/main" val="2860832400"/>
                    </a:ext>
                  </a:extLst>
                </a:gridCol>
              </a:tblGrid>
              <a:tr h="508000">
                <a:tc>
                  <a:txBody>
                    <a:bodyPr/>
                    <a:lstStyle/>
                    <a:p>
                      <a:r>
                        <a:rPr lang="fr-FR" sz="1200" b="1">
                          <a:solidFill>
                            <a:srgbClr val="FFFFFF"/>
                          </a:solidFill>
                          <a:latin typeface="Calibri" panose="020F0502020204030204" pitchFamily="34" charset="0"/>
                        </a:rPr>
                        <a:t>Indicateur</a:t>
                      </a:r>
                    </a:p>
                  </a:txBody>
                  <a:tcPr>
                    <a:solidFill>
                      <a:srgbClr val="1A5276"/>
                    </a:solidFill>
                  </a:tcPr>
                </a:tc>
                <a:tc>
                  <a:txBody>
                    <a:bodyPr/>
                    <a:lstStyle/>
                    <a:p>
                      <a:r>
                        <a:rPr lang="fr-FR" sz="1200" b="1">
                          <a:solidFill>
                            <a:srgbClr val="FFFFFF"/>
                          </a:solidFill>
                          <a:latin typeface="Calibri" panose="020F0502020204030204" pitchFamily="34" charset="0"/>
                        </a:rPr>
                        <a:t>Aujourd'hui</a:t>
                      </a:r>
                    </a:p>
                  </a:txBody>
                  <a:tcPr>
                    <a:solidFill>
                      <a:srgbClr val="1A5276"/>
                    </a:solidFill>
                  </a:tcPr>
                </a:tc>
                <a:tc>
                  <a:txBody>
                    <a:bodyPr/>
                    <a:lstStyle/>
                    <a:p>
                      <a:r>
                        <a:rPr lang="fr-FR" sz="1200" b="1">
                          <a:solidFill>
                            <a:srgbClr val="FFFFFF"/>
                          </a:solidFill>
                          <a:latin typeface="Calibri" panose="020F0502020204030204" pitchFamily="34" charset="0"/>
                        </a:rPr>
                        <a:t>Cible en S12</a:t>
                      </a:r>
                    </a:p>
                  </a:txBody>
                  <a:tcPr>
                    <a:solidFill>
                      <a:srgbClr val="1A5276"/>
                    </a:solidFill>
                  </a:tcPr>
                </a:tc>
                <a:tc>
                  <a:txBody>
                    <a:bodyPr/>
                    <a:lstStyle/>
                    <a:p>
                      <a:r>
                        <a:rPr lang="fr-FR" sz="1200" b="1">
                          <a:solidFill>
                            <a:srgbClr val="FFFFFF"/>
                          </a:solidFill>
                          <a:latin typeface="Calibri" panose="020F0502020204030204" pitchFamily="34" charset="0"/>
                        </a:rPr>
                        <a:t>Catégorie</a:t>
                      </a:r>
                    </a:p>
                  </a:txBody>
                  <a:tcPr>
                    <a:solidFill>
                      <a:srgbClr val="1A5276"/>
                    </a:solidFill>
                  </a:tcPr>
                </a:tc>
                <a:extLst>
                  <a:ext uri="{0D108BD9-81ED-4DB2-BD59-A6C34878D82A}">
                    <a16:rowId xmlns:a16="http://schemas.microsoft.com/office/drawing/2014/main" val="3293524610"/>
                  </a:ext>
                </a:extLst>
              </a:tr>
              <a:tr h="508000">
                <a:tc>
                  <a:txBody>
                    <a:bodyPr/>
                    <a:lstStyle/>
                    <a:p>
                      <a:r>
                        <a:rPr lang="fr-FR" sz="1200" b="0">
                          <a:solidFill>
                            <a:srgbClr val="212121"/>
                          </a:solidFill>
                          <a:latin typeface="Calibri" panose="020F0502020204030204" pitchFamily="34" charset="0"/>
                        </a:rPr>
                        <a:t>Taux d'adoption hebdomadaire</a:t>
                      </a:r>
                    </a:p>
                  </a:txBody>
                  <a:tcPr>
                    <a:solidFill>
                      <a:srgbClr val="FFFFFF"/>
                    </a:solidFill>
                  </a:tcPr>
                </a:tc>
                <a:tc>
                  <a:txBody>
                    <a:bodyPr/>
                    <a:lstStyle/>
                    <a:p>
                      <a:r>
                        <a:rPr lang="fr-FR" sz="1200" b="0">
                          <a:solidFill>
                            <a:srgbClr val="212121"/>
                          </a:solidFill>
                          <a:latin typeface="Calibri" panose="020F0502020204030204" pitchFamily="34" charset="0"/>
                        </a:rPr>
                        <a:t>35 %</a:t>
                      </a:r>
                    </a:p>
                  </a:txBody>
                  <a:tcPr>
                    <a:solidFill>
                      <a:srgbClr val="FFFFFF"/>
                    </a:solidFill>
                  </a:tcPr>
                </a:tc>
                <a:tc>
                  <a:txBody>
                    <a:bodyPr/>
                    <a:lstStyle/>
                    <a:p>
                      <a:r>
                        <a:rPr lang="fr-FR" sz="1200" b="0">
                          <a:solidFill>
                            <a:srgbClr val="212121"/>
                          </a:solidFill>
                          <a:latin typeface="Calibri" panose="020F0502020204030204" pitchFamily="34" charset="0"/>
                        </a:rPr>
                        <a:t>75 %</a:t>
                      </a:r>
                    </a:p>
                  </a:txBody>
                  <a:tcPr>
                    <a:solidFill>
                      <a:srgbClr val="FFFFFF"/>
                    </a:solidFill>
                  </a:tcPr>
                </a:tc>
                <a:tc>
                  <a:txBody>
                    <a:bodyPr/>
                    <a:lstStyle/>
                    <a:p>
                      <a:r>
                        <a:rPr lang="fr-FR" sz="1200" b="0">
                          <a:solidFill>
                            <a:srgbClr val="212121"/>
                          </a:solidFill>
                          <a:latin typeface="Calibri" panose="020F0502020204030204" pitchFamily="34" charset="0"/>
                        </a:rPr>
                        <a:t>Adoption</a:t>
                      </a:r>
                    </a:p>
                  </a:txBody>
                  <a:tcPr>
                    <a:solidFill>
                      <a:srgbClr val="FFFFFF"/>
                    </a:solidFill>
                  </a:tcPr>
                </a:tc>
                <a:extLst>
                  <a:ext uri="{0D108BD9-81ED-4DB2-BD59-A6C34878D82A}">
                    <a16:rowId xmlns:a16="http://schemas.microsoft.com/office/drawing/2014/main" val="2053086480"/>
                  </a:ext>
                </a:extLst>
              </a:tr>
              <a:tr h="508000">
                <a:tc>
                  <a:txBody>
                    <a:bodyPr/>
                    <a:lstStyle/>
                    <a:p>
                      <a:r>
                        <a:rPr lang="fr-FR" sz="1200" b="0">
                          <a:solidFill>
                            <a:srgbClr val="212121"/>
                          </a:solidFill>
                          <a:latin typeface="Calibri" panose="020F0502020204030204" pitchFamily="34" charset="0"/>
                        </a:rPr>
                        <a:t>Temps pour comprendre une alerte</a:t>
                      </a:r>
                    </a:p>
                  </a:txBody>
                  <a:tcPr>
                    <a:solidFill>
                      <a:srgbClr val="EEF3F8"/>
                    </a:solidFill>
                  </a:tcPr>
                </a:tc>
                <a:tc>
                  <a:txBody>
                    <a:bodyPr/>
                    <a:lstStyle/>
                    <a:p>
                      <a:r>
                        <a:rPr lang="fr-FR" sz="1200" b="0">
                          <a:solidFill>
                            <a:srgbClr val="212121"/>
                          </a:solidFill>
                          <a:latin typeface="Calibri" panose="020F0502020204030204" pitchFamily="34" charset="0"/>
                        </a:rPr>
                        <a:t>5 minutes</a:t>
                      </a:r>
                    </a:p>
                  </a:txBody>
                  <a:tcPr>
                    <a:solidFill>
                      <a:srgbClr val="EEF3F8"/>
                    </a:solidFill>
                  </a:tcPr>
                </a:tc>
                <a:tc>
                  <a:txBody>
                    <a:bodyPr/>
                    <a:lstStyle/>
                    <a:p>
                      <a:r>
                        <a:rPr lang="fr-FR" sz="1200" b="0">
                          <a:solidFill>
                            <a:srgbClr val="212121"/>
                          </a:solidFill>
                          <a:latin typeface="Calibri" panose="020F0502020204030204" pitchFamily="34" charset="0"/>
                        </a:rPr>
                        <a:t>2 minutes</a:t>
                      </a:r>
                    </a:p>
                  </a:txBody>
                  <a:tcPr>
                    <a:solidFill>
                      <a:srgbClr val="EEF3F8"/>
                    </a:solidFill>
                  </a:tcPr>
                </a:tc>
                <a:tc>
                  <a:txBody>
                    <a:bodyPr/>
                    <a:lstStyle/>
                    <a:p>
                      <a:r>
                        <a:rPr lang="fr-FR" sz="1200" b="0">
                          <a:solidFill>
                            <a:srgbClr val="212121"/>
                          </a:solidFill>
                          <a:latin typeface="Calibri" panose="020F0502020204030204" pitchFamily="34" charset="0"/>
                        </a:rPr>
                        <a:t>Adoption</a:t>
                      </a:r>
                    </a:p>
                  </a:txBody>
                  <a:tcPr>
                    <a:solidFill>
                      <a:srgbClr val="EEF3F8"/>
                    </a:solidFill>
                  </a:tcPr>
                </a:tc>
                <a:extLst>
                  <a:ext uri="{0D108BD9-81ED-4DB2-BD59-A6C34878D82A}">
                    <a16:rowId xmlns:a16="http://schemas.microsoft.com/office/drawing/2014/main" val="2371016340"/>
                  </a:ext>
                </a:extLst>
              </a:tr>
              <a:tr h="508000">
                <a:tc>
                  <a:txBody>
                    <a:bodyPr/>
                    <a:lstStyle/>
                    <a:p>
                      <a:r>
                        <a:rPr lang="fr-FR" sz="1200" b="0">
                          <a:solidFill>
                            <a:srgbClr val="212121"/>
                          </a:solidFill>
                          <a:latin typeface="Calibri" panose="020F0502020204030204" pitchFamily="34" charset="0"/>
                        </a:rPr>
                        <a:t>Fausses alertes perçues</a:t>
                      </a:r>
                    </a:p>
                  </a:txBody>
                  <a:tcPr>
                    <a:solidFill>
                      <a:srgbClr val="FFFFFF"/>
                    </a:solidFill>
                  </a:tcPr>
                </a:tc>
                <a:tc>
                  <a:txBody>
                    <a:bodyPr/>
                    <a:lstStyle/>
                    <a:p>
                      <a:r>
                        <a:rPr lang="fr-FR" sz="1200" b="0">
                          <a:solidFill>
                            <a:srgbClr val="212121"/>
                          </a:solidFill>
                          <a:latin typeface="Calibri" panose="020F0502020204030204" pitchFamily="34" charset="0"/>
                        </a:rPr>
                        <a:t>28 %</a:t>
                      </a:r>
                    </a:p>
                  </a:txBody>
                  <a:tcPr>
                    <a:solidFill>
                      <a:srgbClr val="FFFFFF"/>
                    </a:solidFill>
                  </a:tcPr>
                </a:tc>
                <a:tc>
                  <a:txBody>
                    <a:bodyPr/>
                    <a:lstStyle/>
                    <a:p>
                      <a:r>
                        <a:rPr lang="fr-FR" sz="1200" b="0">
                          <a:solidFill>
                            <a:srgbClr val="212121"/>
                          </a:solidFill>
                          <a:latin typeface="Calibri" panose="020F0502020204030204" pitchFamily="34" charset="0"/>
                        </a:rPr>
                        <a:t>15 %</a:t>
                      </a:r>
                    </a:p>
                  </a:txBody>
                  <a:tcPr>
                    <a:solidFill>
                      <a:srgbClr val="FFFFFF"/>
                    </a:solidFill>
                  </a:tcPr>
                </a:tc>
                <a:tc>
                  <a:txBody>
                    <a:bodyPr/>
                    <a:lstStyle/>
                    <a:p>
                      <a:r>
                        <a:rPr lang="fr-FR" sz="1200" b="0">
                          <a:solidFill>
                            <a:srgbClr val="212121"/>
                          </a:solidFill>
                          <a:latin typeface="Calibri" panose="020F0502020204030204" pitchFamily="34" charset="0"/>
                        </a:rPr>
                        <a:t>Produit</a:t>
                      </a:r>
                    </a:p>
                  </a:txBody>
                  <a:tcPr>
                    <a:solidFill>
                      <a:srgbClr val="FFFFFF"/>
                    </a:solidFill>
                  </a:tcPr>
                </a:tc>
                <a:extLst>
                  <a:ext uri="{0D108BD9-81ED-4DB2-BD59-A6C34878D82A}">
                    <a16:rowId xmlns:a16="http://schemas.microsoft.com/office/drawing/2014/main" val="2811011654"/>
                  </a:ext>
                </a:extLst>
              </a:tr>
              <a:tr h="508000">
                <a:tc>
                  <a:txBody>
                    <a:bodyPr/>
                    <a:lstStyle/>
                    <a:p>
                      <a:r>
                        <a:rPr lang="fr-FR" sz="1200" b="0">
                          <a:solidFill>
                            <a:srgbClr val="212121"/>
                          </a:solidFill>
                          <a:latin typeface="Calibri" panose="020F0502020204030204" pitchFamily="34" charset="0"/>
                        </a:rPr>
                        <a:t>Jalons tenus</a:t>
                      </a:r>
                    </a:p>
                  </a:txBody>
                  <a:tcPr>
                    <a:solidFill>
                      <a:srgbClr val="EEF3F8"/>
                    </a:solidFill>
                  </a:tcPr>
                </a:tc>
                <a:tc>
                  <a:txBody>
                    <a:bodyPr/>
                    <a:lstStyle/>
                    <a:p>
                      <a:r>
                        <a:rPr lang="fr-FR" sz="1200" b="0">
                          <a:solidFill>
                            <a:srgbClr val="212121"/>
                          </a:solidFill>
                          <a:latin typeface="Calibri" panose="020F0502020204030204" pitchFamily="34" charset="0"/>
                        </a:rPr>
                        <a:t>mesure en cours de projet</a:t>
                      </a:r>
                    </a:p>
                  </a:txBody>
                  <a:tcPr>
                    <a:solidFill>
                      <a:srgbClr val="EEF3F8"/>
                    </a:solidFill>
                  </a:tcPr>
                </a:tc>
                <a:tc>
                  <a:txBody>
                    <a:bodyPr/>
                    <a:lstStyle/>
                    <a:p>
                      <a:r>
                        <a:rPr lang="fr-FR" sz="1200" b="0">
                          <a:solidFill>
                            <a:srgbClr val="212121"/>
                          </a:solidFill>
                          <a:latin typeface="Calibri" panose="020F0502020204030204" pitchFamily="34" charset="0"/>
                        </a:rPr>
                        <a:t>85 % minimum</a:t>
                      </a:r>
                    </a:p>
                  </a:txBody>
                  <a:tcPr>
                    <a:solidFill>
                      <a:srgbClr val="EEF3F8"/>
                    </a:solidFill>
                  </a:tcPr>
                </a:tc>
                <a:tc>
                  <a:txBody>
                    <a:bodyPr/>
                    <a:lstStyle/>
                    <a:p>
                      <a:r>
                        <a:rPr lang="fr-FR" sz="1200" b="0">
                          <a:solidFill>
                            <a:srgbClr val="212121"/>
                          </a:solidFill>
                          <a:latin typeface="Calibri" panose="020F0502020204030204" pitchFamily="34" charset="0"/>
                        </a:rPr>
                        <a:t>Projet</a:t>
                      </a:r>
                    </a:p>
                  </a:txBody>
                  <a:tcPr>
                    <a:solidFill>
                      <a:srgbClr val="EEF3F8"/>
                    </a:solidFill>
                  </a:tcPr>
                </a:tc>
                <a:extLst>
                  <a:ext uri="{0D108BD9-81ED-4DB2-BD59-A6C34878D82A}">
                    <a16:rowId xmlns:a16="http://schemas.microsoft.com/office/drawing/2014/main" val="3743873276"/>
                  </a:ext>
                </a:extLst>
              </a:tr>
              <a:tr h="508000">
                <a:tc>
                  <a:txBody>
                    <a:bodyPr/>
                    <a:lstStyle/>
                    <a:p>
                      <a:r>
                        <a:rPr lang="fr-FR" sz="1200" b="0">
                          <a:solidFill>
                            <a:srgbClr val="212121"/>
                          </a:solidFill>
                          <a:latin typeface="Calibri" panose="020F0502020204030204" pitchFamily="34" charset="0"/>
                        </a:rPr>
                        <a:t>Empreinte numerique</a:t>
                      </a:r>
                    </a:p>
                  </a:txBody>
                  <a:tcPr>
                    <a:solidFill>
                      <a:srgbClr val="FFFFFF"/>
                    </a:solidFill>
                  </a:tcPr>
                </a:tc>
                <a:tc>
                  <a:txBody>
                    <a:bodyPr/>
                    <a:lstStyle/>
                    <a:p>
                      <a:r>
                        <a:rPr lang="fr-FR" sz="1200" b="0">
                          <a:solidFill>
                            <a:srgbClr val="212121"/>
                          </a:solidFill>
                          <a:latin typeface="Calibri" panose="020F0502020204030204" pitchFamily="34" charset="0"/>
                        </a:rPr>
                        <a:t>formule définie en S4</a:t>
                      </a:r>
                    </a:p>
                  </a:txBody>
                  <a:tcPr>
                    <a:solidFill>
                      <a:srgbClr val="FFFFFF"/>
                    </a:solidFill>
                  </a:tcPr>
                </a:tc>
                <a:tc>
                  <a:txBody>
                    <a:bodyPr/>
                    <a:lstStyle/>
                    <a:p>
                      <a:r>
                        <a:rPr lang="fr-FR" sz="1200" b="0">
                          <a:solidFill>
                            <a:srgbClr val="212121"/>
                          </a:solidFill>
                          <a:latin typeface="Calibri" panose="020F0502020204030204" pitchFamily="34" charset="0"/>
                        </a:rPr>
                        <a:t>suivi mensuel</a:t>
                      </a:r>
                    </a:p>
                  </a:txBody>
                  <a:tcPr>
                    <a:solidFill>
                      <a:srgbClr val="FFFFFF"/>
                    </a:solidFill>
                  </a:tcPr>
                </a:tc>
                <a:tc>
                  <a:txBody>
                    <a:bodyPr/>
                    <a:lstStyle/>
                    <a:p>
                      <a:r>
                        <a:rPr lang="fr-FR" sz="1200" b="0">
                          <a:solidFill>
                            <a:srgbClr val="212121"/>
                          </a:solidFill>
                          <a:latin typeface="Calibri" panose="020F0502020204030204" pitchFamily="34" charset="0"/>
                        </a:rPr>
                        <a:t>RSE</a:t>
                      </a:r>
                    </a:p>
                  </a:txBody>
                  <a:tcPr>
                    <a:solidFill>
                      <a:srgbClr val="FFFFFF"/>
                    </a:solidFill>
                  </a:tcPr>
                </a:tc>
                <a:extLst>
                  <a:ext uri="{0D108BD9-81ED-4DB2-BD59-A6C34878D82A}">
                    <a16:rowId xmlns:a16="http://schemas.microsoft.com/office/drawing/2014/main" val="2972153781"/>
                  </a:ext>
                </a:extLst>
              </a:tr>
            </a:tbl>
          </a:graphicData>
        </a:graphic>
      </p:graphicFrame>
      <p:sp>
        <p:nvSpPr>
          <p:cNvPr id="8" name="ZoneTexte 7">
            <a:extLst>
              <a:ext uri="{FF2B5EF4-FFF2-40B4-BE49-F238E27FC236}">
                <a16:creationId xmlns:a16="http://schemas.microsoft.com/office/drawing/2014/main" id="{952FA3D0-1D45-C828-CE2D-9BB5B1930DC2}"/>
              </a:ext>
            </a:extLst>
          </p:cNvPr>
          <p:cNvSpPr txBox="1"/>
          <p:nvPr/>
        </p:nvSpPr>
        <p:spPr>
          <a:xfrm>
            <a:off x="457200" y="4445000"/>
            <a:ext cx="11277600" cy="692497"/>
          </a:xfrm>
          <a:prstGeom prst="rect">
            <a:avLst/>
          </a:prstGeom>
          <a:noFill/>
        </p:spPr>
        <p:txBody>
          <a:bodyPr vert="horz" wrap="square" rtlCol="0">
            <a:spAutoFit/>
          </a:bodyPr>
          <a:lstStyle/>
          <a:p>
            <a:r>
              <a:rPr lang="fr-FR" sz="1300">
                <a:solidFill>
                  <a:srgbClr val="212121"/>
                </a:solidFill>
                <a:latin typeface="Calibri" panose="020F0502020204030204" pitchFamily="34" charset="0"/>
              </a:rPr>
              <a:t>Je n'ai rien inventé : toutes les valeurs de départ et les cibles viennent du dossier fourni par la direction. En tant que Lead Data, ma garantie est la suivante : chaque indicateur a un responsable désigné, une formule documentée au glossaire et une action prévue en cas de dérive. L'engagement environnemental est tenu : l'indicateur d'empreinte numerique est defini en semaine 4, puis suivi chaque mois.</a:t>
            </a:r>
          </a:p>
        </p:txBody>
      </p:sp>
    </p:spTree>
    <p:extLst>
      <p:ext uri="{BB962C8B-B14F-4D97-AF65-F5344CB8AC3E}">
        <p14:creationId xmlns:p14="http://schemas.microsoft.com/office/powerpoint/2010/main" val="12520423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729EDEC-9B25-EB68-4375-045701678421}"/>
              </a:ext>
            </a:extLst>
          </p:cNvPr>
          <p:cNvSpPr/>
          <p:nvPr/>
        </p:nvSpPr>
        <p:spPr>
          <a:xfrm>
            <a:off x="0" y="0"/>
            <a:ext cx="12192000" cy="812800"/>
          </a:xfrm>
          <a:prstGeom prst="rect">
            <a:avLst/>
          </a:prstGeom>
          <a:solidFill>
            <a:srgbClr val="1A52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D9647457-9EAA-5BFC-0411-B606A98B3F89}"/>
              </a:ext>
            </a:extLst>
          </p:cNvPr>
          <p:cNvSpPr txBox="1"/>
          <p:nvPr/>
        </p:nvSpPr>
        <p:spPr>
          <a:xfrm>
            <a:off x="457200" y="101600"/>
            <a:ext cx="11176000" cy="446276"/>
          </a:xfrm>
          <a:prstGeom prst="rect">
            <a:avLst/>
          </a:prstGeom>
          <a:noFill/>
        </p:spPr>
        <p:txBody>
          <a:bodyPr vert="horz" wrap="square" rtlCol="0">
            <a:spAutoFit/>
          </a:bodyPr>
          <a:lstStyle/>
          <a:p>
            <a:r>
              <a:rPr lang="fr-FR" sz="2300" b="1">
                <a:solidFill>
                  <a:srgbClr val="FFFFFF"/>
                </a:solidFill>
                <a:latin typeface="Calibri" panose="020F0502020204030204" pitchFamily="34" charset="0"/>
              </a:rPr>
              <a:t>Risques : les 3 majeurs et leurs parades</a:t>
            </a:r>
          </a:p>
        </p:txBody>
      </p:sp>
      <p:sp>
        <p:nvSpPr>
          <p:cNvPr id="4" name="ZoneTexte 3">
            <a:extLst>
              <a:ext uri="{FF2B5EF4-FFF2-40B4-BE49-F238E27FC236}">
                <a16:creationId xmlns:a16="http://schemas.microsoft.com/office/drawing/2014/main" id="{5E3E45B6-9188-F6C8-5713-4547F6328E5C}"/>
              </a:ext>
            </a:extLst>
          </p:cNvPr>
          <p:cNvSpPr txBox="1"/>
          <p:nvPr/>
        </p:nvSpPr>
        <p:spPr>
          <a:xfrm>
            <a:off x="457200" y="482600"/>
            <a:ext cx="11430000" cy="276999"/>
          </a:xfrm>
          <a:prstGeom prst="rect">
            <a:avLst/>
          </a:prstGeom>
          <a:noFill/>
        </p:spPr>
        <p:txBody>
          <a:bodyPr vert="horz" wrap="square" rtlCol="0">
            <a:spAutoFit/>
          </a:bodyPr>
          <a:lstStyle/>
          <a:p>
            <a:r>
              <a:rPr lang="fr-FR" sz="1200">
                <a:solidFill>
                  <a:srgbClr val="EEF3F8"/>
                </a:solidFill>
                <a:latin typeface="Calibri" panose="020F0502020204030204" pitchFamily="34" charset="0"/>
              </a:rPr>
              <a:t>6 risques documentés au registre ; chaque risque a une parade et un plan B à seuil défini</a:t>
            </a:r>
          </a:p>
        </p:txBody>
      </p:sp>
      <p:sp>
        <p:nvSpPr>
          <p:cNvPr id="5" name="ZoneTexte 4">
            <a:extLst>
              <a:ext uri="{FF2B5EF4-FFF2-40B4-BE49-F238E27FC236}">
                <a16:creationId xmlns:a16="http://schemas.microsoft.com/office/drawing/2014/main" id="{FC4BBF25-BEE5-BA8A-FE4B-B81EB2426188}"/>
              </a:ext>
            </a:extLst>
          </p:cNvPr>
          <p:cNvSpPr txBox="1"/>
          <p:nvPr/>
        </p:nvSpPr>
        <p:spPr>
          <a:xfrm>
            <a:off x="457200" y="6527800"/>
            <a:ext cx="76200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Ouassim Megrad  ·  Lead Data  ·  équipe Megslab</a:t>
            </a:r>
          </a:p>
        </p:txBody>
      </p:sp>
      <p:sp>
        <p:nvSpPr>
          <p:cNvPr id="6" name="ZoneTexte 5">
            <a:extLst>
              <a:ext uri="{FF2B5EF4-FFF2-40B4-BE49-F238E27FC236}">
                <a16:creationId xmlns:a16="http://schemas.microsoft.com/office/drawing/2014/main" id="{58A6EF25-FC68-28E1-181C-A2DA45615383}"/>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5 / 9</a:t>
            </a:r>
          </a:p>
        </p:txBody>
      </p:sp>
      <p:graphicFrame>
        <p:nvGraphicFramePr>
          <p:cNvPr id="7" name="Tableau 6">
            <a:extLst>
              <a:ext uri="{FF2B5EF4-FFF2-40B4-BE49-F238E27FC236}">
                <a16:creationId xmlns:a16="http://schemas.microsoft.com/office/drawing/2014/main" id="{9CB08731-C0C8-1A4A-B8C3-B7A3C89FA6FA}"/>
              </a:ext>
            </a:extLst>
          </p:cNvPr>
          <p:cNvGraphicFramePr>
            <a:graphicFrameLocks noGrp="1"/>
          </p:cNvGraphicFramePr>
          <p:nvPr>
            <p:extLst>
              <p:ext uri="{D42A27DB-BD31-4B8C-83A1-F6EECF244321}">
                <p14:modId xmlns:p14="http://schemas.microsoft.com/office/powerpoint/2010/main" val="1742180757"/>
              </p:ext>
            </p:extLst>
          </p:nvPr>
        </p:nvGraphicFramePr>
        <p:xfrm>
          <a:off x="457200" y="1066800"/>
          <a:ext cx="11277600" cy="2032000"/>
        </p:xfrm>
        <a:graphic>
          <a:graphicData uri="http://schemas.openxmlformats.org/drawingml/2006/table">
            <a:tbl>
              <a:tblPr firstRow="1" bandRow="1">
                <a:tableStyleId>{5C22544A-7EE6-4342-B048-85BDC9FD1C3A}</a:tableStyleId>
              </a:tblPr>
              <a:tblGrid>
                <a:gridCol w="2667000">
                  <a:extLst>
                    <a:ext uri="{9D8B030D-6E8A-4147-A177-3AD203B41FA5}">
                      <a16:colId xmlns:a16="http://schemas.microsoft.com/office/drawing/2014/main" val="1968426629"/>
                    </a:ext>
                  </a:extLst>
                </a:gridCol>
                <a:gridCol w="889000">
                  <a:extLst>
                    <a:ext uri="{9D8B030D-6E8A-4147-A177-3AD203B41FA5}">
                      <a16:colId xmlns:a16="http://schemas.microsoft.com/office/drawing/2014/main" val="1963380794"/>
                    </a:ext>
                  </a:extLst>
                </a:gridCol>
                <a:gridCol w="3810000">
                  <a:extLst>
                    <a:ext uri="{9D8B030D-6E8A-4147-A177-3AD203B41FA5}">
                      <a16:colId xmlns:a16="http://schemas.microsoft.com/office/drawing/2014/main" val="2791513962"/>
                    </a:ext>
                  </a:extLst>
                </a:gridCol>
                <a:gridCol w="3911600">
                  <a:extLst>
                    <a:ext uri="{9D8B030D-6E8A-4147-A177-3AD203B41FA5}">
                      <a16:colId xmlns:a16="http://schemas.microsoft.com/office/drawing/2014/main" val="4228284019"/>
                    </a:ext>
                  </a:extLst>
                </a:gridCol>
              </a:tblGrid>
              <a:tr h="508000">
                <a:tc>
                  <a:txBody>
                    <a:bodyPr/>
                    <a:lstStyle/>
                    <a:p>
                      <a:r>
                        <a:rPr lang="fr-FR" sz="1200" b="1">
                          <a:solidFill>
                            <a:srgbClr val="FFFFFF"/>
                          </a:solidFill>
                          <a:latin typeface="Calibri" panose="020F0502020204030204" pitchFamily="34" charset="0"/>
                        </a:rPr>
                        <a:t>Risque</a:t>
                      </a:r>
                    </a:p>
                  </a:txBody>
                  <a:tcPr>
                    <a:solidFill>
                      <a:srgbClr val="1A5276"/>
                    </a:solidFill>
                  </a:tcPr>
                </a:tc>
                <a:tc>
                  <a:txBody>
                    <a:bodyPr/>
                    <a:lstStyle/>
                    <a:p>
                      <a:r>
                        <a:rPr lang="fr-FR" sz="1200" b="1">
                          <a:solidFill>
                            <a:srgbClr val="FFFFFF"/>
                          </a:solidFill>
                          <a:latin typeface="Calibri" panose="020F0502020204030204" pitchFamily="34" charset="0"/>
                        </a:rPr>
                        <a:t>Niveau</a:t>
                      </a:r>
                    </a:p>
                  </a:txBody>
                  <a:tcPr>
                    <a:solidFill>
                      <a:srgbClr val="1A5276"/>
                    </a:solidFill>
                  </a:tcPr>
                </a:tc>
                <a:tc>
                  <a:txBody>
                    <a:bodyPr/>
                    <a:lstStyle/>
                    <a:p>
                      <a:r>
                        <a:rPr lang="fr-FR" sz="1200" b="1">
                          <a:solidFill>
                            <a:srgbClr val="FFFFFF"/>
                          </a:solidFill>
                          <a:latin typeface="Calibri" panose="020F0502020204030204" pitchFamily="34" charset="0"/>
                        </a:rPr>
                        <a:t>Parade préventive</a:t>
                      </a:r>
                    </a:p>
                  </a:txBody>
                  <a:tcPr>
                    <a:solidFill>
                      <a:srgbClr val="1A5276"/>
                    </a:solidFill>
                  </a:tcPr>
                </a:tc>
                <a:tc>
                  <a:txBody>
                    <a:bodyPr/>
                    <a:lstStyle/>
                    <a:p>
                      <a:r>
                        <a:rPr lang="fr-FR" sz="1200" b="1">
                          <a:solidFill>
                            <a:srgbClr val="FFFFFF"/>
                          </a:solidFill>
                          <a:latin typeface="Calibri" panose="020F0502020204030204" pitchFamily="34" charset="0"/>
                        </a:rPr>
                        <a:t>Plan B (seuil défini à l'avance)</a:t>
                      </a:r>
                    </a:p>
                  </a:txBody>
                  <a:tcPr>
                    <a:solidFill>
                      <a:srgbClr val="1A5276"/>
                    </a:solidFill>
                  </a:tcPr>
                </a:tc>
                <a:extLst>
                  <a:ext uri="{0D108BD9-81ED-4DB2-BD59-A6C34878D82A}">
                    <a16:rowId xmlns:a16="http://schemas.microsoft.com/office/drawing/2014/main" val="345225903"/>
                  </a:ext>
                </a:extLst>
              </a:tr>
              <a:tr h="508000">
                <a:tc>
                  <a:txBody>
                    <a:bodyPr/>
                    <a:lstStyle/>
                    <a:p>
                      <a:r>
                        <a:rPr lang="fr-FR" sz="1200" b="0">
                          <a:solidFill>
                            <a:srgbClr val="212121"/>
                          </a:solidFill>
                          <a:latin typeface="Calibri" panose="020F0502020204030204" pitchFamily="34" charset="0"/>
                        </a:rPr>
                        <a:t>Non-adoption par les agents</a:t>
                      </a:r>
                    </a:p>
                  </a:txBody>
                  <a:tcPr>
                    <a:solidFill>
                      <a:srgbClr val="FFFFFF"/>
                    </a:solidFill>
                  </a:tcPr>
                </a:tc>
                <a:tc>
                  <a:txBody>
                    <a:bodyPr/>
                    <a:lstStyle/>
                    <a:p>
                      <a:r>
                        <a:rPr lang="fr-FR" sz="1200" b="1">
                          <a:solidFill>
                            <a:srgbClr val="CA6F1E"/>
                          </a:solidFill>
                          <a:latin typeface="Calibri" panose="020F0502020204030204" pitchFamily="34" charset="0"/>
                        </a:rPr>
                        <a:t>ÉLEVÉ</a:t>
                      </a:r>
                    </a:p>
                  </a:txBody>
                  <a:tcPr>
                    <a:solidFill>
                      <a:srgbClr val="FFFFFF"/>
                    </a:solidFill>
                  </a:tcPr>
                </a:tc>
                <a:tc>
                  <a:txBody>
                    <a:bodyPr/>
                    <a:lstStyle/>
                    <a:p>
                      <a:r>
                        <a:rPr lang="fr-FR" sz="1200" b="0">
                          <a:solidFill>
                            <a:srgbClr val="212121"/>
                          </a:solidFill>
                          <a:latin typeface="Calibri" panose="020F0502020204030204" pitchFamily="34" charset="0"/>
                        </a:rPr>
                        <a:t>Formations courtes, co-construction avec le terrain, canal de retours structuré</a:t>
                      </a:r>
                    </a:p>
                  </a:txBody>
                  <a:tcPr>
                    <a:solidFill>
                      <a:srgbClr val="FFFFFF"/>
                    </a:solidFill>
                  </a:tcPr>
                </a:tc>
                <a:tc>
                  <a:txBody>
                    <a:bodyPr/>
                    <a:lstStyle/>
                    <a:p>
                      <a:r>
                        <a:rPr lang="fr-FR" sz="1200" b="0">
                          <a:solidFill>
                            <a:srgbClr val="212121"/>
                          </a:solidFill>
                          <a:latin typeface="Calibri" panose="020F0502020204030204" pitchFamily="34" charset="0"/>
                        </a:rPr>
                        <a:t>Adoption sous 50 % en S8 : ateliers ciblés et accompagnement en binôme</a:t>
                      </a:r>
                    </a:p>
                  </a:txBody>
                  <a:tcPr>
                    <a:solidFill>
                      <a:srgbClr val="FFFFFF"/>
                    </a:solidFill>
                  </a:tcPr>
                </a:tc>
                <a:extLst>
                  <a:ext uri="{0D108BD9-81ED-4DB2-BD59-A6C34878D82A}">
                    <a16:rowId xmlns:a16="http://schemas.microsoft.com/office/drawing/2014/main" val="872594074"/>
                  </a:ext>
                </a:extLst>
              </a:tr>
              <a:tr h="508000">
                <a:tc>
                  <a:txBody>
                    <a:bodyPr/>
                    <a:lstStyle/>
                    <a:p>
                      <a:r>
                        <a:rPr lang="fr-FR" sz="1200" b="0">
                          <a:solidFill>
                            <a:srgbClr val="212121"/>
                          </a:solidFill>
                          <a:latin typeface="Calibri" panose="020F0502020204030204" pitchFamily="34" charset="0"/>
                        </a:rPr>
                        <a:t>Conflits de priorités IT et métier</a:t>
                      </a:r>
                    </a:p>
                  </a:txBody>
                  <a:tcPr>
                    <a:solidFill>
                      <a:srgbClr val="EEF3F8"/>
                    </a:solidFill>
                  </a:tcPr>
                </a:tc>
                <a:tc>
                  <a:txBody>
                    <a:bodyPr/>
                    <a:lstStyle/>
                    <a:p>
                      <a:r>
                        <a:rPr lang="fr-FR" sz="1200" b="1">
                          <a:solidFill>
                            <a:srgbClr val="CA6F1E"/>
                          </a:solidFill>
                          <a:latin typeface="Calibri" panose="020F0502020204030204" pitchFamily="34" charset="0"/>
                        </a:rPr>
                        <a:t>ÉLEVÉ</a:t>
                      </a:r>
                    </a:p>
                  </a:txBody>
                  <a:tcPr>
                    <a:solidFill>
                      <a:srgbClr val="EEF3F8"/>
                    </a:solidFill>
                  </a:tcPr>
                </a:tc>
                <a:tc>
                  <a:txBody>
                    <a:bodyPr/>
                    <a:lstStyle/>
                    <a:p>
                      <a:r>
                        <a:rPr lang="fr-FR" sz="1200" b="0">
                          <a:solidFill>
                            <a:srgbClr val="212121"/>
                          </a:solidFill>
                          <a:latin typeface="Calibri" panose="020F0502020204030204" pitchFamily="34" charset="0"/>
                        </a:rPr>
                        <a:t>Comité d'arbitrage hebdomadaire, backlog justifié par écrit</a:t>
                      </a:r>
                    </a:p>
                  </a:txBody>
                  <a:tcPr>
                    <a:solidFill>
                      <a:srgbClr val="EEF3F8"/>
                    </a:solidFill>
                  </a:tcPr>
                </a:tc>
                <a:tc>
                  <a:txBody>
                    <a:bodyPr/>
                    <a:lstStyle/>
                    <a:p>
                      <a:r>
                        <a:rPr lang="fr-FR" sz="1200" b="0">
                          <a:solidFill>
                            <a:srgbClr val="212121"/>
                          </a:solidFill>
                          <a:latin typeface="Calibri" panose="020F0502020204030204" pitchFamily="34" charset="0"/>
                        </a:rPr>
                        <a:t>Escalade à la direction avec dossier d'arbitrage documenté</a:t>
                      </a:r>
                    </a:p>
                  </a:txBody>
                  <a:tcPr>
                    <a:solidFill>
                      <a:srgbClr val="EEF3F8"/>
                    </a:solidFill>
                  </a:tcPr>
                </a:tc>
                <a:extLst>
                  <a:ext uri="{0D108BD9-81ED-4DB2-BD59-A6C34878D82A}">
                    <a16:rowId xmlns:a16="http://schemas.microsoft.com/office/drawing/2014/main" val="3334724315"/>
                  </a:ext>
                </a:extLst>
              </a:tr>
              <a:tr h="508000">
                <a:tc>
                  <a:txBody>
                    <a:bodyPr/>
                    <a:lstStyle/>
                    <a:p>
                      <a:r>
                        <a:rPr lang="fr-FR" sz="1200" b="0">
                          <a:solidFill>
                            <a:srgbClr val="212121"/>
                          </a:solidFill>
                          <a:latin typeface="Calibri" panose="020F0502020204030204" pitchFamily="34" charset="0"/>
                        </a:rPr>
                        <a:t>Accessibilité insuffisante</a:t>
                      </a:r>
                    </a:p>
                  </a:txBody>
                  <a:tcPr>
                    <a:solidFill>
                      <a:srgbClr val="FFFFFF"/>
                    </a:solidFill>
                  </a:tcPr>
                </a:tc>
                <a:tc>
                  <a:txBody>
                    <a:bodyPr/>
                    <a:lstStyle/>
                    <a:p>
                      <a:r>
                        <a:rPr lang="fr-FR" sz="1200" b="1">
                          <a:solidFill>
                            <a:srgbClr val="CA6F1E"/>
                          </a:solidFill>
                          <a:latin typeface="Calibri" panose="020F0502020204030204" pitchFamily="34" charset="0"/>
                        </a:rPr>
                        <a:t>ÉLEVÉ</a:t>
                      </a:r>
                    </a:p>
                  </a:txBody>
                  <a:tcPr>
                    <a:solidFill>
                      <a:srgbClr val="FFFFFF"/>
                    </a:solidFill>
                  </a:tcPr>
                </a:tc>
                <a:tc>
                  <a:txBody>
                    <a:bodyPr/>
                    <a:lstStyle/>
                    <a:p>
                      <a:r>
                        <a:rPr lang="fr-FR" sz="1200" b="0">
                          <a:solidFill>
                            <a:srgbClr val="212121"/>
                          </a:solidFill>
                          <a:latin typeface="Calibri" panose="020F0502020204030204" pitchFamily="34" charset="0"/>
                        </a:rPr>
                        <a:t>Validation de chaque support avant diffusion par le référent</a:t>
                      </a:r>
                    </a:p>
                  </a:txBody>
                  <a:tcPr>
                    <a:solidFill>
                      <a:srgbClr val="FFFFFF"/>
                    </a:solidFill>
                  </a:tcPr>
                </a:tc>
                <a:tc>
                  <a:txBody>
                    <a:bodyPr/>
                    <a:lstStyle/>
                    <a:p>
                      <a:r>
                        <a:rPr lang="fr-FR" sz="1200" b="0">
                          <a:solidFill>
                            <a:srgbClr val="212121"/>
                          </a:solidFill>
                          <a:latin typeface="Calibri" panose="020F0502020204030204" pitchFamily="34" charset="0"/>
                        </a:rPr>
                        <a:t>Remédiation prioritaire et formats alternatifs immédiats</a:t>
                      </a:r>
                    </a:p>
                  </a:txBody>
                  <a:tcPr>
                    <a:solidFill>
                      <a:srgbClr val="FFFFFF"/>
                    </a:solidFill>
                  </a:tcPr>
                </a:tc>
                <a:extLst>
                  <a:ext uri="{0D108BD9-81ED-4DB2-BD59-A6C34878D82A}">
                    <a16:rowId xmlns:a16="http://schemas.microsoft.com/office/drawing/2014/main" val="3019535339"/>
                  </a:ext>
                </a:extLst>
              </a:tr>
            </a:tbl>
          </a:graphicData>
        </a:graphic>
      </p:graphicFrame>
      <p:sp>
        <p:nvSpPr>
          <p:cNvPr id="8" name="ZoneTexte 7">
            <a:extLst>
              <a:ext uri="{FF2B5EF4-FFF2-40B4-BE49-F238E27FC236}">
                <a16:creationId xmlns:a16="http://schemas.microsoft.com/office/drawing/2014/main" id="{9F0AF696-1D6F-5728-40B3-6F62EA7D8E64}"/>
              </a:ext>
            </a:extLst>
          </p:cNvPr>
          <p:cNvSpPr txBox="1"/>
          <p:nvPr/>
        </p:nvSpPr>
        <p:spPr>
          <a:xfrm>
            <a:off x="457200" y="4191000"/>
            <a:ext cx="11277600" cy="492443"/>
          </a:xfrm>
          <a:prstGeom prst="rect">
            <a:avLst/>
          </a:prstGeom>
          <a:noFill/>
        </p:spPr>
        <p:txBody>
          <a:bodyPr vert="horz" wrap="square" rtlCol="0">
            <a:spAutoFit/>
          </a:bodyPr>
          <a:lstStyle/>
          <a:p>
            <a:r>
              <a:rPr lang="fr-FR" sz="1300">
                <a:solidFill>
                  <a:srgbClr val="212121"/>
                </a:solidFill>
                <a:latin typeface="Calibri" panose="020F0502020204030204" pitchFamily="34" charset="0"/>
              </a:rPr>
              <a:t>Le principe : la décision difficile est préparée à froid, pas dans la panique. Chaque seuil déclencheur est défini à l'avance et suivi dans le reporting hebdomadaire : si un signal passe au rouge, le plan B s'applique immédiatement et la direction est informée avec une décision à prendre clairement formulée.</a:t>
            </a:r>
          </a:p>
        </p:txBody>
      </p:sp>
    </p:spTree>
    <p:extLst>
      <p:ext uri="{BB962C8B-B14F-4D97-AF65-F5344CB8AC3E}">
        <p14:creationId xmlns:p14="http://schemas.microsoft.com/office/powerpoint/2010/main" val="14477892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B9C1795-41AF-3686-5A26-738B0E0B35D6}"/>
              </a:ext>
            </a:extLst>
          </p:cNvPr>
          <p:cNvSpPr/>
          <p:nvPr/>
        </p:nvSpPr>
        <p:spPr>
          <a:xfrm>
            <a:off x="0" y="0"/>
            <a:ext cx="12192000" cy="812800"/>
          </a:xfrm>
          <a:prstGeom prst="rect">
            <a:avLst/>
          </a:prstGeom>
          <a:solidFill>
            <a:srgbClr val="1A52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D7470EEA-0D0E-CF02-D28F-88F6BA6361CA}"/>
              </a:ext>
            </a:extLst>
          </p:cNvPr>
          <p:cNvSpPr txBox="1"/>
          <p:nvPr/>
        </p:nvSpPr>
        <p:spPr>
          <a:xfrm>
            <a:off x="457200" y="101600"/>
            <a:ext cx="11176000" cy="446276"/>
          </a:xfrm>
          <a:prstGeom prst="rect">
            <a:avLst/>
          </a:prstGeom>
          <a:noFill/>
        </p:spPr>
        <p:txBody>
          <a:bodyPr vert="horz" wrap="square" rtlCol="0">
            <a:spAutoFit/>
          </a:bodyPr>
          <a:lstStyle/>
          <a:p>
            <a:r>
              <a:rPr lang="fr-FR" sz="2300" b="1">
                <a:solidFill>
                  <a:srgbClr val="FFFFFF"/>
                </a:solidFill>
                <a:latin typeface="Calibri" panose="020F0502020204030204" pitchFamily="34" charset="0"/>
              </a:rPr>
              <a:t>Feedbacks utilisateurs : le terrain guide le backlog</a:t>
            </a:r>
          </a:p>
        </p:txBody>
      </p:sp>
      <p:sp>
        <p:nvSpPr>
          <p:cNvPr id="4" name="ZoneTexte 3">
            <a:extLst>
              <a:ext uri="{FF2B5EF4-FFF2-40B4-BE49-F238E27FC236}">
                <a16:creationId xmlns:a16="http://schemas.microsoft.com/office/drawing/2014/main" id="{50CC02BD-896D-D3A6-696C-EC69C883A940}"/>
              </a:ext>
            </a:extLst>
          </p:cNvPr>
          <p:cNvSpPr txBox="1"/>
          <p:nvPr/>
        </p:nvSpPr>
        <p:spPr>
          <a:xfrm>
            <a:off x="457200" y="482600"/>
            <a:ext cx="11430000" cy="276999"/>
          </a:xfrm>
          <a:prstGeom prst="rect">
            <a:avLst/>
          </a:prstGeom>
          <a:noFill/>
        </p:spPr>
        <p:txBody>
          <a:bodyPr vert="horz" wrap="square" rtlCol="0">
            <a:spAutoFit/>
          </a:bodyPr>
          <a:lstStyle/>
          <a:p>
            <a:r>
              <a:rPr lang="fr-FR" sz="1200">
                <a:solidFill>
                  <a:srgbClr val="EEF3F8"/>
                </a:solidFill>
                <a:latin typeface="Calibri" panose="020F0502020204030204" pitchFamily="34" charset="0"/>
              </a:rPr>
              <a:t>6 retours recueillis sur le prototype, priorisés en croisant impact et fréquence</a:t>
            </a:r>
          </a:p>
        </p:txBody>
      </p:sp>
      <p:sp>
        <p:nvSpPr>
          <p:cNvPr id="5" name="ZoneTexte 4">
            <a:extLst>
              <a:ext uri="{FF2B5EF4-FFF2-40B4-BE49-F238E27FC236}">
                <a16:creationId xmlns:a16="http://schemas.microsoft.com/office/drawing/2014/main" id="{AC502393-9A1E-1D9B-2AF0-2185E4A126F0}"/>
              </a:ext>
            </a:extLst>
          </p:cNvPr>
          <p:cNvSpPr txBox="1"/>
          <p:nvPr/>
        </p:nvSpPr>
        <p:spPr>
          <a:xfrm>
            <a:off x="457200" y="6527800"/>
            <a:ext cx="76200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Ouassim Megrad  ·  Lead Data  ·  équipe Megslab</a:t>
            </a:r>
          </a:p>
        </p:txBody>
      </p:sp>
      <p:sp>
        <p:nvSpPr>
          <p:cNvPr id="6" name="ZoneTexte 5">
            <a:extLst>
              <a:ext uri="{FF2B5EF4-FFF2-40B4-BE49-F238E27FC236}">
                <a16:creationId xmlns:a16="http://schemas.microsoft.com/office/drawing/2014/main" id="{EE849531-873C-8852-03CB-53E4AF3AD5DC}"/>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6 / 9</a:t>
            </a:r>
          </a:p>
        </p:txBody>
      </p:sp>
      <p:graphicFrame>
        <p:nvGraphicFramePr>
          <p:cNvPr id="7" name="Tableau 6">
            <a:extLst>
              <a:ext uri="{FF2B5EF4-FFF2-40B4-BE49-F238E27FC236}">
                <a16:creationId xmlns:a16="http://schemas.microsoft.com/office/drawing/2014/main" id="{6AA38FC2-DCC8-FE67-8889-B470642D3534}"/>
              </a:ext>
            </a:extLst>
          </p:cNvPr>
          <p:cNvGraphicFramePr>
            <a:graphicFrameLocks noGrp="1"/>
          </p:cNvGraphicFramePr>
          <p:nvPr>
            <p:extLst>
              <p:ext uri="{D42A27DB-BD31-4B8C-83A1-F6EECF244321}">
                <p14:modId xmlns:p14="http://schemas.microsoft.com/office/powerpoint/2010/main" val="2330635093"/>
              </p:ext>
            </p:extLst>
          </p:nvPr>
        </p:nvGraphicFramePr>
        <p:xfrm>
          <a:off x="457200" y="1066800"/>
          <a:ext cx="11277600" cy="2540000"/>
        </p:xfrm>
        <a:graphic>
          <a:graphicData uri="http://schemas.openxmlformats.org/drawingml/2006/table">
            <a:tbl>
              <a:tblPr firstRow="1" bandRow="1">
                <a:tableStyleId>{5C22544A-7EE6-4342-B048-85BDC9FD1C3A}</a:tableStyleId>
              </a:tblPr>
              <a:tblGrid>
                <a:gridCol w="4699000">
                  <a:extLst>
                    <a:ext uri="{9D8B030D-6E8A-4147-A177-3AD203B41FA5}">
                      <a16:colId xmlns:a16="http://schemas.microsoft.com/office/drawing/2014/main" val="1161326983"/>
                    </a:ext>
                  </a:extLst>
                </a:gridCol>
                <a:gridCol w="4826000">
                  <a:extLst>
                    <a:ext uri="{9D8B030D-6E8A-4147-A177-3AD203B41FA5}">
                      <a16:colId xmlns:a16="http://schemas.microsoft.com/office/drawing/2014/main" val="3341089770"/>
                    </a:ext>
                  </a:extLst>
                </a:gridCol>
                <a:gridCol w="1752600">
                  <a:extLst>
                    <a:ext uri="{9D8B030D-6E8A-4147-A177-3AD203B41FA5}">
                      <a16:colId xmlns:a16="http://schemas.microsoft.com/office/drawing/2014/main" val="1953605946"/>
                    </a:ext>
                  </a:extLst>
                </a:gridCol>
              </a:tblGrid>
              <a:tr h="508000">
                <a:tc>
                  <a:txBody>
                    <a:bodyPr/>
                    <a:lstStyle/>
                    <a:p>
                      <a:r>
                        <a:rPr lang="fr-FR" sz="1200" b="1">
                          <a:solidFill>
                            <a:srgbClr val="FFFFFF"/>
                          </a:solidFill>
                          <a:latin typeface="Calibri" panose="020F0502020204030204" pitchFamily="34" charset="0"/>
                        </a:rPr>
                        <a:t>Retour du terrain</a:t>
                      </a:r>
                    </a:p>
                  </a:txBody>
                  <a:tcPr>
                    <a:solidFill>
                      <a:srgbClr val="1A5276"/>
                    </a:solidFill>
                  </a:tcPr>
                </a:tc>
                <a:tc>
                  <a:txBody>
                    <a:bodyPr/>
                    <a:lstStyle/>
                    <a:p>
                      <a:r>
                        <a:rPr lang="fr-FR" sz="1200" b="1">
                          <a:solidFill>
                            <a:srgbClr val="FFFFFF"/>
                          </a:solidFill>
                          <a:latin typeface="Calibri" panose="020F0502020204030204" pitchFamily="34" charset="0"/>
                        </a:rPr>
                        <a:t>Ma réponse</a:t>
                      </a:r>
                    </a:p>
                  </a:txBody>
                  <a:tcPr>
                    <a:solidFill>
                      <a:srgbClr val="1A5276"/>
                    </a:solidFill>
                  </a:tcPr>
                </a:tc>
                <a:tc>
                  <a:txBody>
                    <a:bodyPr/>
                    <a:lstStyle/>
                    <a:p>
                      <a:r>
                        <a:rPr lang="fr-FR" sz="1200" b="1">
                          <a:solidFill>
                            <a:srgbClr val="FFFFFF"/>
                          </a:solidFill>
                          <a:latin typeface="Calibri" panose="020F0502020204030204" pitchFamily="34" charset="0"/>
                        </a:rPr>
                        <a:t>Quand</a:t>
                      </a:r>
                    </a:p>
                  </a:txBody>
                  <a:tcPr>
                    <a:solidFill>
                      <a:srgbClr val="1A5276"/>
                    </a:solidFill>
                  </a:tcPr>
                </a:tc>
                <a:extLst>
                  <a:ext uri="{0D108BD9-81ED-4DB2-BD59-A6C34878D82A}">
                    <a16:rowId xmlns:a16="http://schemas.microsoft.com/office/drawing/2014/main" val="3499487018"/>
                  </a:ext>
                </a:extLst>
              </a:tr>
              <a:tr h="508000">
                <a:tc>
                  <a:txBody>
                    <a:bodyPr/>
                    <a:lstStyle/>
                    <a:p>
                      <a:r>
                        <a:rPr lang="fr-FR" sz="1200" b="0">
                          <a:solidFill>
                            <a:srgbClr val="212121"/>
                          </a:solidFill>
                          <a:latin typeface="Calibri" panose="020F0502020204030204" pitchFamily="34" charset="0"/>
                        </a:rPr>
                        <a:t>Le vocabulaire des alertes est trop technique</a:t>
                      </a:r>
                    </a:p>
                  </a:txBody>
                  <a:tcPr>
                    <a:solidFill>
                      <a:srgbClr val="FFFFFF"/>
                    </a:solidFill>
                  </a:tcPr>
                </a:tc>
                <a:tc>
                  <a:txBody>
                    <a:bodyPr/>
                    <a:lstStyle/>
                    <a:p>
                      <a:r>
                        <a:rPr lang="fr-FR" sz="1200" b="0">
                          <a:solidFill>
                            <a:srgbClr val="212121"/>
                          </a:solidFill>
                          <a:latin typeface="Calibri" panose="020F0502020204030204" pitchFamily="34" charset="0"/>
                        </a:rPr>
                        <a:t>Libellés métier et aide contextuelle</a:t>
                      </a:r>
                    </a:p>
                  </a:txBody>
                  <a:tcPr>
                    <a:solidFill>
                      <a:srgbClr val="FFFFFF"/>
                    </a:solidFill>
                  </a:tcPr>
                </a:tc>
                <a:tc>
                  <a:txBody>
                    <a:bodyPr/>
                    <a:lstStyle/>
                    <a:p>
                      <a:r>
                        <a:rPr lang="fr-FR" sz="1200" b="0">
                          <a:solidFill>
                            <a:srgbClr val="212121"/>
                          </a:solidFill>
                          <a:latin typeface="Calibri" panose="020F0502020204030204" pitchFamily="34" charset="0"/>
                        </a:rPr>
                        <a:t>Sprint 2</a:t>
                      </a:r>
                    </a:p>
                  </a:txBody>
                  <a:tcPr>
                    <a:solidFill>
                      <a:srgbClr val="FFFFFF"/>
                    </a:solidFill>
                  </a:tcPr>
                </a:tc>
                <a:extLst>
                  <a:ext uri="{0D108BD9-81ED-4DB2-BD59-A6C34878D82A}">
                    <a16:rowId xmlns:a16="http://schemas.microsoft.com/office/drawing/2014/main" val="1548861467"/>
                  </a:ext>
                </a:extLst>
              </a:tr>
              <a:tr h="508000">
                <a:tc>
                  <a:txBody>
                    <a:bodyPr/>
                    <a:lstStyle/>
                    <a:p>
                      <a:r>
                        <a:rPr lang="fr-FR" sz="1200" b="0">
                          <a:solidFill>
                            <a:srgbClr val="212121"/>
                          </a:solidFill>
                          <a:latin typeface="Calibri" panose="020F0502020204030204" pitchFamily="34" charset="0"/>
                        </a:rPr>
                        <a:t>Aucune procédure en cas de mauvaise alerte</a:t>
                      </a:r>
                    </a:p>
                  </a:txBody>
                  <a:tcPr>
                    <a:solidFill>
                      <a:srgbClr val="EEF3F8"/>
                    </a:solidFill>
                  </a:tcPr>
                </a:tc>
                <a:tc>
                  <a:txBody>
                    <a:bodyPr/>
                    <a:lstStyle/>
                    <a:p>
                      <a:r>
                        <a:rPr lang="fr-FR" sz="1200" b="0">
                          <a:solidFill>
                            <a:srgbClr val="212121"/>
                          </a:solidFill>
                          <a:latin typeface="Calibri" panose="020F0502020204030204" pitchFamily="34" charset="0"/>
                        </a:rPr>
                        <a:t>Procedure d'escalade et tickets</a:t>
                      </a:r>
                    </a:p>
                  </a:txBody>
                  <a:tcPr>
                    <a:solidFill>
                      <a:srgbClr val="EEF3F8"/>
                    </a:solidFill>
                  </a:tcPr>
                </a:tc>
                <a:tc>
                  <a:txBody>
                    <a:bodyPr/>
                    <a:lstStyle/>
                    <a:p>
                      <a:r>
                        <a:rPr lang="fr-FR" sz="1200" b="0">
                          <a:solidFill>
                            <a:srgbClr val="212121"/>
                          </a:solidFill>
                          <a:latin typeface="Calibri" panose="020F0502020204030204" pitchFamily="34" charset="0"/>
                        </a:rPr>
                        <a:t>Sprint 1</a:t>
                      </a:r>
                    </a:p>
                  </a:txBody>
                  <a:tcPr>
                    <a:solidFill>
                      <a:srgbClr val="EEF3F8"/>
                    </a:solidFill>
                  </a:tcPr>
                </a:tc>
                <a:extLst>
                  <a:ext uri="{0D108BD9-81ED-4DB2-BD59-A6C34878D82A}">
                    <a16:rowId xmlns:a16="http://schemas.microsoft.com/office/drawing/2014/main" val="84221729"/>
                  </a:ext>
                </a:extLst>
              </a:tr>
              <a:tr h="508000">
                <a:tc>
                  <a:txBody>
                    <a:bodyPr/>
                    <a:lstStyle/>
                    <a:p>
                      <a:r>
                        <a:rPr lang="fr-FR" sz="1200" b="0">
                          <a:solidFill>
                            <a:srgbClr val="212121"/>
                          </a:solidFill>
                          <a:latin typeface="Calibri" panose="020F0502020204030204" pitchFamily="34" charset="0"/>
                        </a:rPr>
                        <a:t>Les définitions des indicateurs sont imprécises</a:t>
                      </a:r>
                    </a:p>
                  </a:txBody>
                  <a:tcPr>
                    <a:solidFill>
                      <a:srgbClr val="FFFFFF"/>
                    </a:solidFill>
                  </a:tcPr>
                </a:tc>
                <a:tc>
                  <a:txBody>
                    <a:bodyPr/>
                    <a:lstStyle/>
                    <a:p>
                      <a:r>
                        <a:rPr lang="fr-FR" sz="1200" b="0">
                          <a:solidFill>
                            <a:srgbClr val="212121"/>
                          </a:solidFill>
                          <a:latin typeface="Calibri" panose="020F0502020204030204" pitchFamily="34" charset="0"/>
                        </a:rPr>
                        <a:t>Glossaire des indicateurs (formule et responsable)</a:t>
                      </a:r>
                    </a:p>
                  </a:txBody>
                  <a:tcPr>
                    <a:solidFill>
                      <a:srgbClr val="FFFFFF"/>
                    </a:solidFill>
                  </a:tcPr>
                </a:tc>
                <a:tc>
                  <a:txBody>
                    <a:bodyPr/>
                    <a:lstStyle/>
                    <a:p>
                      <a:r>
                        <a:rPr lang="fr-FR" sz="1200" b="0">
                          <a:solidFill>
                            <a:srgbClr val="212121"/>
                          </a:solidFill>
                          <a:latin typeface="Calibri" panose="020F0502020204030204" pitchFamily="34" charset="0"/>
                        </a:rPr>
                        <a:t>Phase 1</a:t>
                      </a:r>
                    </a:p>
                  </a:txBody>
                  <a:tcPr>
                    <a:solidFill>
                      <a:srgbClr val="FFFFFF"/>
                    </a:solidFill>
                  </a:tcPr>
                </a:tc>
                <a:extLst>
                  <a:ext uri="{0D108BD9-81ED-4DB2-BD59-A6C34878D82A}">
                    <a16:rowId xmlns:a16="http://schemas.microsoft.com/office/drawing/2014/main" val="655253998"/>
                  </a:ext>
                </a:extLst>
              </a:tr>
              <a:tr h="508000">
                <a:tc>
                  <a:txBody>
                    <a:bodyPr/>
                    <a:lstStyle/>
                    <a:p>
                      <a:r>
                        <a:rPr lang="fr-FR" sz="1200" b="0">
                          <a:solidFill>
                            <a:srgbClr val="212121"/>
                          </a:solidFill>
                          <a:latin typeface="Calibri" panose="020F0502020204030204" pitchFamily="34" charset="0"/>
                        </a:rPr>
                        <a:t>Graphiques illisibles au lecteur d'écran</a:t>
                      </a:r>
                    </a:p>
                  </a:txBody>
                  <a:tcPr>
                    <a:solidFill>
                      <a:srgbClr val="EEF3F8"/>
                    </a:solidFill>
                  </a:tcPr>
                </a:tc>
                <a:tc>
                  <a:txBody>
                    <a:bodyPr/>
                    <a:lstStyle/>
                    <a:p>
                      <a:r>
                        <a:rPr lang="fr-FR" sz="1200" b="0">
                          <a:solidFill>
                            <a:srgbClr val="212121"/>
                          </a:solidFill>
                          <a:latin typeface="Calibri" panose="020F0502020204030204" pitchFamily="34" charset="0"/>
                        </a:rPr>
                        <a:t>Alternatives textuelles, validation accessibilité</a:t>
                      </a:r>
                    </a:p>
                  </a:txBody>
                  <a:tcPr>
                    <a:solidFill>
                      <a:srgbClr val="EEF3F8"/>
                    </a:solidFill>
                  </a:tcPr>
                </a:tc>
                <a:tc>
                  <a:txBody>
                    <a:bodyPr/>
                    <a:lstStyle/>
                    <a:p>
                      <a:r>
                        <a:rPr lang="fr-FR" sz="1200" b="0">
                          <a:solidFill>
                            <a:srgbClr val="212121"/>
                          </a:solidFill>
                          <a:latin typeface="Calibri" panose="020F0502020204030204" pitchFamily="34" charset="0"/>
                        </a:rPr>
                        <a:t>Sprint 3</a:t>
                      </a:r>
                    </a:p>
                  </a:txBody>
                  <a:tcPr>
                    <a:solidFill>
                      <a:srgbClr val="EEF3F8"/>
                    </a:solidFill>
                  </a:tcPr>
                </a:tc>
                <a:extLst>
                  <a:ext uri="{0D108BD9-81ED-4DB2-BD59-A6C34878D82A}">
                    <a16:rowId xmlns:a16="http://schemas.microsoft.com/office/drawing/2014/main" val="3670938249"/>
                  </a:ext>
                </a:extLst>
              </a:tr>
            </a:tbl>
          </a:graphicData>
        </a:graphic>
      </p:graphicFrame>
      <p:sp>
        <p:nvSpPr>
          <p:cNvPr id="8" name="ZoneTexte 7">
            <a:extLst>
              <a:ext uri="{FF2B5EF4-FFF2-40B4-BE49-F238E27FC236}">
                <a16:creationId xmlns:a16="http://schemas.microsoft.com/office/drawing/2014/main" id="{F6C35621-C6C3-8D27-E7B1-BA4BCAB87AB1}"/>
              </a:ext>
            </a:extLst>
          </p:cNvPr>
          <p:cNvSpPr txBox="1"/>
          <p:nvPr/>
        </p:nvSpPr>
        <p:spPr>
          <a:xfrm>
            <a:off x="457200" y="4064000"/>
            <a:ext cx="11277600" cy="692497"/>
          </a:xfrm>
          <a:prstGeom prst="rect">
            <a:avLst/>
          </a:prstGeom>
          <a:noFill/>
        </p:spPr>
        <p:txBody>
          <a:bodyPr vert="horz" wrap="square" rtlCol="0">
            <a:spAutoFit/>
          </a:bodyPr>
          <a:lstStyle/>
          <a:p>
            <a:r>
              <a:rPr lang="fr-FR" sz="1300">
                <a:solidFill>
                  <a:srgbClr val="212121"/>
                </a:solidFill>
                <a:latin typeface="Calibri" panose="020F0502020204030204" pitchFamily="34" charset="0"/>
              </a:rPr>
              <a:t>Trois retours cumulent impact fort et fréquence élevée : ils passent en premier. Le retour sur l'accessibilité est moins fréquent mais remonté en priorité : c'est une exigence d'inclusion du projet, pas une option. Ce qu'il faut retenir : l'ordre de mes sprints n'est pas arbitraire, il reflète directement ce que le terrain nous a dit. Les 2 autres retours sont suivis au registre.</a:t>
            </a:r>
          </a:p>
        </p:txBody>
      </p:sp>
    </p:spTree>
    <p:extLst>
      <p:ext uri="{BB962C8B-B14F-4D97-AF65-F5344CB8AC3E}">
        <p14:creationId xmlns:p14="http://schemas.microsoft.com/office/powerpoint/2010/main" val="29205213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E8037C6-4771-4861-A58E-51BF668DF4A4}"/>
              </a:ext>
            </a:extLst>
          </p:cNvPr>
          <p:cNvSpPr/>
          <p:nvPr/>
        </p:nvSpPr>
        <p:spPr>
          <a:xfrm>
            <a:off x="0" y="0"/>
            <a:ext cx="12192000" cy="812800"/>
          </a:xfrm>
          <a:prstGeom prst="rect">
            <a:avLst/>
          </a:prstGeom>
          <a:solidFill>
            <a:srgbClr val="1A52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C77078B6-7403-E1F0-AB0B-6E72B16D503D}"/>
              </a:ext>
            </a:extLst>
          </p:cNvPr>
          <p:cNvSpPr txBox="1"/>
          <p:nvPr/>
        </p:nvSpPr>
        <p:spPr>
          <a:xfrm>
            <a:off x="457200" y="101600"/>
            <a:ext cx="11176000" cy="446276"/>
          </a:xfrm>
          <a:prstGeom prst="rect">
            <a:avLst/>
          </a:prstGeom>
          <a:noFill/>
        </p:spPr>
        <p:txBody>
          <a:bodyPr vert="horz" wrap="square" rtlCol="0">
            <a:spAutoFit/>
          </a:bodyPr>
          <a:lstStyle/>
          <a:p>
            <a:r>
              <a:rPr lang="fr-FR" sz="2300" b="1">
                <a:solidFill>
                  <a:srgbClr val="FFFFFF"/>
                </a:solidFill>
                <a:latin typeface="Calibri" panose="020F0502020204030204" pitchFamily="34" charset="0"/>
              </a:rPr>
              <a:t>Accompagnement : 4 profils, 4 parcours</a:t>
            </a:r>
          </a:p>
        </p:txBody>
      </p:sp>
      <p:sp>
        <p:nvSpPr>
          <p:cNvPr id="4" name="ZoneTexte 3">
            <a:extLst>
              <a:ext uri="{FF2B5EF4-FFF2-40B4-BE49-F238E27FC236}">
                <a16:creationId xmlns:a16="http://schemas.microsoft.com/office/drawing/2014/main" id="{578610E2-0F71-425C-26FF-B222EF00A395}"/>
              </a:ext>
            </a:extLst>
          </p:cNvPr>
          <p:cNvSpPr txBox="1"/>
          <p:nvPr/>
        </p:nvSpPr>
        <p:spPr>
          <a:xfrm>
            <a:off x="457200" y="482600"/>
            <a:ext cx="11430000" cy="276999"/>
          </a:xfrm>
          <a:prstGeom prst="rect">
            <a:avLst/>
          </a:prstGeom>
          <a:noFill/>
        </p:spPr>
        <p:txBody>
          <a:bodyPr vert="horz" wrap="square" rtlCol="0">
            <a:spAutoFit/>
          </a:bodyPr>
          <a:lstStyle/>
          <a:p>
            <a:r>
              <a:rPr lang="fr-FR" sz="1200">
                <a:solidFill>
                  <a:srgbClr val="EEF3F8"/>
                </a:solidFill>
                <a:latin typeface="Calibri" panose="020F0502020204030204" pitchFamily="34" charset="0"/>
              </a:rPr>
              <a:t>Informer, former, accompagner sur le poste, rendre autonome ; tout est court et accessible</a:t>
            </a:r>
          </a:p>
        </p:txBody>
      </p:sp>
      <p:sp>
        <p:nvSpPr>
          <p:cNvPr id="5" name="ZoneTexte 4">
            <a:extLst>
              <a:ext uri="{FF2B5EF4-FFF2-40B4-BE49-F238E27FC236}">
                <a16:creationId xmlns:a16="http://schemas.microsoft.com/office/drawing/2014/main" id="{259EBBF7-069B-A1E2-0A33-34740120BFDD}"/>
              </a:ext>
            </a:extLst>
          </p:cNvPr>
          <p:cNvSpPr txBox="1"/>
          <p:nvPr/>
        </p:nvSpPr>
        <p:spPr>
          <a:xfrm>
            <a:off x="457200" y="6527800"/>
            <a:ext cx="76200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Ouassim Megrad  ·  Lead Data  ·  équipe Megslab</a:t>
            </a:r>
          </a:p>
        </p:txBody>
      </p:sp>
      <p:sp>
        <p:nvSpPr>
          <p:cNvPr id="6" name="ZoneTexte 5">
            <a:extLst>
              <a:ext uri="{FF2B5EF4-FFF2-40B4-BE49-F238E27FC236}">
                <a16:creationId xmlns:a16="http://schemas.microsoft.com/office/drawing/2014/main" id="{75DE96C4-16F3-6658-82E2-51DA0A6E047B}"/>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7 / 9</a:t>
            </a:r>
          </a:p>
        </p:txBody>
      </p:sp>
      <p:graphicFrame>
        <p:nvGraphicFramePr>
          <p:cNvPr id="7" name="Tableau 6">
            <a:extLst>
              <a:ext uri="{FF2B5EF4-FFF2-40B4-BE49-F238E27FC236}">
                <a16:creationId xmlns:a16="http://schemas.microsoft.com/office/drawing/2014/main" id="{13F5F47B-8FED-A258-EECE-922436C159A7}"/>
              </a:ext>
            </a:extLst>
          </p:cNvPr>
          <p:cNvGraphicFramePr>
            <a:graphicFrameLocks noGrp="1"/>
          </p:cNvGraphicFramePr>
          <p:nvPr>
            <p:extLst>
              <p:ext uri="{D42A27DB-BD31-4B8C-83A1-F6EECF244321}">
                <p14:modId xmlns:p14="http://schemas.microsoft.com/office/powerpoint/2010/main" val="539043976"/>
              </p:ext>
            </p:extLst>
          </p:nvPr>
        </p:nvGraphicFramePr>
        <p:xfrm>
          <a:off x="457200" y="1066800"/>
          <a:ext cx="11277600" cy="2540000"/>
        </p:xfrm>
        <a:graphic>
          <a:graphicData uri="http://schemas.openxmlformats.org/drawingml/2006/table">
            <a:tbl>
              <a:tblPr firstRow="1" bandRow="1">
                <a:tableStyleId>{5C22544A-7EE6-4342-B048-85BDC9FD1C3A}</a:tableStyleId>
              </a:tblPr>
              <a:tblGrid>
                <a:gridCol w="3556000">
                  <a:extLst>
                    <a:ext uri="{9D8B030D-6E8A-4147-A177-3AD203B41FA5}">
                      <a16:colId xmlns:a16="http://schemas.microsoft.com/office/drawing/2014/main" val="4158773612"/>
                    </a:ext>
                  </a:extLst>
                </a:gridCol>
                <a:gridCol w="7721600">
                  <a:extLst>
                    <a:ext uri="{9D8B030D-6E8A-4147-A177-3AD203B41FA5}">
                      <a16:colId xmlns:a16="http://schemas.microsoft.com/office/drawing/2014/main" val="2361878747"/>
                    </a:ext>
                  </a:extLst>
                </a:gridCol>
              </a:tblGrid>
              <a:tr h="508000">
                <a:tc>
                  <a:txBody>
                    <a:bodyPr/>
                    <a:lstStyle/>
                    <a:p>
                      <a:r>
                        <a:rPr lang="fr-FR" sz="1200" b="1">
                          <a:solidFill>
                            <a:srgbClr val="FFFFFF"/>
                          </a:solidFill>
                          <a:latin typeface="Calibri" panose="020F0502020204030204" pitchFamily="34" charset="0"/>
                        </a:rPr>
                        <a:t>Profil</a:t>
                      </a:r>
                    </a:p>
                  </a:txBody>
                  <a:tcPr>
                    <a:solidFill>
                      <a:srgbClr val="1A5276"/>
                    </a:solidFill>
                  </a:tcPr>
                </a:tc>
                <a:tc>
                  <a:txBody>
                    <a:bodyPr/>
                    <a:lstStyle/>
                    <a:p>
                      <a:r>
                        <a:rPr lang="fr-FR" sz="1200" b="1">
                          <a:solidFill>
                            <a:srgbClr val="FFFFFF"/>
                          </a:solidFill>
                          <a:latin typeface="Calibri" panose="020F0502020204030204" pitchFamily="34" charset="0"/>
                        </a:rPr>
                        <a:t>Son parcours de formation</a:t>
                      </a:r>
                    </a:p>
                  </a:txBody>
                  <a:tcPr>
                    <a:solidFill>
                      <a:srgbClr val="1A5276"/>
                    </a:solidFill>
                  </a:tcPr>
                </a:tc>
                <a:extLst>
                  <a:ext uri="{0D108BD9-81ED-4DB2-BD59-A6C34878D82A}">
                    <a16:rowId xmlns:a16="http://schemas.microsoft.com/office/drawing/2014/main" val="247898843"/>
                  </a:ext>
                </a:extLst>
              </a:tr>
              <a:tr h="508000">
                <a:tc>
                  <a:txBody>
                    <a:bodyPr/>
                    <a:lstStyle/>
                    <a:p>
                      <a:r>
                        <a:rPr lang="fr-FR" sz="1200" b="0">
                          <a:solidFill>
                            <a:srgbClr val="212121"/>
                          </a:solidFill>
                          <a:latin typeface="Calibri" panose="020F0502020204030204" pitchFamily="34" charset="0"/>
                        </a:rPr>
                        <a:t>Superviseurs</a:t>
                      </a:r>
                    </a:p>
                  </a:txBody>
                  <a:tcPr>
                    <a:solidFill>
                      <a:srgbClr val="FFFFFF"/>
                    </a:solidFill>
                  </a:tcPr>
                </a:tc>
                <a:tc>
                  <a:txBody>
                    <a:bodyPr/>
                    <a:lstStyle/>
                    <a:p>
                      <a:r>
                        <a:rPr lang="fr-FR" sz="1200" b="0">
                          <a:solidFill>
                            <a:srgbClr val="212121"/>
                          </a:solidFill>
                          <a:latin typeface="Calibri" panose="020F0502020204030204" pitchFamily="34" charset="0"/>
                        </a:rPr>
                        <a:t>Atelier de 45 min sur cas réels et fiche réflexe des indicateurs critiques</a:t>
                      </a:r>
                    </a:p>
                  </a:txBody>
                  <a:tcPr>
                    <a:solidFill>
                      <a:srgbClr val="FFFFFF"/>
                    </a:solidFill>
                  </a:tcPr>
                </a:tc>
                <a:extLst>
                  <a:ext uri="{0D108BD9-81ED-4DB2-BD59-A6C34878D82A}">
                    <a16:rowId xmlns:a16="http://schemas.microsoft.com/office/drawing/2014/main" val="173804254"/>
                  </a:ext>
                </a:extLst>
              </a:tr>
              <a:tr h="508000">
                <a:tc>
                  <a:txBody>
                    <a:bodyPr/>
                    <a:lstStyle/>
                    <a:p>
                      <a:r>
                        <a:rPr lang="fr-FR" sz="1200" b="0">
                          <a:solidFill>
                            <a:srgbClr val="212121"/>
                          </a:solidFill>
                          <a:latin typeface="Calibri" panose="020F0502020204030204" pitchFamily="34" charset="0"/>
                        </a:rPr>
                        <a:t>Agents du centre opérationnel</a:t>
                      </a:r>
                    </a:p>
                  </a:txBody>
                  <a:tcPr>
                    <a:solidFill>
                      <a:srgbClr val="EEF3F8"/>
                    </a:solidFill>
                  </a:tcPr>
                </a:tc>
                <a:tc>
                  <a:txBody>
                    <a:bodyPr/>
                    <a:lstStyle/>
                    <a:p>
                      <a:r>
                        <a:rPr lang="fr-FR" sz="1200" b="0">
                          <a:solidFill>
                            <a:srgbClr val="212121"/>
                          </a:solidFill>
                          <a:latin typeface="Calibri" panose="020F0502020204030204" pitchFamily="34" charset="0"/>
                        </a:rPr>
                        <a:t>Atelier de 45 min, puis prise en main en binome sur poste : 2 sessions de 30 min sur des alertes réelles</a:t>
                      </a:r>
                    </a:p>
                  </a:txBody>
                  <a:tcPr>
                    <a:solidFill>
                      <a:srgbClr val="EEF3F8"/>
                    </a:solidFill>
                  </a:tcPr>
                </a:tc>
                <a:extLst>
                  <a:ext uri="{0D108BD9-81ED-4DB2-BD59-A6C34878D82A}">
                    <a16:rowId xmlns:a16="http://schemas.microsoft.com/office/drawing/2014/main" val="1723174611"/>
                  </a:ext>
                </a:extLst>
              </a:tr>
              <a:tr h="508000">
                <a:tc>
                  <a:txBody>
                    <a:bodyPr/>
                    <a:lstStyle/>
                    <a:p>
                      <a:r>
                        <a:rPr lang="fr-FR" sz="1200" b="0">
                          <a:solidFill>
                            <a:srgbClr val="212121"/>
                          </a:solidFill>
                          <a:latin typeface="Calibri" panose="020F0502020204030204" pitchFamily="34" charset="0"/>
                        </a:rPr>
                        <a:t>Analystes mobilité</a:t>
                      </a:r>
                    </a:p>
                  </a:txBody>
                  <a:tcPr>
                    <a:solidFill>
                      <a:srgbClr val="FFFFFF"/>
                    </a:solidFill>
                  </a:tcPr>
                </a:tc>
                <a:tc>
                  <a:txBody>
                    <a:bodyPr/>
                    <a:lstStyle/>
                    <a:p>
                      <a:r>
                        <a:rPr lang="fr-FR" sz="1200" b="0">
                          <a:solidFill>
                            <a:srgbClr val="212121"/>
                          </a:solidFill>
                          <a:latin typeface="Calibri" panose="020F0502020204030204" pitchFamily="34" charset="0"/>
                        </a:rPr>
                        <a:t>Atelier de 45 min, glossaire des indicateurs et formation aux exports</a:t>
                      </a:r>
                    </a:p>
                  </a:txBody>
                  <a:tcPr>
                    <a:solidFill>
                      <a:srgbClr val="FFFFFF"/>
                    </a:solidFill>
                  </a:tcPr>
                </a:tc>
                <a:extLst>
                  <a:ext uri="{0D108BD9-81ED-4DB2-BD59-A6C34878D82A}">
                    <a16:rowId xmlns:a16="http://schemas.microsoft.com/office/drawing/2014/main" val="1168762612"/>
                  </a:ext>
                </a:extLst>
              </a:tr>
              <a:tr h="508000">
                <a:tc>
                  <a:txBody>
                    <a:bodyPr/>
                    <a:lstStyle/>
                    <a:p>
                      <a:r>
                        <a:rPr lang="fr-FR" sz="1200" b="0">
                          <a:solidFill>
                            <a:srgbClr val="212121"/>
                          </a:solidFill>
                          <a:latin typeface="Calibri" panose="020F0502020204030204" pitchFamily="34" charset="0"/>
                        </a:rPr>
                        <a:t>Utilisateurs avec besoin d'accessibilité</a:t>
                      </a:r>
                    </a:p>
                  </a:txBody>
                  <a:tcPr>
                    <a:solidFill>
                      <a:srgbClr val="EEF3F8"/>
                    </a:solidFill>
                  </a:tcPr>
                </a:tc>
                <a:tc>
                  <a:txBody>
                    <a:bodyPr/>
                    <a:lstStyle/>
                    <a:p>
                      <a:r>
                        <a:rPr lang="fr-FR" sz="1200" b="0">
                          <a:solidFill>
                            <a:srgbClr val="212121"/>
                          </a:solidFill>
                          <a:latin typeface="Calibri" panose="020F0502020204030204" pitchFamily="34" charset="0"/>
                        </a:rPr>
                        <a:t>Session dédiée : lecteur d'écran, sous-titres, rythme adapté, supports validés avant diffusion</a:t>
                      </a:r>
                    </a:p>
                  </a:txBody>
                  <a:tcPr>
                    <a:solidFill>
                      <a:srgbClr val="EEF3F8"/>
                    </a:solidFill>
                  </a:tcPr>
                </a:tc>
                <a:extLst>
                  <a:ext uri="{0D108BD9-81ED-4DB2-BD59-A6C34878D82A}">
                    <a16:rowId xmlns:a16="http://schemas.microsoft.com/office/drawing/2014/main" val="4268464957"/>
                  </a:ext>
                </a:extLst>
              </a:tr>
            </a:tbl>
          </a:graphicData>
        </a:graphic>
      </p:graphicFrame>
      <p:sp>
        <p:nvSpPr>
          <p:cNvPr id="8" name="ZoneTexte 7">
            <a:extLst>
              <a:ext uri="{FF2B5EF4-FFF2-40B4-BE49-F238E27FC236}">
                <a16:creationId xmlns:a16="http://schemas.microsoft.com/office/drawing/2014/main" id="{C3ECF6BE-9F20-BB5E-0C59-1B4D982C1C2D}"/>
              </a:ext>
            </a:extLst>
          </p:cNvPr>
          <p:cNvSpPr txBox="1"/>
          <p:nvPr/>
        </p:nvSpPr>
        <p:spPr>
          <a:xfrm>
            <a:off x="457200" y="4013200"/>
            <a:ext cx="11277600" cy="692497"/>
          </a:xfrm>
          <a:prstGeom prst="rect">
            <a:avLst/>
          </a:prstGeom>
          <a:noFill/>
        </p:spPr>
        <p:txBody>
          <a:bodyPr vert="horz" wrap="square" rtlCol="0">
            <a:spAutoFit/>
          </a:bodyPr>
          <a:lstStyle/>
          <a:p>
            <a:r>
              <a:rPr lang="fr-FR" sz="1300">
                <a:solidFill>
                  <a:srgbClr val="212121"/>
                </a:solidFill>
                <a:latin typeface="Calibri" panose="020F0502020204030204" pitchFamily="34" charset="0"/>
              </a:rPr>
              <a:t>Apres le déploiement, le support prend le relais : niveau 1 (FAQ, gestes simples, première réponse sous 4 heures ouvrees) puis niveau 2 (équipe data), avec une procédure d'escalade claire. La formation crée l'adoption, le support l'empêche de retomber. Cible : 100 % des profils formés avant le pilote, satisfaction 4/5 minimum, participation 90 % minimum.</a:t>
            </a:r>
          </a:p>
        </p:txBody>
      </p:sp>
      <p:sp>
        <p:nvSpPr>
          <p:cNvPr id="9" name="Rectangle : coins arrondis 8">
            <a:extLst>
              <a:ext uri="{FF2B5EF4-FFF2-40B4-BE49-F238E27FC236}">
                <a16:creationId xmlns:a16="http://schemas.microsoft.com/office/drawing/2014/main" id="{75C82B1F-4D4F-3AA2-5A1D-EDF644CDF5A6}"/>
              </a:ext>
            </a:extLst>
          </p:cNvPr>
          <p:cNvSpPr/>
          <p:nvPr/>
        </p:nvSpPr>
        <p:spPr>
          <a:xfrm>
            <a:off x="457200" y="5613400"/>
            <a:ext cx="11277600" cy="533400"/>
          </a:xfrm>
          <a:prstGeom prst="roundRect">
            <a:avLst/>
          </a:prstGeom>
          <a:solidFill>
            <a:srgbClr val="CA6F1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500" b="1">
                <a:solidFill>
                  <a:srgbClr val="FFFFFF"/>
                </a:solidFill>
                <a:latin typeface="Calibri" panose="020F0502020204030204" pitchFamily="34" charset="0"/>
              </a:rPr>
              <a:t>Décision attendue n°2 : valider ce dispositif d'accompagnement</a:t>
            </a:r>
          </a:p>
        </p:txBody>
      </p:sp>
    </p:spTree>
    <p:extLst>
      <p:ext uri="{BB962C8B-B14F-4D97-AF65-F5344CB8AC3E}">
        <p14:creationId xmlns:p14="http://schemas.microsoft.com/office/powerpoint/2010/main" val="35107256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F6020BC-C927-5798-8D53-E01A47213F14}"/>
              </a:ext>
            </a:extLst>
          </p:cNvPr>
          <p:cNvSpPr/>
          <p:nvPr/>
        </p:nvSpPr>
        <p:spPr>
          <a:xfrm>
            <a:off x="0" y="0"/>
            <a:ext cx="12192000" cy="812800"/>
          </a:xfrm>
          <a:prstGeom prst="rect">
            <a:avLst/>
          </a:prstGeom>
          <a:solidFill>
            <a:srgbClr val="1A52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D0C4808A-2A32-80F9-D44E-773A0DC88DBC}"/>
              </a:ext>
            </a:extLst>
          </p:cNvPr>
          <p:cNvSpPr txBox="1"/>
          <p:nvPr/>
        </p:nvSpPr>
        <p:spPr>
          <a:xfrm>
            <a:off x="457200" y="101600"/>
            <a:ext cx="11176000" cy="446276"/>
          </a:xfrm>
          <a:prstGeom prst="rect">
            <a:avLst/>
          </a:prstGeom>
          <a:noFill/>
        </p:spPr>
        <p:txBody>
          <a:bodyPr vert="horz" wrap="square" rtlCol="0">
            <a:spAutoFit/>
          </a:bodyPr>
          <a:lstStyle/>
          <a:p>
            <a:r>
              <a:rPr lang="fr-FR" sz="2300" b="1">
                <a:solidFill>
                  <a:srgbClr val="FFFFFF"/>
                </a:solidFill>
                <a:latin typeface="Calibri" panose="020F0502020204030204" pitchFamily="34" charset="0"/>
              </a:rPr>
              <a:t>Les 4 décisions demandées a ce comité</a:t>
            </a:r>
          </a:p>
        </p:txBody>
      </p:sp>
      <p:sp>
        <p:nvSpPr>
          <p:cNvPr id="4" name="ZoneTexte 3">
            <a:extLst>
              <a:ext uri="{FF2B5EF4-FFF2-40B4-BE49-F238E27FC236}">
                <a16:creationId xmlns:a16="http://schemas.microsoft.com/office/drawing/2014/main" id="{2999E129-7378-4098-DE08-D73F8D006854}"/>
              </a:ext>
            </a:extLst>
          </p:cNvPr>
          <p:cNvSpPr txBox="1"/>
          <p:nvPr/>
        </p:nvSpPr>
        <p:spPr>
          <a:xfrm>
            <a:off x="457200" y="482600"/>
            <a:ext cx="11430000" cy="276999"/>
          </a:xfrm>
          <a:prstGeom prst="rect">
            <a:avLst/>
          </a:prstGeom>
          <a:noFill/>
        </p:spPr>
        <p:txBody>
          <a:bodyPr vert="horz" wrap="square" rtlCol="0">
            <a:spAutoFit/>
          </a:bodyPr>
          <a:lstStyle/>
          <a:p>
            <a:r>
              <a:rPr lang="fr-FR" sz="1200">
                <a:solidFill>
                  <a:srgbClr val="EEF3F8"/>
                </a:solidFill>
                <a:latin typeface="Calibri" panose="020F0502020204030204" pitchFamily="34" charset="0"/>
              </a:rPr>
              <a:t>Deux validations dès cette semaine, deux arbitrages d'ici la semaine 4</a:t>
            </a:r>
          </a:p>
        </p:txBody>
      </p:sp>
      <p:sp>
        <p:nvSpPr>
          <p:cNvPr id="5" name="ZoneTexte 4">
            <a:extLst>
              <a:ext uri="{FF2B5EF4-FFF2-40B4-BE49-F238E27FC236}">
                <a16:creationId xmlns:a16="http://schemas.microsoft.com/office/drawing/2014/main" id="{DDF6247C-D640-2A68-99CA-7501B56E23E1}"/>
              </a:ext>
            </a:extLst>
          </p:cNvPr>
          <p:cNvSpPr txBox="1"/>
          <p:nvPr/>
        </p:nvSpPr>
        <p:spPr>
          <a:xfrm>
            <a:off x="457200" y="6527800"/>
            <a:ext cx="76200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Ouassim Megrad  ·  Lead Data  ·  équipe Megslab</a:t>
            </a:r>
          </a:p>
        </p:txBody>
      </p:sp>
      <p:sp>
        <p:nvSpPr>
          <p:cNvPr id="6" name="ZoneTexte 5">
            <a:extLst>
              <a:ext uri="{FF2B5EF4-FFF2-40B4-BE49-F238E27FC236}">
                <a16:creationId xmlns:a16="http://schemas.microsoft.com/office/drawing/2014/main" id="{B8FFD2FD-C3EA-7679-92B1-2E0CADFB8BAD}"/>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8 / 9</a:t>
            </a:r>
          </a:p>
        </p:txBody>
      </p:sp>
      <p:graphicFrame>
        <p:nvGraphicFramePr>
          <p:cNvPr id="7" name="Tableau 6">
            <a:extLst>
              <a:ext uri="{FF2B5EF4-FFF2-40B4-BE49-F238E27FC236}">
                <a16:creationId xmlns:a16="http://schemas.microsoft.com/office/drawing/2014/main" id="{3286F9F9-F078-1C1A-84AF-AA449A364974}"/>
              </a:ext>
            </a:extLst>
          </p:cNvPr>
          <p:cNvGraphicFramePr>
            <a:graphicFrameLocks noGrp="1"/>
          </p:cNvGraphicFramePr>
          <p:nvPr>
            <p:extLst>
              <p:ext uri="{D42A27DB-BD31-4B8C-83A1-F6EECF244321}">
                <p14:modId xmlns:p14="http://schemas.microsoft.com/office/powerpoint/2010/main" val="2860968925"/>
              </p:ext>
            </p:extLst>
          </p:nvPr>
        </p:nvGraphicFramePr>
        <p:xfrm>
          <a:off x="457200" y="1066800"/>
          <a:ext cx="11277600" cy="2540000"/>
        </p:xfrm>
        <a:graphic>
          <a:graphicData uri="http://schemas.openxmlformats.org/drawingml/2006/table">
            <a:tbl>
              <a:tblPr firstRow="1" bandRow="1">
                <a:tableStyleId>{5C22544A-7EE6-4342-B048-85BDC9FD1C3A}</a:tableStyleId>
              </a:tblPr>
              <a:tblGrid>
                <a:gridCol w="762000">
                  <a:extLst>
                    <a:ext uri="{9D8B030D-6E8A-4147-A177-3AD203B41FA5}">
                      <a16:colId xmlns:a16="http://schemas.microsoft.com/office/drawing/2014/main" val="3982916280"/>
                    </a:ext>
                  </a:extLst>
                </a:gridCol>
                <a:gridCol w="8763000">
                  <a:extLst>
                    <a:ext uri="{9D8B030D-6E8A-4147-A177-3AD203B41FA5}">
                      <a16:colId xmlns:a16="http://schemas.microsoft.com/office/drawing/2014/main" val="2656609824"/>
                    </a:ext>
                  </a:extLst>
                </a:gridCol>
                <a:gridCol w="1752600">
                  <a:extLst>
                    <a:ext uri="{9D8B030D-6E8A-4147-A177-3AD203B41FA5}">
                      <a16:colId xmlns:a16="http://schemas.microsoft.com/office/drawing/2014/main" val="1262844401"/>
                    </a:ext>
                  </a:extLst>
                </a:gridCol>
              </a:tblGrid>
              <a:tr h="508000">
                <a:tc>
                  <a:txBody>
                    <a:bodyPr/>
                    <a:lstStyle/>
                    <a:p>
                      <a:r>
                        <a:rPr lang="fr-FR" sz="1200" b="1">
                          <a:solidFill>
                            <a:srgbClr val="FFFFFF"/>
                          </a:solidFill>
                          <a:latin typeface="Calibri" panose="020F0502020204030204" pitchFamily="34" charset="0"/>
                        </a:rPr>
                        <a:t>N°</a:t>
                      </a:r>
                    </a:p>
                  </a:txBody>
                  <a:tcPr>
                    <a:solidFill>
                      <a:srgbClr val="1A5276"/>
                    </a:solidFill>
                  </a:tcPr>
                </a:tc>
                <a:tc>
                  <a:txBody>
                    <a:bodyPr/>
                    <a:lstStyle/>
                    <a:p>
                      <a:r>
                        <a:rPr lang="fr-FR" sz="1200" b="1">
                          <a:solidFill>
                            <a:srgbClr val="FFFFFF"/>
                          </a:solidFill>
                          <a:latin typeface="Calibri" panose="020F0502020204030204" pitchFamily="34" charset="0"/>
                        </a:rPr>
                        <a:t>Décision demandée</a:t>
                      </a:r>
                    </a:p>
                  </a:txBody>
                  <a:tcPr>
                    <a:solidFill>
                      <a:srgbClr val="1A5276"/>
                    </a:solidFill>
                  </a:tcPr>
                </a:tc>
                <a:tc>
                  <a:txBody>
                    <a:bodyPr/>
                    <a:lstStyle/>
                    <a:p>
                      <a:r>
                        <a:rPr lang="fr-FR" sz="1200" b="1">
                          <a:solidFill>
                            <a:srgbClr val="FFFFFF"/>
                          </a:solidFill>
                          <a:latin typeface="Calibri" panose="020F0502020204030204" pitchFamily="34" charset="0"/>
                        </a:rPr>
                        <a:t>Échéance</a:t>
                      </a:r>
                    </a:p>
                  </a:txBody>
                  <a:tcPr>
                    <a:solidFill>
                      <a:srgbClr val="1A5276"/>
                    </a:solidFill>
                  </a:tcPr>
                </a:tc>
                <a:extLst>
                  <a:ext uri="{0D108BD9-81ED-4DB2-BD59-A6C34878D82A}">
                    <a16:rowId xmlns:a16="http://schemas.microsoft.com/office/drawing/2014/main" val="2701372593"/>
                  </a:ext>
                </a:extLst>
              </a:tr>
              <a:tr h="508000">
                <a:tc>
                  <a:txBody>
                    <a:bodyPr/>
                    <a:lstStyle/>
                    <a:p>
                      <a:r>
                        <a:rPr lang="fr-FR" sz="1200" b="0">
                          <a:solidFill>
                            <a:srgbClr val="212121"/>
                          </a:solidFill>
                          <a:latin typeface="Calibri" panose="020F0502020204030204" pitchFamily="34" charset="0"/>
                        </a:rPr>
                        <a:t>1</a:t>
                      </a:r>
                    </a:p>
                  </a:txBody>
                  <a:tcPr>
                    <a:solidFill>
                      <a:srgbClr val="FFFFFF"/>
                    </a:solidFill>
                  </a:tcPr>
                </a:tc>
                <a:tc>
                  <a:txBody>
                    <a:bodyPr/>
                    <a:lstStyle/>
                    <a:p>
                      <a:r>
                        <a:rPr lang="fr-FR" sz="1200" b="0">
                          <a:solidFill>
                            <a:srgbClr val="212121"/>
                          </a:solidFill>
                          <a:latin typeface="Calibri" panose="020F0502020204030204" pitchFamily="34" charset="0"/>
                        </a:rPr>
                        <a:t>Valider le mode de gouvernance (méthode hybride, RACI, comité d'arbitrage)</a:t>
                      </a:r>
                    </a:p>
                  </a:txBody>
                  <a:tcPr>
                    <a:solidFill>
                      <a:srgbClr val="FFFFFF"/>
                    </a:solidFill>
                  </a:tcPr>
                </a:tc>
                <a:tc>
                  <a:txBody>
                    <a:bodyPr/>
                    <a:lstStyle/>
                    <a:p>
                      <a:r>
                        <a:rPr lang="fr-FR" sz="1200" b="0">
                          <a:solidFill>
                            <a:srgbClr val="212121"/>
                          </a:solidFill>
                          <a:latin typeface="Calibri" panose="020F0502020204030204" pitchFamily="34" charset="0"/>
                        </a:rPr>
                        <a:t>S2</a:t>
                      </a:r>
                    </a:p>
                  </a:txBody>
                  <a:tcPr>
                    <a:solidFill>
                      <a:srgbClr val="FFFFFF"/>
                    </a:solidFill>
                  </a:tcPr>
                </a:tc>
                <a:extLst>
                  <a:ext uri="{0D108BD9-81ED-4DB2-BD59-A6C34878D82A}">
                    <a16:rowId xmlns:a16="http://schemas.microsoft.com/office/drawing/2014/main" val="2734883886"/>
                  </a:ext>
                </a:extLst>
              </a:tr>
              <a:tr h="508000">
                <a:tc>
                  <a:txBody>
                    <a:bodyPr/>
                    <a:lstStyle/>
                    <a:p>
                      <a:r>
                        <a:rPr lang="fr-FR" sz="1200" b="0">
                          <a:solidFill>
                            <a:srgbClr val="212121"/>
                          </a:solidFill>
                          <a:latin typeface="Calibri" panose="020F0502020204030204" pitchFamily="34" charset="0"/>
                        </a:rPr>
                        <a:t>2</a:t>
                      </a:r>
                    </a:p>
                  </a:txBody>
                  <a:tcPr>
                    <a:solidFill>
                      <a:srgbClr val="EEF3F8"/>
                    </a:solidFill>
                  </a:tcPr>
                </a:tc>
                <a:tc>
                  <a:txBody>
                    <a:bodyPr/>
                    <a:lstStyle/>
                    <a:p>
                      <a:r>
                        <a:rPr lang="fr-FR" sz="1200" b="0">
                          <a:solidFill>
                            <a:srgbClr val="212121"/>
                          </a:solidFill>
                          <a:latin typeface="Calibri" panose="020F0502020204030204" pitchFamily="34" charset="0"/>
                        </a:rPr>
                        <a:t>Valider le calendrier de déploiement (4 phases, 5 jalons)</a:t>
                      </a:r>
                    </a:p>
                  </a:txBody>
                  <a:tcPr>
                    <a:solidFill>
                      <a:srgbClr val="EEF3F8"/>
                    </a:solidFill>
                  </a:tcPr>
                </a:tc>
                <a:tc>
                  <a:txBody>
                    <a:bodyPr/>
                    <a:lstStyle/>
                    <a:p>
                      <a:r>
                        <a:rPr lang="fr-FR" sz="1200" b="0">
                          <a:solidFill>
                            <a:srgbClr val="212121"/>
                          </a:solidFill>
                          <a:latin typeface="Calibri" panose="020F0502020204030204" pitchFamily="34" charset="0"/>
                        </a:rPr>
                        <a:t>S2</a:t>
                      </a:r>
                    </a:p>
                  </a:txBody>
                  <a:tcPr>
                    <a:solidFill>
                      <a:srgbClr val="EEF3F8"/>
                    </a:solidFill>
                  </a:tcPr>
                </a:tc>
                <a:extLst>
                  <a:ext uri="{0D108BD9-81ED-4DB2-BD59-A6C34878D82A}">
                    <a16:rowId xmlns:a16="http://schemas.microsoft.com/office/drawing/2014/main" val="861259233"/>
                  </a:ext>
                </a:extLst>
              </a:tr>
              <a:tr h="508000">
                <a:tc>
                  <a:txBody>
                    <a:bodyPr/>
                    <a:lstStyle/>
                    <a:p>
                      <a:r>
                        <a:rPr lang="fr-FR" sz="1200" b="0">
                          <a:solidFill>
                            <a:srgbClr val="212121"/>
                          </a:solidFill>
                          <a:latin typeface="Calibri" panose="020F0502020204030204" pitchFamily="34" charset="0"/>
                        </a:rPr>
                        <a:t>3</a:t>
                      </a:r>
                    </a:p>
                  </a:txBody>
                  <a:tcPr>
                    <a:solidFill>
                      <a:srgbClr val="FFFFFF"/>
                    </a:solidFill>
                  </a:tcPr>
                </a:tc>
                <a:tc>
                  <a:txBody>
                    <a:bodyPr/>
                    <a:lstStyle/>
                    <a:p>
                      <a:r>
                        <a:rPr lang="fr-FR" sz="1200" b="0">
                          <a:solidFill>
                            <a:srgbClr val="212121"/>
                          </a:solidFill>
                          <a:latin typeface="Calibri" panose="020F0502020204030204" pitchFamily="34" charset="0"/>
                        </a:rPr>
                        <a:t>Arbitrer les priorités du backlog proposées</a:t>
                      </a:r>
                    </a:p>
                  </a:txBody>
                  <a:tcPr>
                    <a:solidFill>
                      <a:srgbClr val="FFFFFF"/>
                    </a:solidFill>
                  </a:tcPr>
                </a:tc>
                <a:tc>
                  <a:txBody>
                    <a:bodyPr/>
                    <a:lstStyle/>
                    <a:p>
                      <a:r>
                        <a:rPr lang="fr-FR" sz="1200" b="0">
                          <a:solidFill>
                            <a:srgbClr val="212121"/>
                          </a:solidFill>
                          <a:latin typeface="Calibri" panose="020F0502020204030204" pitchFamily="34" charset="0"/>
                        </a:rPr>
                        <a:t>S2</a:t>
                      </a:r>
                    </a:p>
                  </a:txBody>
                  <a:tcPr>
                    <a:solidFill>
                      <a:srgbClr val="FFFFFF"/>
                    </a:solidFill>
                  </a:tcPr>
                </a:tc>
                <a:extLst>
                  <a:ext uri="{0D108BD9-81ED-4DB2-BD59-A6C34878D82A}">
                    <a16:rowId xmlns:a16="http://schemas.microsoft.com/office/drawing/2014/main" val="3766313375"/>
                  </a:ext>
                </a:extLst>
              </a:tr>
              <a:tr h="508000">
                <a:tc>
                  <a:txBody>
                    <a:bodyPr/>
                    <a:lstStyle/>
                    <a:p>
                      <a:r>
                        <a:rPr lang="fr-FR" sz="1200" b="0">
                          <a:solidFill>
                            <a:srgbClr val="212121"/>
                          </a:solidFill>
                          <a:latin typeface="Calibri" panose="020F0502020204030204" pitchFamily="34" charset="0"/>
                        </a:rPr>
                        <a:t>4</a:t>
                      </a:r>
                    </a:p>
                  </a:txBody>
                  <a:tcPr>
                    <a:solidFill>
                      <a:srgbClr val="EEF3F8"/>
                    </a:solidFill>
                  </a:tcPr>
                </a:tc>
                <a:tc>
                  <a:txBody>
                    <a:bodyPr/>
                    <a:lstStyle/>
                    <a:p>
                      <a:r>
                        <a:rPr lang="fr-FR" sz="1200" b="0">
                          <a:solidFill>
                            <a:srgbClr val="212121"/>
                          </a:solidFill>
                          <a:latin typeface="Calibri" panose="020F0502020204030204" pitchFamily="34" charset="0"/>
                        </a:rPr>
                        <a:t>Valider le dispositif d'accompagnement des utilisateurs</a:t>
                      </a:r>
                    </a:p>
                  </a:txBody>
                  <a:tcPr>
                    <a:solidFill>
                      <a:srgbClr val="EEF3F8"/>
                    </a:solidFill>
                  </a:tcPr>
                </a:tc>
                <a:tc>
                  <a:txBody>
                    <a:bodyPr/>
                    <a:lstStyle/>
                    <a:p>
                      <a:r>
                        <a:rPr lang="fr-FR" sz="1200" b="0">
                          <a:solidFill>
                            <a:srgbClr val="212121"/>
                          </a:solidFill>
                          <a:latin typeface="Calibri" panose="020F0502020204030204" pitchFamily="34" charset="0"/>
                        </a:rPr>
                        <a:t>S4</a:t>
                      </a:r>
                    </a:p>
                  </a:txBody>
                  <a:tcPr>
                    <a:solidFill>
                      <a:srgbClr val="EEF3F8"/>
                    </a:solidFill>
                  </a:tcPr>
                </a:tc>
                <a:extLst>
                  <a:ext uri="{0D108BD9-81ED-4DB2-BD59-A6C34878D82A}">
                    <a16:rowId xmlns:a16="http://schemas.microsoft.com/office/drawing/2014/main" val="1765976884"/>
                  </a:ext>
                </a:extLst>
              </a:tr>
            </a:tbl>
          </a:graphicData>
        </a:graphic>
      </p:graphicFrame>
      <p:sp>
        <p:nvSpPr>
          <p:cNvPr id="8" name="ZoneTexte 7">
            <a:extLst>
              <a:ext uri="{FF2B5EF4-FFF2-40B4-BE49-F238E27FC236}">
                <a16:creationId xmlns:a16="http://schemas.microsoft.com/office/drawing/2014/main" id="{4A7F2C76-B7F1-B86D-0529-AF7F12C5F696}"/>
              </a:ext>
            </a:extLst>
          </p:cNvPr>
          <p:cNvSpPr txBox="1"/>
          <p:nvPr/>
        </p:nvSpPr>
        <p:spPr>
          <a:xfrm>
            <a:off x="457200" y="4064000"/>
            <a:ext cx="11277600" cy="492443"/>
          </a:xfrm>
          <a:prstGeom prst="rect">
            <a:avLst/>
          </a:prstGeom>
          <a:noFill/>
        </p:spPr>
        <p:txBody>
          <a:bodyPr vert="horz" wrap="square" rtlCol="0">
            <a:spAutoFit/>
          </a:bodyPr>
          <a:lstStyle/>
          <a:p>
            <a:r>
              <a:rPr lang="fr-FR" sz="1300">
                <a:solidFill>
                  <a:srgbClr val="212121"/>
                </a:solidFill>
                <a:latin typeface="Calibri" panose="020F0502020204030204" pitchFamily="34" charset="0"/>
              </a:rPr>
              <a:t>Si vous validez aujourd'hui : le cadrage démarre immédiatement, le premier comité d'arbitrage se tient dès lundi, vous recevez le premier reporting hebdomadaire en semaine 3, et nous nous retrouvons au jalon J1 en fin de semaine 2 pour constater que la gouvernance est en place.</a:t>
            </a:r>
          </a:p>
        </p:txBody>
      </p:sp>
      <p:sp>
        <p:nvSpPr>
          <p:cNvPr id="9" name="Rectangle : coins arrondis 8">
            <a:extLst>
              <a:ext uri="{FF2B5EF4-FFF2-40B4-BE49-F238E27FC236}">
                <a16:creationId xmlns:a16="http://schemas.microsoft.com/office/drawing/2014/main" id="{7CA21C0D-CA52-0D36-2108-F3F90D9650FA}"/>
              </a:ext>
            </a:extLst>
          </p:cNvPr>
          <p:cNvSpPr/>
          <p:nvPr/>
        </p:nvSpPr>
        <p:spPr>
          <a:xfrm>
            <a:off x="457200" y="5537200"/>
            <a:ext cx="11277600" cy="533400"/>
          </a:xfrm>
          <a:prstGeom prst="roundRect">
            <a:avLst/>
          </a:prstGeom>
          <a:solidFill>
            <a:srgbClr val="1E8449"/>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500" b="1">
                <a:solidFill>
                  <a:srgbClr val="FFFFFF"/>
                </a:solidFill>
                <a:latin typeface="Calibri" panose="020F0502020204030204" pitchFamily="34" charset="0"/>
              </a:rPr>
              <a:t>Merci de votre attention. Je suis prêt a répondre à vos questions.</a:t>
            </a:r>
          </a:p>
        </p:txBody>
      </p:sp>
    </p:spTree>
    <p:extLst>
      <p:ext uri="{BB962C8B-B14F-4D97-AF65-F5344CB8AC3E}">
        <p14:creationId xmlns:p14="http://schemas.microsoft.com/office/powerpoint/2010/main" val="33591477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347ED5D-EF26-EFAA-731B-F1A4B7EAD199}"/>
              </a:ext>
            </a:extLst>
          </p:cNvPr>
          <p:cNvSpPr/>
          <p:nvPr/>
        </p:nvSpPr>
        <p:spPr>
          <a:xfrm>
            <a:off x="0" y="0"/>
            <a:ext cx="12192000" cy="812800"/>
          </a:xfrm>
          <a:prstGeom prst="rect">
            <a:avLst/>
          </a:prstGeom>
          <a:solidFill>
            <a:srgbClr val="1A5276"/>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C259CE8C-9378-BD15-9A19-211661CD21FC}"/>
              </a:ext>
            </a:extLst>
          </p:cNvPr>
          <p:cNvSpPr txBox="1"/>
          <p:nvPr/>
        </p:nvSpPr>
        <p:spPr>
          <a:xfrm>
            <a:off x="457200" y="101600"/>
            <a:ext cx="11176000" cy="446276"/>
          </a:xfrm>
          <a:prstGeom prst="rect">
            <a:avLst/>
          </a:prstGeom>
          <a:noFill/>
        </p:spPr>
        <p:txBody>
          <a:bodyPr vert="horz" wrap="square" rtlCol="0">
            <a:spAutoFit/>
          </a:bodyPr>
          <a:lstStyle/>
          <a:p>
            <a:r>
              <a:rPr lang="fr-FR" sz="2300" b="1">
                <a:solidFill>
                  <a:srgbClr val="FFFFFF"/>
                </a:solidFill>
                <a:latin typeface="Calibri" panose="020F0502020204030204" pitchFamily="34" charset="0"/>
              </a:rPr>
              <a:t>ANNEXE : socle data et périmètre technique du Lead Data</a:t>
            </a:r>
          </a:p>
        </p:txBody>
      </p:sp>
      <p:sp>
        <p:nvSpPr>
          <p:cNvPr id="4" name="ZoneTexte 3">
            <a:extLst>
              <a:ext uri="{FF2B5EF4-FFF2-40B4-BE49-F238E27FC236}">
                <a16:creationId xmlns:a16="http://schemas.microsoft.com/office/drawing/2014/main" id="{3EE45732-FC2B-D8F9-1566-233E1A25BFB0}"/>
              </a:ext>
            </a:extLst>
          </p:cNvPr>
          <p:cNvSpPr txBox="1"/>
          <p:nvPr/>
        </p:nvSpPr>
        <p:spPr>
          <a:xfrm>
            <a:off x="457200" y="482600"/>
            <a:ext cx="11430000" cy="276999"/>
          </a:xfrm>
          <a:prstGeom prst="rect">
            <a:avLst/>
          </a:prstGeom>
          <a:noFill/>
        </p:spPr>
        <p:txBody>
          <a:bodyPr vert="horz" wrap="square" rtlCol="0">
            <a:spAutoFit/>
          </a:bodyPr>
          <a:lstStyle/>
          <a:p>
            <a:r>
              <a:rPr lang="fr-FR" sz="1200">
                <a:solidFill>
                  <a:srgbClr val="EEF3F8"/>
                </a:solidFill>
                <a:latin typeface="Calibri" panose="020F0502020204030204" pitchFamily="34" charset="0"/>
              </a:rPr>
              <a:t>Présentée uniquement en réponse aux questions du jury, hors des 10 minutes de reporting</a:t>
            </a:r>
          </a:p>
        </p:txBody>
      </p:sp>
      <p:sp>
        <p:nvSpPr>
          <p:cNvPr id="5" name="ZoneTexte 4">
            <a:extLst>
              <a:ext uri="{FF2B5EF4-FFF2-40B4-BE49-F238E27FC236}">
                <a16:creationId xmlns:a16="http://schemas.microsoft.com/office/drawing/2014/main" id="{A6B1E597-8F34-4C3A-677E-EC3350A6EA8C}"/>
              </a:ext>
            </a:extLst>
          </p:cNvPr>
          <p:cNvSpPr txBox="1"/>
          <p:nvPr/>
        </p:nvSpPr>
        <p:spPr>
          <a:xfrm>
            <a:off x="457200" y="6527800"/>
            <a:ext cx="76200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Ouassim Megrad  ·  Lead Data  ·  équipe Megslab</a:t>
            </a:r>
          </a:p>
        </p:txBody>
      </p:sp>
      <p:sp>
        <p:nvSpPr>
          <p:cNvPr id="6" name="ZoneTexte 5">
            <a:extLst>
              <a:ext uri="{FF2B5EF4-FFF2-40B4-BE49-F238E27FC236}">
                <a16:creationId xmlns:a16="http://schemas.microsoft.com/office/drawing/2014/main" id="{559E4EE1-35F6-C76C-681B-AB88CE0E0401}"/>
              </a:ext>
            </a:extLst>
          </p:cNvPr>
          <p:cNvSpPr txBox="1"/>
          <p:nvPr/>
        </p:nvSpPr>
        <p:spPr>
          <a:xfrm>
            <a:off x="11176000" y="6527800"/>
            <a:ext cx="558800" cy="246221"/>
          </a:xfrm>
          <a:prstGeom prst="rect">
            <a:avLst/>
          </a:prstGeom>
          <a:noFill/>
        </p:spPr>
        <p:txBody>
          <a:bodyPr vert="horz" wrap="square" rtlCol="0">
            <a:spAutoFit/>
          </a:bodyPr>
          <a:lstStyle/>
          <a:p>
            <a:r>
              <a:rPr lang="fr-FR" sz="1000">
                <a:solidFill>
                  <a:srgbClr val="6E7680"/>
                </a:solidFill>
                <a:latin typeface="Calibri" panose="020F0502020204030204" pitchFamily="34" charset="0"/>
              </a:rPr>
              <a:t>9 / 9</a:t>
            </a:r>
          </a:p>
        </p:txBody>
      </p:sp>
      <p:sp>
        <p:nvSpPr>
          <p:cNvPr id="7" name="Rectangle : coins arrondis 6">
            <a:extLst>
              <a:ext uri="{FF2B5EF4-FFF2-40B4-BE49-F238E27FC236}">
                <a16:creationId xmlns:a16="http://schemas.microsoft.com/office/drawing/2014/main" id="{798FB915-FAEF-7027-8A6F-ED6424C5FD15}"/>
              </a:ext>
            </a:extLst>
          </p:cNvPr>
          <p:cNvSpPr/>
          <p:nvPr/>
        </p:nvSpPr>
        <p:spPr>
          <a:xfrm>
            <a:off x="457200" y="1016000"/>
            <a:ext cx="5461000" cy="1270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ZoneTexte 7">
            <a:extLst>
              <a:ext uri="{FF2B5EF4-FFF2-40B4-BE49-F238E27FC236}">
                <a16:creationId xmlns:a16="http://schemas.microsoft.com/office/drawing/2014/main" id="{4944B41E-8E30-3948-BDEA-2AE439B21883}"/>
              </a:ext>
            </a:extLst>
          </p:cNvPr>
          <p:cNvSpPr txBox="1"/>
          <p:nvPr/>
        </p:nvSpPr>
        <p:spPr>
          <a:xfrm>
            <a:off x="635000" y="1143000"/>
            <a:ext cx="5105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CHAÎNE DE DONNÉES</a:t>
            </a:r>
          </a:p>
        </p:txBody>
      </p:sp>
      <p:sp>
        <p:nvSpPr>
          <p:cNvPr id="9" name="ZoneTexte 8">
            <a:extLst>
              <a:ext uri="{FF2B5EF4-FFF2-40B4-BE49-F238E27FC236}">
                <a16:creationId xmlns:a16="http://schemas.microsoft.com/office/drawing/2014/main" id="{F8478268-60FC-86F6-A2C0-63429E2B6CEB}"/>
              </a:ext>
            </a:extLst>
          </p:cNvPr>
          <p:cNvSpPr txBox="1"/>
          <p:nvPr/>
        </p:nvSpPr>
        <p:spPr>
          <a:xfrm>
            <a:off x="635000" y="1473200"/>
            <a:ext cx="5105400" cy="646331"/>
          </a:xfrm>
          <a:prstGeom prst="rect">
            <a:avLst/>
          </a:prstGeom>
          <a:noFill/>
        </p:spPr>
        <p:txBody>
          <a:bodyPr vert="horz" wrap="square" rtlCol="0">
            <a:spAutoFit/>
          </a:bodyPr>
          <a:lstStyle/>
          <a:p>
            <a:r>
              <a:rPr lang="fr-FR" sz="1200">
                <a:solidFill>
                  <a:srgbClr val="212121"/>
                </a:solidFill>
                <a:latin typeface="Calibri" panose="020F0502020204030204" pitchFamily="34" charset="0"/>
              </a:rPr>
              <a:t>Collecte des signaux de mobilité (bus, tramways, vélos, capteurs de trafic), ingestion en continu et centralisation dans un entrepôt de données. Je garantis disponibilité et fraîcheur.</a:t>
            </a:r>
          </a:p>
        </p:txBody>
      </p:sp>
      <p:sp>
        <p:nvSpPr>
          <p:cNvPr id="10" name="Rectangle : coins arrondis 9">
            <a:extLst>
              <a:ext uri="{FF2B5EF4-FFF2-40B4-BE49-F238E27FC236}">
                <a16:creationId xmlns:a16="http://schemas.microsoft.com/office/drawing/2014/main" id="{6DA7DB3F-D461-A125-AA67-96D3AEBB735B}"/>
              </a:ext>
            </a:extLst>
          </p:cNvPr>
          <p:cNvSpPr/>
          <p:nvPr/>
        </p:nvSpPr>
        <p:spPr>
          <a:xfrm>
            <a:off x="6273800" y="1016000"/>
            <a:ext cx="5461000" cy="1270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ZoneTexte 10">
            <a:extLst>
              <a:ext uri="{FF2B5EF4-FFF2-40B4-BE49-F238E27FC236}">
                <a16:creationId xmlns:a16="http://schemas.microsoft.com/office/drawing/2014/main" id="{E5BDDDF5-80B1-3D71-DF8B-6677C75F45F4}"/>
              </a:ext>
            </a:extLst>
          </p:cNvPr>
          <p:cNvSpPr txBox="1"/>
          <p:nvPr/>
        </p:nvSpPr>
        <p:spPr>
          <a:xfrm>
            <a:off x="6451600" y="1143000"/>
            <a:ext cx="5105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QUALITÉ DES DONNÉES</a:t>
            </a:r>
          </a:p>
        </p:txBody>
      </p:sp>
      <p:sp>
        <p:nvSpPr>
          <p:cNvPr id="12" name="ZoneTexte 11">
            <a:extLst>
              <a:ext uri="{FF2B5EF4-FFF2-40B4-BE49-F238E27FC236}">
                <a16:creationId xmlns:a16="http://schemas.microsoft.com/office/drawing/2014/main" id="{B823036C-94EF-FC3F-95CA-B49A147930F8}"/>
              </a:ext>
            </a:extLst>
          </p:cNvPr>
          <p:cNvSpPr txBox="1"/>
          <p:nvPr/>
        </p:nvSpPr>
        <p:spPr>
          <a:xfrm>
            <a:off x="6451600" y="1473200"/>
            <a:ext cx="5105400" cy="646331"/>
          </a:xfrm>
          <a:prstGeom prst="rect">
            <a:avLst/>
          </a:prstGeom>
          <a:noFill/>
        </p:spPr>
        <p:txBody>
          <a:bodyPr vert="horz" wrap="square" rtlCol="0">
            <a:spAutoFit/>
          </a:bodyPr>
          <a:lstStyle/>
          <a:p>
            <a:r>
              <a:rPr lang="fr-FR" sz="1200">
                <a:solidFill>
                  <a:srgbClr val="212121"/>
                </a:solidFill>
                <a:latin typeface="Calibri" panose="020F0502020204030204" pitchFamily="34" charset="0"/>
              </a:rPr>
              <a:t>Contrôles automatisés : complétude, cohérence, doublons ; référentiels partages. C'est le prérequis des tendances par ligne (B06) : sans qualité, pas d'indicateur fiable.</a:t>
            </a:r>
          </a:p>
        </p:txBody>
      </p:sp>
      <p:sp>
        <p:nvSpPr>
          <p:cNvPr id="13" name="Rectangle : coins arrondis 12">
            <a:extLst>
              <a:ext uri="{FF2B5EF4-FFF2-40B4-BE49-F238E27FC236}">
                <a16:creationId xmlns:a16="http://schemas.microsoft.com/office/drawing/2014/main" id="{3E6B561E-F64A-10FE-29BA-17C0B9F819C5}"/>
              </a:ext>
            </a:extLst>
          </p:cNvPr>
          <p:cNvSpPr/>
          <p:nvPr/>
        </p:nvSpPr>
        <p:spPr>
          <a:xfrm>
            <a:off x="457200" y="2438400"/>
            <a:ext cx="5461000" cy="1270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4" name="ZoneTexte 13">
            <a:extLst>
              <a:ext uri="{FF2B5EF4-FFF2-40B4-BE49-F238E27FC236}">
                <a16:creationId xmlns:a16="http://schemas.microsoft.com/office/drawing/2014/main" id="{7C971F6B-38E5-21AC-4AEB-AC19549B2A33}"/>
              </a:ext>
            </a:extLst>
          </p:cNvPr>
          <p:cNvSpPr txBox="1"/>
          <p:nvPr/>
        </p:nvSpPr>
        <p:spPr>
          <a:xfrm>
            <a:off x="635000" y="2565400"/>
            <a:ext cx="5105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DÉTECTION D'ANOMALIES</a:t>
            </a:r>
          </a:p>
        </p:txBody>
      </p:sp>
      <p:sp>
        <p:nvSpPr>
          <p:cNvPr id="15" name="ZoneTexte 14">
            <a:extLst>
              <a:ext uri="{FF2B5EF4-FFF2-40B4-BE49-F238E27FC236}">
                <a16:creationId xmlns:a16="http://schemas.microsoft.com/office/drawing/2014/main" id="{B7F18A5E-5185-36F7-23A6-FA81725EF102}"/>
              </a:ext>
            </a:extLst>
          </p:cNvPr>
          <p:cNvSpPr txBox="1"/>
          <p:nvPr/>
        </p:nvSpPr>
        <p:spPr>
          <a:xfrm>
            <a:off x="635000" y="2895600"/>
            <a:ext cx="5105400" cy="646331"/>
          </a:xfrm>
          <a:prstGeom prst="rect">
            <a:avLst/>
          </a:prstGeom>
          <a:noFill/>
        </p:spPr>
        <p:txBody>
          <a:bodyPr vert="horz" wrap="square" rtlCol="0">
            <a:spAutoFit/>
          </a:bodyPr>
          <a:lstStyle/>
          <a:p>
            <a:r>
              <a:rPr lang="fr-FR" sz="1200">
                <a:solidFill>
                  <a:srgbClr val="212121"/>
                </a:solidFill>
                <a:latin typeface="Calibri" panose="020F0502020204030204" pitchFamily="34" charset="0"/>
              </a:rPr>
              <a:t>Modèle statistique surveillé par le MLOps ; je pilote le réglage des seuils pour réduire les fausses alertes de 28 % à 15 %, condition de la confiance des agents.</a:t>
            </a:r>
          </a:p>
        </p:txBody>
      </p:sp>
      <p:sp>
        <p:nvSpPr>
          <p:cNvPr id="16" name="Rectangle : coins arrondis 15">
            <a:extLst>
              <a:ext uri="{FF2B5EF4-FFF2-40B4-BE49-F238E27FC236}">
                <a16:creationId xmlns:a16="http://schemas.microsoft.com/office/drawing/2014/main" id="{9E7FD0DD-5AC2-C6FD-B8E0-91A13BBB478A}"/>
              </a:ext>
            </a:extLst>
          </p:cNvPr>
          <p:cNvSpPr/>
          <p:nvPr/>
        </p:nvSpPr>
        <p:spPr>
          <a:xfrm>
            <a:off x="6273800" y="2438400"/>
            <a:ext cx="5461000" cy="1270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7" name="ZoneTexte 16">
            <a:extLst>
              <a:ext uri="{FF2B5EF4-FFF2-40B4-BE49-F238E27FC236}">
                <a16:creationId xmlns:a16="http://schemas.microsoft.com/office/drawing/2014/main" id="{B723CCFD-CBA0-5985-4549-930630355A81}"/>
              </a:ext>
            </a:extLst>
          </p:cNvPr>
          <p:cNvSpPr txBox="1"/>
          <p:nvPr/>
        </p:nvSpPr>
        <p:spPr>
          <a:xfrm>
            <a:off x="6451600" y="2565400"/>
            <a:ext cx="5105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RESTITUTION</a:t>
            </a:r>
          </a:p>
        </p:txBody>
      </p:sp>
      <p:sp>
        <p:nvSpPr>
          <p:cNvPr id="18" name="ZoneTexte 17">
            <a:extLst>
              <a:ext uri="{FF2B5EF4-FFF2-40B4-BE49-F238E27FC236}">
                <a16:creationId xmlns:a16="http://schemas.microsoft.com/office/drawing/2014/main" id="{B2F731E9-70D2-07D5-7D71-041AB78A4F8C}"/>
              </a:ext>
            </a:extLst>
          </p:cNvPr>
          <p:cNvSpPr txBox="1"/>
          <p:nvPr/>
        </p:nvSpPr>
        <p:spPr>
          <a:xfrm>
            <a:off x="6451600" y="2895600"/>
            <a:ext cx="5105400" cy="461665"/>
          </a:xfrm>
          <a:prstGeom prst="rect">
            <a:avLst/>
          </a:prstGeom>
          <a:noFill/>
        </p:spPr>
        <p:txBody>
          <a:bodyPr vert="horz" wrap="square" rtlCol="0">
            <a:spAutoFit/>
          </a:bodyPr>
          <a:lstStyle/>
          <a:p>
            <a:r>
              <a:rPr lang="fr-FR" sz="1200">
                <a:solidFill>
                  <a:srgbClr val="212121"/>
                </a:solidFill>
                <a:latin typeface="Calibri" panose="020F0502020204030204" pitchFamily="34" charset="0"/>
              </a:rPr>
              <a:t>API de consultation, tableau de bord interne et exports CSV pour les analystes (B05), avec gestion des permissions d'accès.</a:t>
            </a:r>
          </a:p>
        </p:txBody>
      </p:sp>
      <p:sp>
        <p:nvSpPr>
          <p:cNvPr id="19" name="Rectangle : coins arrondis 18">
            <a:extLst>
              <a:ext uri="{FF2B5EF4-FFF2-40B4-BE49-F238E27FC236}">
                <a16:creationId xmlns:a16="http://schemas.microsoft.com/office/drawing/2014/main" id="{5DCACBD2-CE5F-316D-3B60-90535BF10597}"/>
              </a:ext>
            </a:extLst>
          </p:cNvPr>
          <p:cNvSpPr/>
          <p:nvPr/>
        </p:nvSpPr>
        <p:spPr>
          <a:xfrm>
            <a:off x="457200" y="3860800"/>
            <a:ext cx="5461000" cy="1397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0" name="ZoneTexte 19">
            <a:extLst>
              <a:ext uri="{FF2B5EF4-FFF2-40B4-BE49-F238E27FC236}">
                <a16:creationId xmlns:a16="http://schemas.microsoft.com/office/drawing/2014/main" id="{854B9463-C182-BB9F-D07E-D43023A9AB57}"/>
              </a:ext>
            </a:extLst>
          </p:cNvPr>
          <p:cNvSpPr txBox="1"/>
          <p:nvPr/>
        </p:nvSpPr>
        <p:spPr>
          <a:xfrm>
            <a:off x="635000" y="3987800"/>
            <a:ext cx="5105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MON PILOTAGE DE LEAD DATA</a:t>
            </a:r>
          </a:p>
        </p:txBody>
      </p:sp>
      <p:sp>
        <p:nvSpPr>
          <p:cNvPr id="21" name="ZoneTexte 20">
            <a:extLst>
              <a:ext uri="{FF2B5EF4-FFF2-40B4-BE49-F238E27FC236}">
                <a16:creationId xmlns:a16="http://schemas.microsoft.com/office/drawing/2014/main" id="{B5E3EDF8-A202-2358-7267-3326331EAF21}"/>
              </a:ext>
            </a:extLst>
          </p:cNvPr>
          <p:cNvSpPr txBox="1"/>
          <p:nvPr/>
        </p:nvSpPr>
        <p:spPr>
          <a:xfrm>
            <a:off x="635000" y="4318000"/>
            <a:ext cx="5105400" cy="646331"/>
          </a:xfrm>
          <a:prstGeom prst="rect">
            <a:avLst/>
          </a:prstGeom>
          <a:noFill/>
        </p:spPr>
        <p:txBody>
          <a:bodyPr vert="horz" wrap="square" rtlCol="0">
            <a:spAutoFit/>
          </a:bodyPr>
          <a:lstStyle/>
          <a:p>
            <a:r>
              <a:rPr lang="fr-FR" sz="1200">
                <a:solidFill>
                  <a:srgbClr val="212121"/>
                </a:solidFill>
                <a:latin typeface="Calibri" panose="020F0502020204030204" pitchFamily="34" charset="0"/>
              </a:rPr>
              <a:t>Formules et responsables des 7 KPI documentes au glossaire (risque R06), canal de feedback structure (B10), estimation de l'empreinte numerique par run (indicateur RSE defini en S4).</a:t>
            </a:r>
          </a:p>
        </p:txBody>
      </p:sp>
      <p:sp>
        <p:nvSpPr>
          <p:cNvPr id="22" name="Rectangle : coins arrondis 21">
            <a:extLst>
              <a:ext uri="{FF2B5EF4-FFF2-40B4-BE49-F238E27FC236}">
                <a16:creationId xmlns:a16="http://schemas.microsoft.com/office/drawing/2014/main" id="{94C18112-DA99-E985-5847-79F40344D322}"/>
              </a:ext>
            </a:extLst>
          </p:cNvPr>
          <p:cNvSpPr/>
          <p:nvPr/>
        </p:nvSpPr>
        <p:spPr>
          <a:xfrm>
            <a:off x="6273800" y="3860800"/>
            <a:ext cx="5461000" cy="1397000"/>
          </a:xfrm>
          <a:prstGeom prst="roundRect">
            <a:avLst/>
          </a:prstGeom>
          <a:solidFill>
            <a:srgbClr val="EEF3F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3" name="ZoneTexte 22">
            <a:extLst>
              <a:ext uri="{FF2B5EF4-FFF2-40B4-BE49-F238E27FC236}">
                <a16:creationId xmlns:a16="http://schemas.microsoft.com/office/drawing/2014/main" id="{7BCECACB-C405-A7AA-AE0E-348ECEA733F5}"/>
              </a:ext>
            </a:extLst>
          </p:cNvPr>
          <p:cNvSpPr txBox="1"/>
          <p:nvPr/>
        </p:nvSpPr>
        <p:spPr>
          <a:xfrm>
            <a:off x="6451600" y="3987800"/>
            <a:ext cx="5105400" cy="307777"/>
          </a:xfrm>
          <a:prstGeom prst="rect">
            <a:avLst/>
          </a:prstGeom>
          <a:noFill/>
        </p:spPr>
        <p:txBody>
          <a:bodyPr vert="horz" wrap="square" rtlCol="0">
            <a:spAutoFit/>
          </a:bodyPr>
          <a:lstStyle/>
          <a:p>
            <a:r>
              <a:rPr lang="fr-FR" sz="1400" b="1">
                <a:solidFill>
                  <a:srgbClr val="1A5276"/>
                </a:solidFill>
                <a:latin typeface="Calibri" panose="020F0502020204030204" pitchFamily="34" charset="0"/>
              </a:rPr>
              <a:t>PÉRIMÈTRE ASSUMÉ</a:t>
            </a:r>
          </a:p>
        </p:txBody>
      </p:sp>
      <p:sp>
        <p:nvSpPr>
          <p:cNvPr id="24" name="ZoneTexte 23">
            <a:extLst>
              <a:ext uri="{FF2B5EF4-FFF2-40B4-BE49-F238E27FC236}">
                <a16:creationId xmlns:a16="http://schemas.microsoft.com/office/drawing/2014/main" id="{A8B17660-0652-7E5B-8C35-687B2F1FA64C}"/>
              </a:ext>
            </a:extLst>
          </p:cNvPr>
          <p:cNvSpPr txBox="1"/>
          <p:nvPr/>
        </p:nvSpPr>
        <p:spPr>
          <a:xfrm>
            <a:off x="6451600" y="4318000"/>
            <a:ext cx="5105400" cy="646331"/>
          </a:xfrm>
          <a:prstGeom prst="rect">
            <a:avLst/>
          </a:prstGeom>
          <a:noFill/>
        </p:spPr>
        <p:txBody>
          <a:bodyPr vert="horz" wrap="square" rtlCol="0">
            <a:spAutoFit/>
          </a:bodyPr>
          <a:lstStyle/>
          <a:p>
            <a:r>
              <a:rPr lang="fr-FR" sz="1200">
                <a:solidFill>
                  <a:srgbClr val="212121"/>
                </a:solidFill>
                <a:latin typeface="Calibri" panose="020F0502020204030204" pitchFamily="34" charset="0"/>
              </a:rPr>
              <a:t>Le developpement relève des épreuves E2/E3. Dans ce projet, je pilote la qualité, la fiabilité et l'exploitation du socle : c'est ce qui fonde ma légitimité sur les indicateurs présentés.</a:t>
            </a:r>
          </a:p>
        </p:txBody>
      </p:sp>
    </p:spTree>
    <p:extLst>
      <p:ext uri="{BB962C8B-B14F-4D97-AF65-F5344CB8AC3E}">
        <p14:creationId xmlns:p14="http://schemas.microsoft.com/office/powerpoint/2010/main" val="506176092"/>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3780</Words>
  <Application>Microsoft Office PowerPoint</Application>
  <PresentationFormat>Grand écran</PresentationFormat>
  <Paragraphs>201</Paragraphs>
  <Slides>9</Slides>
  <Notes>9</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9</vt:i4>
      </vt:variant>
    </vt:vector>
  </HeadingPairs>
  <TitlesOfParts>
    <vt:vector size="14" baseType="lpstr">
      <vt:lpstr>Aptos</vt:lpstr>
      <vt:lpstr>Aptos Display</vt:lpstr>
      <vt:lpstr>Arial</vt:lpstr>
      <vt:lpstr>Calibri</vt:lpstr>
      <vt:lpstr>Thème Office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Ouassim MEGRAD</dc:creator>
  <cp:lastModifiedBy>Ouassim MEGRAD</cp:lastModifiedBy>
  <cp:revision>2</cp:revision>
  <dcterms:created xsi:type="dcterms:W3CDTF">2026-07-21T18:07:17Z</dcterms:created>
  <dcterms:modified xsi:type="dcterms:W3CDTF">2026-07-21T18:13:27Z</dcterms:modified>
</cp:coreProperties>
</file>