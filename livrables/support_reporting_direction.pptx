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4"/>
  </p:notesMasterIdLst>
  <p:sldIdLst>
    <p:sldId id="261" r:id="rId5"/>
    <p:sldId id="262" r:id="rId6"/>
    <p:sldId id="263" r:id="rId7"/>
    <p:sldId id="265" r:id="rId8"/>
    <p:sldId id="266" r:id="rId9"/>
    <p:sldId id="267" r:id="rId10"/>
    <p:sldId id="272" r:id="rId11"/>
    <p:sldId id="273" r:id="rId12"/>
    <p:sldId id="27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27275A-5004-4488-BB2B-8541C3EB84DB}" v="6" dt="2018-08-08T09:05:58.3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1"/>
    <p:restoredTop sz="94647"/>
  </p:normalViewPr>
  <p:slideViewPr>
    <p:cSldViewPr snapToGrid="0" snapToObjects="1">
      <p:cViewPr varScale="1">
        <p:scale>
          <a:sx n="69" d="100"/>
          <a:sy n="69" d="100"/>
        </p:scale>
        <p:origin x="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title>
      <c:tx>
        <c:rich>
          <a:bodyPr/>
          <a:lstStyle/>
          <a:p>
            <a:pPr>
              <a:defRPr sz="1600" b="1">
                <a:solidFill>
                  <a:srgbClr val="1A5276"/>
                </a:solidFill>
              </a:defRPr>
            </a:pPr>
            <a:r>
              <a:rPr lang="fr-FR" sz="1600" b="1">
                <a:solidFill>
                  <a:srgbClr val="1A5276"/>
                </a:solidFill>
              </a:rPr>
              <a:t>Départ  →  Cible en S12</a:t>
            </a:r>
          </a:p>
        </c:rich>
      </c:tx>
      <c:overlay val="0"/>
    </c:title>
    <c:autoTitleDeleted val="0"/>
    <c:plotArea>
      <c:layout/>
      <c:barChart>
        <c:barDir val="col"/>
        <c:grouping val="clustered"/>
        <c:varyColors val="0"/>
        <c:ser>
          <c:idx val="0"/>
          <c:order val="0"/>
          <c:tx>
            <c:strRef>
              <c:f>x</c:f>
              <c:strCache>
                <c:ptCount val="1"/>
                <c:pt idx="0">
                  <c:v>Départ</c:v>
                </c:pt>
              </c:strCache>
            </c:strRef>
          </c:tx>
          <c:spPr>
            <a:solidFill>
              <a:srgbClr val="AEB6BD"/>
            </a:solidFill>
          </c:spPr>
          <c:invertIfNegative val="1"/>
          <c:dLbls>
            <c:numFmt formatCode="General" sourceLinked="0"/>
            <c:spPr>
              <a:noFill/>
              <a:ln>
                <a:noFill/>
              </a:ln>
              <a:effectLst/>
            </c:spPr>
            <c:txPr>
              <a:bodyPr/>
              <a:lstStyle/>
              <a:p>
                <a:pPr>
                  <a:defRPr sz="1400" b="1"/>
                </a:pPr>
                <a:endParaRPr lang="fr-FR"/>
              </a:p>
            </c:txPr>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Adoption (%)</c:v>
              </c:pt>
              <c:pt idx="1">
                <c:v>Temps / alerte (min)</c:v>
              </c:pt>
              <c:pt idx="2">
                <c:v>Fausses alertes (%)</c:v>
              </c:pt>
            </c:strLit>
          </c:cat>
          <c:val>
            <c:numLit>
              <c:formatCode>General</c:formatCode>
              <c:ptCount val="3"/>
              <c:pt idx="0">
                <c:v>35</c:v>
              </c:pt>
              <c:pt idx="1">
                <c:v>5</c:v>
              </c:pt>
              <c:pt idx="2">
                <c:v>28</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F5B-4ADD-9D2D-C18F18055576}"/>
            </c:ext>
          </c:extLst>
        </c:ser>
        <c:ser>
          <c:idx val="1"/>
          <c:order val="1"/>
          <c:tx>
            <c:strRef>
              <c:f>y</c:f>
              <c:strCache>
                <c:ptCount val="1"/>
                <c:pt idx="0">
                  <c:v>Cible S12</c:v>
                </c:pt>
              </c:strCache>
            </c:strRef>
          </c:tx>
          <c:spPr>
            <a:solidFill>
              <a:srgbClr val="1A5276"/>
            </a:solidFill>
          </c:spPr>
          <c:invertIfNegative val="1"/>
          <c:dLbls>
            <c:numFmt formatCode="General" sourceLinked="0"/>
            <c:spPr>
              <a:noFill/>
              <a:ln>
                <a:noFill/>
              </a:ln>
              <a:effectLst/>
            </c:spPr>
            <c:txPr>
              <a:bodyPr/>
              <a:lstStyle/>
              <a:p>
                <a:pPr>
                  <a:defRPr sz="1400" b="1">
                    <a:solidFill>
                      <a:srgbClr val="1A5276"/>
                    </a:solidFill>
                  </a:defRPr>
                </a:pPr>
                <a:endParaRPr lang="fr-FR"/>
              </a:p>
            </c:txPr>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Adoption (%)</c:v>
              </c:pt>
              <c:pt idx="1">
                <c:v>Temps / alerte (min)</c:v>
              </c:pt>
              <c:pt idx="2">
                <c:v>Fausses alertes (%)</c:v>
              </c:pt>
            </c:strLit>
          </c:cat>
          <c:val>
            <c:numLit>
              <c:formatCode>General</c:formatCode>
              <c:ptCount val="3"/>
              <c:pt idx="0">
                <c:v>75</c:v>
              </c:pt>
              <c:pt idx="1">
                <c:v>2</c:v>
              </c:pt>
              <c:pt idx="2">
                <c:v>15</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F5B-4ADD-9D2D-C18F18055576}"/>
            </c:ext>
          </c:extLst>
        </c:ser>
        <c:dLbls>
          <c:showLegendKey val="0"/>
          <c:showVal val="0"/>
          <c:showCatName val="0"/>
          <c:showSerName val="0"/>
          <c:showPercent val="0"/>
          <c:showBubbleSize val="0"/>
        </c:dLbls>
        <c:gapWidth val="120"/>
        <c:axId val="1"/>
        <c:axId val="2"/>
      </c:barChart>
      <c:catAx>
        <c:axId val="1"/>
        <c:scaling>
          <c:orientation val="minMax"/>
        </c:scaling>
        <c:delete val="0"/>
        <c:axPos val="b"/>
        <c:numFmt formatCode="General" sourceLinked="0"/>
        <c:majorTickMark val="none"/>
        <c:minorTickMark val="none"/>
        <c:tickLblPos val="nextTo"/>
        <c:txPr>
          <a:bodyPr/>
          <a:lstStyle/>
          <a:p>
            <a:pPr>
              <a:defRPr sz="1400"/>
            </a:pPr>
            <a:endParaRPr lang="fr-FR"/>
          </a:p>
        </c:txPr>
        <c:crossAx val="2"/>
        <c:crosses val="autoZero"/>
        <c:auto val="1"/>
        <c:lblAlgn val="ctr"/>
        <c:lblOffset val="100"/>
        <c:noMultiLvlLbl val="1"/>
      </c:catAx>
      <c:valAx>
        <c:axId val="2"/>
        <c:scaling>
          <c:orientation val="minMax"/>
        </c:scaling>
        <c:delete val="1"/>
        <c:axPos val="l"/>
        <c:numFmt formatCode="General" sourceLinked="1"/>
        <c:majorTickMark val="none"/>
        <c:minorTickMark val="none"/>
        <c:tickLblPos val="none"/>
        <c:crossAx val="1"/>
        <c:crosses val="autoZero"/>
        <c:crossBetween val="between"/>
      </c:valAx>
    </c:plotArea>
    <c:legend>
      <c:legendPos val="t"/>
      <c:overlay val="0"/>
      <c:txPr>
        <a:bodyPr/>
        <a:lstStyle/>
        <a:p>
          <a:pPr>
            <a:defRPr sz="1400"/>
          </a:pPr>
          <a:endParaRPr lang="fr-FR"/>
        </a:p>
      </c:txPr>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1EB1D1-6F06-4CE4-B152-2528520FE78A}" type="datetimeFigureOut">
              <a:rPr lang="fr-FR" smtClean="0"/>
              <a:t>21/07/2026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CC0119-F7B7-4A0B-8522-9FAF141D766A}" type="slidenum">
              <a:rPr lang="fr-FR" smtClean="0"/>
              <a:t>‹N°›</a:t>
            </a:fld>
            <a:endParaRPr lang="fr-FR"/>
          </a:p>
        </p:txBody>
      </p:sp>
    </p:spTree>
    <p:extLst>
      <p:ext uri="{BB962C8B-B14F-4D97-AF65-F5344CB8AC3E}">
        <p14:creationId xmlns:p14="http://schemas.microsoft.com/office/powerpoint/2010/main" val="1589343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STATUT GLOBAL : VERT]
PITCH MOT A MOT :
Bonjour a tous. Je suis Ouassim Megrad, Lead Data de l'equipe Megslab. La direction de NovaVille a confie le passage a l'echelle de MobilityPulse a l'equipe Data Engineering, dont je suis le responsable. Ma mission : securiser le deploiement pilote sur 12 semaines.
Un point important avant de commencer : la solution existe deja, sous forme de prototype qui collecte les signaux de mobilite, detecte les anomalies et affiche des indicateurs. Mon travail n'est donc pas de la developper, mais d'organiser son adoption.
La direction a constate trois limites : personne ne sait organiser le passage a l'echelle, les roles entre les equipes ne sont pas formalises, et les utilisateurs demandent de la formation et du support. Mon dossier repond a ces trois limites, point par point : un plan projet, une gouvernance claire, et un accompagnement par profil.
Le statut global du projet est vert. Je vous presente le dispositif en huit points, et je terminerai par les quatre decisions que j'attends de ce comite.
TRANSITION : "Commencons par le calendrier."</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1</a:t>
            </a:fld>
            <a:endParaRPr lang="fr-FR"/>
          </a:p>
        </p:txBody>
      </p:sp>
    </p:spTree>
    <p:extLst>
      <p:ext uri="{BB962C8B-B14F-4D97-AF65-F5344CB8AC3E}">
        <p14:creationId xmlns:p14="http://schemas.microsoft.com/office/powerpoint/2010/main" val="855286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Le deploiement tient en 12 semaines, decoupe en quatre phases et cinq jalons. Deux semaines de cadrage pour installer la gouvernance. Puis six semaines de travail produit, en trois sprints de deux semaines. En parallele, a partir de la semaine 6, l'accompagnement des utilisateurs demarre. Et les deux dernieres semaines sont le deploiement pilote en conditions reelles.
Vous remarquez que les phases produit et formation se chevauchent : c'est volontaire. Les agents ont peu de temps disponible, donc j'etale les formations sur cinq semaines. Et surtout, tout le monde est forme avant le pilote : un pilote avec des utilisateurs non formes mesurerait l'echec de la formation, pas la valeur de l'outil.
CAS CONCRET A RACONTER :
"Pourquoi cet ordre de travail ? Un exemple : le support reclame une procedure d'escalade des incidents. Impossible de l'ecrire tant qu'on ne sait pas qui fait quoi : a qui on escalade ? C'est pour ca que la definition des roles se fait en semaines 1 et 2, et la procedure juste apres, au sprint 1. Meme logique pour le reporting hebdomadaire : il faut d'abord definir les indicateurs avant de les rapporter."
TRANSITION : "Justement, parlons des roles."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2</a:t>
            </a:fld>
            <a:endParaRPr lang="fr-FR"/>
          </a:p>
        </p:txBody>
      </p:sp>
    </p:spTree>
    <p:extLst>
      <p:ext uri="{BB962C8B-B14F-4D97-AF65-F5344CB8AC3E}">
        <p14:creationId xmlns:p14="http://schemas.microsoft.com/office/powerpoint/2010/main" val="676894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No1]
PITCH MOT A MOT :
Pour la gouvernance, j'ai choisi une methode hybride. Les evolutions du produit sont planifiables : je les organise en sprints de deux semaines, ce qui donne une cadence lisible pour vous, la direction. Le support, lui, est un flux imprevisible : je le gere en continu avec une file de priorites. Deux natures de travail, deux modes adaptes.
Le point central du dispositif, c'est le comite d'arbitrage hebdomadaire. Chaque activite a un seul responsable : le Product Owner priorise, moi je planifie, je garantis la fiabilite des indicateurs et je vous rends compte, et le referent accessibilite valide chaque support.
Premiere decision que je vous demande : valider ce mode de gouvernance.
CAS CONCRET A RACONTER :
"Imaginez la semaine 4. L'equipe technique veut livrer l'export CSV pour les analystes. Le centre de supervision, lui, reclame d'abord des alertes comprehensibles. Sans gouvernance, ce desaccord traine des semaines. Chez nous : comite d'arbitrage du lundi, 30 minutes. Le Product Owner tranche, les alertes d'abord, parce que la non-adoption des agents est notre risque numero un, et moi j'eclaire la decision avec la charge et les dependances techniques. Le conflit a dure une semaine, pas deux mois."
TRANSITION : "Une gouvernance pilote avec des chiffres. Voici les notres."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3</a:t>
            </a:fld>
            <a:endParaRPr lang="fr-FR"/>
          </a:p>
        </p:txBody>
      </p:sp>
    </p:spTree>
    <p:extLst>
      <p:ext uri="{BB962C8B-B14F-4D97-AF65-F5344CB8AC3E}">
        <p14:creationId xmlns:p14="http://schemas.microsoft.com/office/powerpoint/2010/main" val="1573417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LA SLIDE DU LEAD DATA]
PITCH MOT A MOT :
Le pilotage repose sur des indicateurs en quatre categories : le projet, le produit, l'adoption et l'impact environnemental. Tous les chiffres que vous voyez viennent du dossier fourni par la direction, je n'ai rien invente.
Trois chiffres a retenir. L'adoption d'abord : 35 % des utilisateurs cibles utilisent l'outil aujourd'hui, l'objectif est 75 % en fin de pilote. Le temps de comprehension d'une alerte ensuite : 5 minutes aujourd'hui, 2 minutes en cible. Et les fausses alertes : 28 % aujourd'hui, 15 % en cible, parce que la confiance dans l'outil conditionne son adoption.
En tant que Lead Data, c'est mon coeur de metier : chaque indicateur a un responsable designe, une formule documentee dans un glossaire, et une action prevue si la mesure derive. L'engagement environnemental est tenu : l'indicateur d'empreinte numerique est defini en semaine 4 et suivi chaque mois.
CAS CONCRET A RACONTER :
"Prenons Malik, agent au centre de supervision. Aujourd'hui, en pleine heure de pointe, il recoit une alerte du genre 'anomalie de flux detectee, score 3,2'. Il met 5 minutes a comprendre, 5 minutes pendant lesquelles il ne decide rien. Notre travail : la meme alerte devient 'retard inhabituel sur la ligne de bus 12, secteur gare', avec une aide contextuelle. Objectif : 2 minutes. Voila ce que mesure ce KPI."
TRANSITION : "Des chiffres pour piloter, et des risques sous controle."</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4</a:t>
            </a:fld>
            <a:endParaRPr lang="fr-FR"/>
          </a:p>
        </p:txBody>
      </p:sp>
    </p:spTree>
    <p:extLst>
      <p:ext uri="{BB962C8B-B14F-4D97-AF65-F5344CB8AC3E}">
        <p14:creationId xmlns:p14="http://schemas.microsoft.com/office/powerpoint/2010/main" val="3114296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Six risques sont documentes au registre, je vous presente les trois majeurs. Le premier, c'est la non-adoption par les agents : c'est le risque qui tuerait le projet. Mes parades : des formations courtes, de la co-construction avec le terrain, et un canal de retours structure. Le deuxieme, ce sont les conflits de priorites entre l'IT et le metier : c'est le comite d'arbitrage hebdomadaire qui le traite. Le troisieme, c'est une accessibilite insuffisante : chaque support est valide par le referent accessibilite avant diffusion, pas apres coup.
Et j'insiste sur un point : chaque risque a aussi un plan de contingence avec un seuil defini a l'avance. Pas d'improvisation en cours de pilote : les decisions difficiles sont preparees avant.
CAS CONCRET A RACONTER :
"Concretement : nous sommes en semaine 8, le tableau de bord affiche 48 % d'adoption alors qu'on devrait etre autour de 55. Le seuil des 50 % est franchi : je n'improvise pas, je declenche le plan prepare, ateliers cibles sur les equipes qui n'utilisent pas l'outil, accompagnement en binome, et je passe le statut a l'orange dans mon reporting avec la decision que je vous demande."
TRANSITION : "Ces risques, ce sont aussi les utilisateurs qui nous les signalent."</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5</a:t>
            </a:fld>
            <a:endParaRPr lang="fr-FR"/>
          </a:p>
        </p:txBody>
      </p:sp>
    </p:spTree>
    <p:extLst>
      <p:ext uri="{BB962C8B-B14F-4D97-AF65-F5344CB8AC3E}">
        <p14:creationId xmlns:p14="http://schemas.microsoft.com/office/powerpoint/2010/main" val="36202572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PITCH MOT A MOT :
Six retours utilisateurs ont ete recueillis sur le prototype. Je les ai priorises en croisant deux criteres : l'impact et la frequence.
Trois retours cumulent impact fort et frequence elevee : le vocabulaire des alertes est trop technique, il n'existe aucune procedure en cas de mauvaise alerte, et les definitions des indicateurs sont imprecises. Ils sont traites en premier.
Le retour sur les graphiques illisibles au lecteur d'ecran est moins frequent, mais je l'ai remonte en priorite : l'accessibilite est une exigence d'inclusion de ce projet, pas une option.
Ce que je veux que vous reteniez : l'ordre de mes sprints n'est pas arbitraire, il reflete directement ce que le terrain nous a dit.
CAS CONCRET A RACONTER :
"Exemple tire des retours : les agents disent, je cite, 'les alertes sont utiles mais le vocabulaire est trop technique'. Retour frequent, impact eleve : c'est devenu ma priorite du sprint 2."
TRANSITION : "Ecouter le terrain, c'est aussi le former."</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6</a:t>
            </a:fld>
            <a:endParaRPr lang="fr-FR"/>
          </a:p>
        </p:txBody>
      </p:sp>
    </p:spTree>
    <p:extLst>
      <p:ext uri="{BB962C8B-B14F-4D97-AF65-F5344CB8AC3E}">
        <p14:creationId xmlns:p14="http://schemas.microsoft.com/office/powerpoint/2010/main" val="1614691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No2]
PITCH MOT A MOT :
L'accompagnement suit une logique simple : informer, former, accompagner sur le poste, puis rendre autonome. Quatre profils, quatre parcours adaptes : le superviseur presse, l'agent en salle operationnelle, l'analyste, et l'utilisateur en situation de handicap.
La contrainte principale, c'est le temps : les agents en ont tres peu. Donc tout est court : un seul atelier de 45 minutes par profil, des tutoriels de 3 a 5 minutes, et la prise en main se fait en binome, sur leur poste, pendant leur travail reel.
Pour l'accessibilite : une session dediee a rythme adapte, des supports compatibles lecteur d'ecran, des videos sous-titrees, et chaque support est valide avant diffusion. Apres le deploiement, un support en deux niveaux prend le relais. La formation cree l'adoption, le support l'empeche de retomber.
La cible : 100 % des profils formes avant le pilote, avec une satisfaction de 4 sur 5 minimum. C'est ma deuxieme demande de validation.
CAS CONCRET A RACONTER :
"Suivons Malik sur les 12 semaines. Semaine 6 : il recoit l'annonce et une demo de 15 minutes. Semaine 8 : il suit SON atelier de 45 minutes, construit sur de vraies alertes de son quotidien. Semaines 9 et 10 : quelqu'un vient a son poste, deux fois 30 minutes, pour l'accompagner sur des situations reelles. Semaine 11, le pilote demarre : Malik est autonome. Et s'il bloque, il appelle le support niveau 1."
Et pour l'inclusion : "Jules, lui, utilise un lecteur d'ecran. Sa session est dediee : rythme adapte, supports balises, videos sous-titrees."
TRANSITION : "Je recapitule ce que j'attends de vous."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7</a:t>
            </a:fld>
            <a:endParaRPr lang="fr-FR"/>
          </a:p>
        </p:txBody>
      </p:sp>
    </p:spTree>
    <p:extLst>
      <p:ext uri="{BB962C8B-B14F-4D97-AF65-F5344CB8AC3E}">
        <p14:creationId xmlns:p14="http://schemas.microsoft.com/office/powerpoint/2010/main" val="8951153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 NE JAMAIS SAUTER CETTE SLIDE]
PITCH MOT A MOT :
Pour conclure, voici les quatre decisions que j'attends de ce comite. Deux des cette semaine : valider le mode de gouvernance, et valider le calendrier en quatre phases et cinq jalons. Ensuite : arbitrer les priorites du backlog que je vous ai proposees, et d'ici la semaine 4, valider le dispositif d'accompagnement des utilisateurs.
Si vous validez aujourd'hui, le cadrage demarre immediatement, vous recevez le premier reporting hebdomadaire en semaine 3, et nous nous retrouvons au jalon 1 en fin de semaine 2 pour constater que la gouvernance est en place.
Un prototype prometteur, un plan en 12 semaines, des indicateurs fiables et des utilisateurs accompagnes : voila comment nous securisons MobilityPulse.
Merci de votre attention. Je suis pret a repondre a vos questions.
APRES CETTE SLIDE : silence, sourire, laisser le jury ouvrir les questions.
Les 18 questions probables et leurs reponses sont dans docs/SOUTENANCE_ORALE.md.</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8</a:t>
            </a:fld>
            <a:endParaRPr lang="fr-FR"/>
          </a:p>
        </p:txBody>
      </p:sp>
    </p:spTree>
    <p:extLst>
      <p:ext uri="{BB962C8B-B14F-4D97-AF65-F5344CB8AC3E}">
        <p14:creationId xmlns:p14="http://schemas.microsoft.com/office/powerpoint/2010/main" val="1223989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[SLIDE ANNEXE : NE PAS PRESENTER DANS LES 10 MINUTES. L'afficher seulement si le jury pose une question technique.]
QUAND L'UTILISER : questions du type "parlez-moi de l'architecture", "qu'avez-vous fait techniquement", "comment garantissez-vous la qualité des données", "d'où viennent les données".
REPONSE TYPE (mot a mot) :
"Volontairement, je n'ai pas mis de technique dans le reporting : la charte impose un vocabulaire non technique pour la direction. Mais bien sûr, en tant que Lead Data, je pilote le socle : permettez-moi de vous montrer l'annexe.
La chaîne collecte les signaux de mobilité et les centralise dans un entrepôt de données. Mon équipe garantit la qualité : contrôles automatisés de complétude et de cohérence, car sans qualité data, aucun indicateur n'est fiable. Le modèle de détection d'anomalies est surveillé par le MLOps, et je pilote le réglage des seuils : c'est comme ça qu'on fera passer les fausses alertes de 28 à 15 %. Côté restitution : une API de consultation, le tableau de bord interne et les exports CSV avec gestion des permissions.
Et mon rôle transverse : chaque KPI a sa formule documentée et son owner, le canal de feedback est structuré, et l'empreinte numérique est estimée par run pour l'indicateur RSE.
Le développement lui-même relève des épreuves E2 et E3 : ici, mon travail est de piloter la qualité, la fiabilité et l'exploitation de ce socle."</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9</a:t>
            </a:fld>
            <a:endParaRPr lang="fr-FR"/>
          </a:p>
        </p:txBody>
      </p:sp>
    </p:spTree>
    <p:extLst>
      <p:ext uri="{BB962C8B-B14F-4D97-AF65-F5344CB8AC3E}">
        <p14:creationId xmlns:p14="http://schemas.microsoft.com/office/powerpoint/2010/main" val="1289061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CF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‹N°›</a:t>
            </a:fld>
            <a:endParaRPr lang="en-US"/>
          </a:p>
        </p:txBody>
      </p:sp>
      <p:sp>
        <p:nvSpPr>
          <p:cNvPr id="920" name="AccentLine"/>
          <p:cNvSpPr/>
          <p:nvPr/>
        </p:nvSpPr>
        <p:spPr>
          <a:xfrm>
            <a:off x="457200" y="6172200"/>
            <a:ext cx="8229600" cy="19050"/>
          </a:xfrm>
          <a:prstGeom prst="rect">
            <a:avLst/>
          </a:prstGeom>
          <a:solidFill>
            <a:srgbClr val="1A5276"/>
          </a:solidFill>
          <a:ln>
            <a:noFill/>
          </a:ln>
        </p:spPr>
        <p:txBody>
          <a:bodyPr/>
          <a:lstStyle/>
          <a:p>
            <a:endParaRPr/>
          </a:p>
        </p:txBody>
      </p:sp>
      <p:sp>
        <p:nvSpPr>
          <p:cNvPr id="921" name="FooterText"/>
          <p:cNvSpPr/>
          <p:nvPr/>
        </p:nvSpPr>
        <p:spPr>
          <a:xfrm>
            <a:off x="457200" y="6248400"/>
            <a:ext cx="6400800" cy="292100"/>
          </a:xfrm>
          <a:prstGeom prst="rect">
            <a:avLst/>
          </a:prstGeom>
        </p:spPr>
        <p:txBody>
          <a:bodyPr wrap="none" lIns="0" tIns="0" rIns="0" bIns="0" anchor="ctr"/>
          <a:lstStyle/>
          <a:p>
            <a:pPr algn="l"/>
            <a:r>
              <a:rPr lang="fr-FR" sz="1000" dirty="0">
                <a:solidFill>
                  <a:srgbClr val="7F8C99"/>
                </a:solidFill>
              </a:rPr>
              <a:t>Ouassim Megrad, Lead Data, équipe Megslab</a:t>
            </a:r>
          </a:p>
        </p:txBody>
      </p:sp>
      <p:sp>
        <p:nvSpPr>
          <p:cNvPr id="922" name="SlideNum"/>
          <p:cNvSpPr/>
          <p:nvPr/>
        </p:nvSpPr>
        <p:spPr>
          <a:xfrm>
            <a:off x="8001000" y="6248400"/>
            <a:ext cx="685800" cy="292100"/>
          </a:xfrm>
          <a:prstGeom prst="rect">
            <a:avLst/>
          </a:prstGeom>
        </p:spPr>
        <p:txBody>
          <a:bodyPr wrap="none" lIns="0" tIns="0" rIns="0" bIns="0" anchor="ctr"/>
          <a:lstStyle/>
          <a:p>
            <a:pPr algn="r"/>
            <a:fld id="{B2A9C1D4-0000-4000-8000-000000000001}" type="slidenum">
              <a:rPr lang="fr-FR" sz="1000" dirty="0">
                <a:solidFill>
                  <a:srgbClr val="7F8C99"/>
                </a:solidFill>
              </a:rPr>
              <a:t>‹N°›</a:t>
            </a:fld>
            <a:endParaRPr lang="fr-FR" sz="1000" dirty="0">
              <a:solidFill>
                <a:srgbClr val="7F8C99"/>
              </a:solidFill>
            </a:endParaRPr>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A527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4495E"/>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5CB005-B923-4875-9BE1-48E6A2E24CD0}"/>
              </a:ext>
            </a:extLst>
          </p:cNvPr>
          <p:cNvSpPr/>
          <p:nvPr/>
        </p:nvSpPr>
        <p:spPr>
          <a:xfrm>
            <a:off x="914400" y="1676400"/>
            <a:ext cx="76200" cy="19050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A24B03A2-24F1-4230-A7B2-E26AC5E21BF6}"/>
              </a:ext>
            </a:extLst>
          </p:cNvPr>
          <p:cNvSpPr txBox="1"/>
          <p:nvPr/>
        </p:nvSpPr>
        <p:spPr>
          <a:xfrm>
            <a:off x="1219200" y="1651000"/>
            <a:ext cx="7874000" cy="304800"/>
          </a:xfrm>
          <a:prstGeom prst="rect">
            <a:avLst/>
          </a:prstGeom>
          <a:noFill/>
        </p:spPr>
        <p:txBody>
          <a:bodyPr vertOverflow="overflow" vert="horz" wrap="square" rtlCol="0" anchor="t">
            <a:spAutoFit/>
          </a:bodyPr>
          <a:lstStyle/>
          <a:p>
            <a:pPr algn="l"/>
            <a:r>
              <a:rPr lang="fr-FR" sz="1400" b="1">
                <a:solidFill>
                  <a:srgbClr val="2E86AB"/>
                </a:solidFill>
                <a:latin typeface="Segoe UI"/>
                <a:cs typeface="Segoe UI"/>
              </a:rPr>
              <a:t>REPORTING AU COMITÉ DE DIRECTION</a:t>
            </a:r>
          </a:p>
        </p:txBody>
      </p:sp>
      <p:sp>
        <p:nvSpPr>
          <p:cNvPr id="4" name="ZoneTexte 3">
            <a:extLst>
              <a:ext uri="{FF2B5EF4-FFF2-40B4-BE49-F238E27FC236}">
                <a16:creationId xmlns:a16="http://schemas.microsoft.com/office/drawing/2014/main" id="{EA3E253A-54FE-4980-A724-B1CAB0274355}"/>
              </a:ext>
            </a:extLst>
          </p:cNvPr>
          <p:cNvSpPr txBox="1"/>
          <p:nvPr/>
        </p:nvSpPr>
        <p:spPr>
          <a:xfrm>
            <a:off x="1193800" y="2006600"/>
            <a:ext cx="7874000" cy="1651000"/>
          </a:xfrm>
          <a:prstGeom prst="rect">
            <a:avLst/>
          </a:prstGeom>
          <a:noFill/>
        </p:spPr>
        <p:txBody>
          <a:bodyPr vertOverflow="overflow" vert="horz" wrap="square" rtlCol="0" anchor="t">
            <a:spAutoFit/>
          </a:bodyPr>
          <a:lstStyle/>
          <a:p>
            <a:pPr algn="l"/>
            <a:r>
              <a:rPr lang="fr-FR" sz="3800" b="1">
                <a:solidFill>
                  <a:srgbClr val="1A5276"/>
                </a:solidFill>
                <a:latin typeface="Segoe UI Semibold"/>
                <a:cs typeface="Segoe UI Semibold"/>
              </a:rPr>
              <a:t>MobilityPulse : sécuriser le déploiement en 12 semaines</a:t>
            </a:r>
          </a:p>
        </p:txBody>
      </p:sp>
      <p:sp>
        <p:nvSpPr>
          <p:cNvPr id="5" name="ZoneTexte 4">
            <a:extLst>
              <a:ext uri="{FF2B5EF4-FFF2-40B4-BE49-F238E27FC236}">
                <a16:creationId xmlns:a16="http://schemas.microsoft.com/office/drawing/2014/main" id="{4B58CD41-C014-4745-8A27-F5069C8C8B3C}"/>
              </a:ext>
            </a:extLst>
          </p:cNvPr>
          <p:cNvSpPr txBox="1"/>
          <p:nvPr/>
        </p:nvSpPr>
        <p:spPr>
          <a:xfrm>
            <a:off x="1219200" y="3759200"/>
            <a:ext cx="7620000" cy="635000"/>
          </a:xfrm>
          <a:prstGeom prst="rect">
            <a:avLst/>
          </a:prstGeom>
          <a:noFill/>
        </p:spPr>
        <p:txBody>
          <a:bodyPr vertOverflow="overflow" vert="horz" wrap="square" rtlCol="0" anchor="t">
            <a:normAutofit/>
          </a:bodyPr>
          <a:lstStyle/>
          <a:p>
            <a:pPr algn="l"/>
            <a:r>
              <a:rPr lang="fr-FR" sz="1700">
                <a:solidFill>
                  <a:srgbClr val="1B2A38"/>
                </a:solidFill>
                <a:latin typeface="Segoe UI"/>
                <a:cs typeface="Segoe UI"/>
              </a:rPr>
              <a:t>La solution existe déjà en prototype : ma mission n'est pas de la développer, mais d'organiser son adoption en 12 semaines.</a:t>
            </a:r>
            <a:endParaRPr lang="fr-FR" sz="1700" dirty="0">
              <a:solidFill>
                <a:srgbClr val="1B2A38"/>
              </a:solidFill>
              <a:latin typeface="Segoe UI"/>
              <a:cs typeface="Segoe UI"/>
            </a:endParaRPr>
          </a:p>
        </p:txBody>
      </p:sp>
      <p:sp>
        <p:nvSpPr>
          <p:cNvPr id="6" name="ZoneTexte 5">
            <a:extLst>
              <a:ext uri="{FF2B5EF4-FFF2-40B4-BE49-F238E27FC236}">
                <a16:creationId xmlns:a16="http://schemas.microsoft.com/office/drawing/2014/main" id="{8612CEFE-0ECD-4AC1-B8A7-39A4144DABEC}"/>
              </a:ext>
            </a:extLst>
          </p:cNvPr>
          <p:cNvSpPr txBox="1"/>
          <p:nvPr/>
        </p:nvSpPr>
        <p:spPr>
          <a:xfrm>
            <a:off x="1219200" y="4445000"/>
            <a:ext cx="7620000" cy="330200"/>
          </a:xfrm>
          <a:prstGeom prst="rect">
            <a:avLst/>
          </a:prstGeom>
          <a:noFill/>
        </p:spPr>
        <p:txBody>
          <a:bodyPr vertOverflow="overflow" vert="horz" wrap="square" rtlCol="0" anchor="t">
            <a:spAutoFit/>
          </a:bodyPr>
          <a:lstStyle/>
          <a:p>
            <a:pPr algn="l"/>
            <a:r>
              <a:rPr lang="fr-FR" sz="1500">
                <a:solidFill>
                  <a:srgbClr val="5D6D7E"/>
                </a:solidFill>
                <a:latin typeface="Segoe UI"/>
                <a:cs typeface="Segoe UI"/>
              </a:rPr>
              <a:t>Ouassim Megrad  ·  Lead Data  ·  équipe Megslab</a:t>
            </a:r>
          </a:p>
        </p:txBody>
      </p:sp>
      <p:sp>
        <p:nvSpPr>
          <p:cNvPr id="7" name="ZoneTexte 6">
            <a:extLst>
              <a:ext uri="{FF2B5EF4-FFF2-40B4-BE49-F238E27FC236}">
                <a16:creationId xmlns:a16="http://schemas.microsoft.com/office/drawing/2014/main" id="{DB1926ED-1568-4A83-8A98-CDAF23C7C592}"/>
              </a:ext>
            </a:extLst>
          </p:cNvPr>
          <p:cNvSpPr txBox="1"/>
          <p:nvPr/>
        </p:nvSpPr>
        <p:spPr>
          <a:xfrm>
            <a:off x="9194800" y="1676400"/>
            <a:ext cx="2082800" cy="254000"/>
          </a:xfrm>
          <a:prstGeom prst="rect">
            <a:avLst/>
          </a:prstGeom>
          <a:noFill/>
        </p:spPr>
        <p:txBody>
          <a:bodyPr vertOverflow="overflow" vert="horz" wrap="square" rtlCol="0" anchor="t">
            <a:spAutoFit/>
          </a:bodyPr>
          <a:lstStyle/>
          <a:p>
            <a:pPr algn="l"/>
            <a:r>
              <a:rPr lang="fr-FR" sz="1200" b="1">
                <a:solidFill>
                  <a:srgbClr val="5D6D7E"/>
                </a:solidFill>
              </a:rPr>
              <a:t>STATUT GLOBAL</a:t>
            </a:r>
          </a:p>
        </p:txBody>
      </p:sp>
      <p:sp>
        <p:nvSpPr>
          <p:cNvPr id="8" name="Rectangle : coins arrondis 7">
            <a:extLst>
              <a:ext uri="{FF2B5EF4-FFF2-40B4-BE49-F238E27FC236}">
                <a16:creationId xmlns:a16="http://schemas.microsoft.com/office/drawing/2014/main" id="{3CCE1743-BCC6-4E7B-9AA5-6A5E98FEB3F1}"/>
              </a:ext>
            </a:extLst>
          </p:cNvPr>
          <p:cNvSpPr/>
          <p:nvPr/>
        </p:nvSpPr>
        <p:spPr>
          <a:xfrm>
            <a:off x="9194800" y="1981200"/>
            <a:ext cx="2082800" cy="7620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600" b="1">
                <a:solidFill>
                  <a:srgbClr val="FFFFFF"/>
                </a:solidFill>
                <a:latin typeface="Segoe UI Semibold"/>
                <a:cs typeface="Segoe UI Semibold"/>
              </a:rPr>
              <a:t>● VERT · prêt à lancer</a:t>
            </a:r>
          </a:p>
        </p:txBody>
      </p:sp>
      <p:sp>
        <p:nvSpPr>
          <p:cNvPr id="9" name="ZoneTexte 8">
            <a:extLst>
              <a:ext uri="{FF2B5EF4-FFF2-40B4-BE49-F238E27FC236}">
                <a16:creationId xmlns:a16="http://schemas.microsoft.com/office/drawing/2014/main" id="{2983DF4E-0990-4BA4-A5C2-FE4DD0F8D289}"/>
              </a:ext>
            </a:extLst>
          </p:cNvPr>
          <p:cNvSpPr txBox="1"/>
          <p:nvPr/>
        </p:nvSpPr>
        <p:spPr>
          <a:xfrm>
            <a:off x="9194800" y="2794000"/>
            <a:ext cx="2082800" cy="646331"/>
          </a:xfrm>
          <a:prstGeom prst="rect">
            <a:avLst/>
          </a:prstGeom>
          <a:noFill/>
        </p:spPr>
        <p:txBody>
          <a:bodyPr vertOverflow="overflow" vert="horz" wrap="square" rtlCol="0" anchor="t">
            <a:normAutofit/>
          </a:bodyPr>
          <a:lstStyle/>
          <a:p>
            <a:pPr algn="l"/>
            <a:r>
              <a:rPr lang="fr-FR" sz="1200" i="1">
                <a:solidFill>
                  <a:srgbClr val="5D6D7E"/>
                </a:solidFill>
              </a:rPr>
              <a:t>Aucun obstacle bloquant : lancement conforme au calendrier</a:t>
            </a:r>
            <a:endParaRPr lang="fr-FR" sz="1200" i="1" dirty="0">
              <a:solidFill>
                <a:srgbClr val="5D6D7E"/>
              </a:solidFill>
            </a:endParaRPr>
          </a:p>
        </p:txBody>
      </p:sp>
      <p:sp>
        <p:nvSpPr>
          <p:cNvPr id="10" name="ZoneTexte 9">
            <a:extLst>
              <a:ext uri="{FF2B5EF4-FFF2-40B4-BE49-F238E27FC236}">
                <a16:creationId xmlns:a16="http://schemas.microsoft.com/office/drawing/2014/main" id="{44FAAB1C-DC38-45D7-9630-32A7105E17CC}"/>
              </a:ext>
            </a:extLst>
          </p:cNvPr>
          <p:cNvSpPr txBox="1"/>
          <p:nvPr/>
        </p:nvSpPr>
        <p:spPr>
          <a:xfrm>
            <a:off x="1219200" y="5054600"/>
            <a:ext cx="6350000" cy="279400"/>
          </a:xfrm>
          <a:prstGeom prst="rect">
            <a:avLst/>
          </a:prstGeom>
          <a:noFill/>
        </p:spPr>
        <p:txBody>
          <a:bodyPr vertOverflow="overflow" vert="horz" wrap="square" rtlCol="0" anchor="t">
            <a:spAutoFit/>
          </a:bodyPr>
          <a:lstStyle/>
          <a:p>
            <a:pPr algn="l"/>
            <a:r>
              <a:rPr lang="fr-FR" sz="1300" b="1">
                <a:solidFill>
                  <a:srgbClr val="2E86AB"/>
                </a:solidFill>
              </a:rPr>
              <a:t>3 réponses aux 3 limites constatées</a:t>
            </a:r>
          </a:p>
        </p:txBody>
      </p:sp>
      <p:sp>
        <p:nvSpPr>
          <p:cNvPr id="11" name="Rectangle : coins arrondis 10">
            <a:extLst>
              <a:ext uri="{FF2B5EF4-FFF2-40B4-BE49-F238E27FC236}">
                <a16:creationId xmlns:a16="http://schemas.microsoft.com/office/drawing/2014/main" id="{078002B4-49D9-4E02-B96B-92F7435FD18D}"/>
              </a:ext>
            </a:extLst>
          </p:cNvPr>
          <p:cNvSpPr/>
          <p:nvPr/>
        </p:nvSpPr>
        <p:spPr>
          <a:xfrm>
            <a:off x="12192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8" name="Ellipse 17">
            <a:extLst>
              <a:ext uri="{FF2B5EF4-FFF2-40B4-BE49-F238E27FC236}">
                <a16:creationId xmlns:a16="http://schemas.microsoft.com/office/drawing/2014/main" id="{01106AE9-39F3-42F0-A964-F58D5BE5E35A}"/>
              </a:ext>
            </a:extLst>
          </p:cNvPr>
          <p:cNvSpPr/>
          <p:nvPr/>
        </p:nvSpPr>
        <p:spPr>
          <a:xfrm>
            <a:off x="13716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1</a:t>
            </a:r>
          </a:p>
        </p:txBody>
      </p:sp>
      <p:sp>
        <p:nvSpPr>
          <p:cNvPr id="24" name="ZoneTexte 23">
            <a:extLst>
              <a:ext uri="{FF2B5EF4-FFF2-40B4-BE49-F238E27FC236}">
                <a16:creationId xmlns:a16="http://schemas.microsoft.com/office/drawing/2014/main" id="{4665A127-C781-48B5-BC6F-F7B4ECC89537}"/>
              </a:ext>
            </a:extLst>
          </p:cNvPr>
          <p:cNvSpPr txBox="1"/>
          <p:nvPr/>
        </p:nvSpPr>
        <p:spPr>
          <a:xfrm>
            <a:off x="18288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Organisation</a:t>
            </a:r>
          </a:p>
        </p:txBody>
      </p:sp>
      <p:sp>
        <p:nvSpPr>
          <p:cNvPr id="25" name="ZoneTexte 24">
            <a:extLst>
              <a:ext uri="{FF2B5EF4-FFF2-40B4-BE49-F238E27FC236}">
                <a16:creationId xmlns:a16="http://schemas.microsoft.com/office/drawing/2014/main" id="{72FD6BD3-351F-46C9-B7E4-264B3BFD2A67}"/>
              </a:ext>
            </a:extLst>
          </p:cNvPr>
          <p:cNvSpPr txBox="1"/>
          <p:nvPr/>
        </p:nvSpPr>
        <p:spPr>
          <a:xfrm>
            <a:off x="1828800" y="5740400"/>
            <a:ext cx="2489200" cy="600164"/>
          </a:xfrm>
          <a:prstGeom prst="rect">
            <a:avLst/>
          </a:prstGeom>
          <a:noFill/>
        </p:spPr>
        <p:txBody>
          <a:bodyPr vertOverflow="overflow" vert="horz" wrap="square" rtlCol="0" anchor="t">
            <a:normAutofit/>
          </a:bodyPr>
          <a:lstStyle/>
          <a:p>
            <a:pPr algn="l"/>
            <a:r>
              <a:rPr lang="fr-FR" sz="1100">
                <a:solidFill>
                  <a:srgbClr val="5D6D7E"/>
                </a:solidFill>
              </a:rPr>
              <a:t>Un plan projet en 12 semaines : 4 phases, 5 jalons, dépendances maîtrisées</a:t>
            </a:r>
          </a:p>
        </p:txBody>
      </p:sp>
      <p:sp>
        <p:nvSpPr>
          <p:cNvPr id="26" name="Rectangle : coins arrondis 25">
            <a:extLst>
              <a:ext uri="{FF2B5EF4-FFF2-40B4-BE49-F238E27FC236}">
                <a16:creationId xmlns:a16="http://schemas.microsoft.com/office/drawing/2014/main" id="{880AEF4F-DEE1-42B8-93C0-8F897E4874A1}"/>
              </a:ext>
            </a:extLst>
          </p:cNvPr>
          <p:cNvSpPr/>
          <p:nvPr/>
        </p:nvSpPr>
        <p:spPr>
          <a:xfrm>
            <a:off x="45974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7" name="Ellipse 26">
            <a:extLst>
              <a:ext uri="{FF2B5EF4-FFF2-40B4-BE49-F238E27FC236}">
                <a16:creationId xmlns:a16="http://schemas.microsoft.com/office/drawing/2014/main" id="{5F686914-15C4-4149-B55A-709636EF7EB4}"/>
              </a:ext>
            </a:extLst>
          </p:cNvPr>
          <p:cNvSpPr/>
          <p:nvPr/>
        </p:nvSpPr>
        <p:spPr>
          <a:xfrm>
            <a:off x="47498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2</a:t>
            </a:r>
          </a:p>
        </p:txBody>
      </p:sp>
      <p:sp>
        <p:nvSpPr>
          <p:cNvPr id="28" name="ZoneTexte 27">
            <a:extLst>
              <a:ext uri="{FF2B5EF4-FFF2-40B4-BE49-F238E27FC236}">
                <a16:creationId xmlns:a16="http://schemas.microsoft.com/office/drawing/2014/main" id="{C4606FE3-CFF7-4BB4-96DD-99EC6636BAEC}"/>
              </a:ext>
            </a:extLst>
          </p:cNvPr>
          <p:cNvSpPr txBox="1"/>
          <p:nvPr/>
        </p:nvSpPr>
        <p:spPr>
          <a:xfrm>
            <a:off x="52070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Gouvernance</a:t>
            </a:r>
          </a:p>
        </p:txBody>
      </p:sp>
      <p:sp>
        <p:nvSpPr>
          <p:cNvPr id="29" name="ZoneTexte 28">
            <a:extLst>
              <a:ext uri="{FF2B5EF4-FFF2-40B4-BE49-F238E27FC236}">
                <a16:creationId xmlns:a16="http://schemas.microsoft.com/office/drawing/2014/main" id="{202E2E67-B409-42A9-8BD6-AF159682E83A}"/>
              </a:ext>
            </a:extLst>
          </p:cNvPr>
          <p:cNvSpPr txBox="1"/>
          <p:nvPr/>
        </p:nvSpPr>
        <p:spPr>
          <a:xfrm>
            <a:off x="5207000" y="5740400"/>
            <a:ext cx="2489200" cy="430887"/>
          </a:xfrm>
          <a:prstGeom prst="rect">
            <a:avLst/>
          </a:prstGeom>
          <a:noFill/>
        </p:spPr>
        <p:txBody>
          <a:bodyPr vertOverflow="overflow" vert="horz" wrap="square" rtlCol="0" anchor="t">
            <a:normAutofit/>
          </a:bodyPr>
          <a:lstStyle/>
          <a:p>
            <a:pPr algn="l"/>
            <a:r>
              <a:rPr lang="fr-FR" sz="1100">
                <a:solidFill>
                  <a:srgbClr val="5D6D7E"/>
                </a:solidFill>
              </a:rPr>
              <a:t>Des rôles clairs (RACI) et un comité d'arbitrage hebdomadaire</a:t>
            </a:r>
          </a:p>
        </p:txBody>
      </p:sp>
      <p:sp>
        <p:nvSpPr>
          <p:cNvPr id="30" name="Rectangle : coins arrondis 29">
            <a:extLst>
              <a:ext uri="{FF2B5EF4-FFF2-40B4-BE49-F238E27FC236}">
                <a16:creationId xmlns:a16="http://schemas.microsoft.com/office/drawing/2014/main" id="{23F799C8-0A2C-4ACA-A4CC-7D399568F51B}"/>
              </a:ext>
            </a:extLst>
          </p:cNvPr>
          <p:cNvSpPr/>
          <p:nvPr/>
        </p:nvSpPr>
        <p:spPr>
          <a:xfrm>
            <a:off x="79756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1" name="Ellipse 30">
            <a:extLst>
              <a:ext uri="{FF2B5EF4-FFF2-40B4-BE49-F238E27FC236}">
                <a16:creationId xmlns:a16="http://schemas.microsoft.com/office/drawing/2014/main" id="{529EFBC4-2375-4F88-A0B6-3AB80F7EF080}"/>
              </a:ext>
            </a:extLst>
          </p:cNvPr>
          <p:cNvSpPr/>
          <p:nvPr/>
        </p:nvSpPr>
        <p:spPr>
          <a:xfrm>
            <a:off x="81280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3</a:t>
            </a:r>
          </a:p>
        </p:txBody>
      </p:sp>
      <p:sp>
        <p:nvSpPr>
          <p:cNvPr id="32" name="ZoneTexte 31">
            <a:extLst>
              <a:ext uri="{FF2B5EF4-FFF2-40B4-BE49-F238E27FC236}">
                <a16:creationId xmlns:a16="http://schemas.microsoft.com/office/drawing/2014/main" id="{8D895764-2917-43C4-8DB5-C19201369CFB}"/>
              </a:ext>
            </a:extLst>
          </p:cNvPr>
          <p:cNvSpPr txBox="1"/>
          <p:nvPr/>
        </p:nvSpPr>
        <p:spPr>
          <a:xfrm>
            <a:off x="85852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Accompagnement</a:t>
            </a:r>
          </a:p>
        </p:txBody>
      </p:sp>
      <p:sp>
        <p:nvSpPr>
          <p:cNvPr id="33" name="ZoneTexte 32">
            <a:extLst>
              <a:ext uri="{FF2B5EF4-FFF2-40B4-BE49-F238E27FC236}">
                <a16:creationId xmlns:a16="http://schemas.microsoft.com/office/drawing/2014/main" id="{F3CB222D-3091-4930-A50D-72A18AFFC4C9}"/>
              </a:ext>
            </a:extLst>
          </p:cNvPr>
          <p:cNvSpPr txBox="1"/>
          <p:nvPr/>
        </p:nvSpPr>
        <p:spPr>
          <a:xfrm>
            <a:off x="8585200" y="5740400"/>
            <a:ext cx="2489200" cy="430887"/>
          </a:xfrm>
          <a:prstGeom prst="rect">
            <a:avLst/>
          </a:prstGeom>
          <a:noFill/>
        </p:spPr>
        <p:txBody>
          <a:bodyPr vertOverflow="overflow" vert="horz" wrap="square" rtlCol="0" anchor="t">
            <a:normAutofit/>
          </a:bodyPr>
          <a:lstStyle/>
          <a:p>
            <a:pPr algn="l"/>
            <a:r>
              <a:rPr lang="fr-FR" sz="1100">
                <a:solidFill>
                  <a:srgbClr val="5D6D7E"/>
                </a:solidFill>
              </a:rPr>
              <a:t>Une formation courte et accessible, adaptée aux 4 profils d'utilisateurs</a:t>
            </a:r>
          </a:p>
        </p:txBody>
      </p:sp>
    </p:spTree>
    <p:extLst>
      <p:ext uri="{BB962C8B-B14F-4D97-AF65-F5344CB8AC3E}">
        <p14:creationId xmlns:p14="http://schemas.microsoft.com/office/powerpoint/2010/main" val="2063146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9FC5CFC-9CBA-421F-935B-C9C95F6A045E}"/>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20AC4D92-EE13-4A6B-AF5B-12395523710F}"/>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latin typeface="Segoe UI"/>
                <a:cs typeface="Segoe UI"/>
              </a:rPr>
              <a:t>PLANNING</a:t>
            </a:r>
          </a:p>
        </p:txBody>
      </p:sp>
      <p:sp>
        <p:nvSpPr>
          <p:cNvPr id="4" name="ZoneTexte 3">
            <a:extLst>
              <a:ext uri="{FF2B5EF4-FFF2-40B4-BE49-F238E27FC236}">
                <a16:creationId xmlns:a16="http://schemas.microsoft.com/office/drawing/2014/main" id="{97D80166-D562-4333-99D7-76673EF1768F}"/>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12 semaines, 4 phases, 5 jalons</a:t>
            </a:r>
          </a:p>
        </p:txBody>
      </p:sp>
      <p:sp>
        <p:nvSpPr>
          <p:cNvPr id="5" name="Rectangle 4">
            <a:extLst>
              <a:ext uri="{FF2B5EF4-FFF2-40B4-BE49-F238E27FC236}">
                <a16:creationId xmlns:a16="http://schemas.microsoft.com/office/drawing/2014/main" id="{9B6AA078-2FF2-4FA2-89AF-7C9D0FF67814}"/>
              </a:ext>
            </a:extLst>
          </p:cNvPr>
          <p:cNvSpPr/>
          <p:nvPr/>
        </p:nvSpPr>
        <p:spPr>
          <a:xfrm>
            <a:off x="3429000" y="1524000"/>
            <a:ext cx="7493000" cy="279400"/>
          </a:xfrm>
          <a:prstGeom prst="rect">
            <a:avLst/>
          </a:prstGeom>
          <a:solidFill>
            <a:srgbClr val="EAF0F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ZoneTexte 5">
            <a:extLst>
              <a:ext uri="{FF2B5EF4-FFF2-40B4-BE49-F238E27FC236}">
                <a16:creationId xmlns:a16="http://schemas.microsoft.com/office/drawing/2014/main" id="{CDBA7724-28A9-4879-AC22-5065524FF228}"/>
              </a:ext>
            </a:extLst>
          </p:cNvPr>
          <p:cNvSpPr txBox="1"/>
          <p:nvPr/>
        </p:nvSpPr>
        <p:spPr>
          <a:xfrm>
            <a:off x="342900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a:t>
            </a:r>
          </a:p>
        </p:txBody>
      </p:sp>
      <p:sp>
        <p:nvSpPr>
          <p:cNvPr id="7" name="ZoneTexte 6">
            <a:extLst>
              <a:ext uri="{FF2B5EF4-FFF2-40B4-BE49-F238E27FC236}">
                <a16:creationId xmlns:a16="http://schemas.microsoft.com/office/drawing/2014/main" id="{7A90701F-E6B1-4C4E-9224-658B487835F1}"/>
              </a:ext>
            </a:extLst>
          </p:cNvPr>
          <p:cNvSpPr txBox="1"/>
          <p:nvPr/>
        </p:nvSpPr>
        <p:spPr>
          <a:xfrm>
            <a:off x="405341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S2</a:t>
            </a:r>
          </a:p>
        </p:txBody>
      </p:sp>
      <p:sp>
        <p:nvSpPr>
          <p:cNvPr id="8" name="ZoneTexte 7">
            <a:extLst>
              <a:ext uri="{FF2B5EF4-FFF2-40B4-BE49-F238E27FC236}">
                <a16:creationId xmlns:a16="http://schemas.microsoft.com/office/drawing/2014/main" id="{2FEB81A6-66D1-41D2-9DA4-E84B5A0831CD}"/>
              </a:ext>
            </a:extLst>
          </p:cNvPr>
          <p:cNvSpPr txBox="1"/>
          <p:nvPr/>
        </p:nvSpPr>
        <p:spPr>
          <a:xfrm>
            <a:off x="467783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S3</a:t>
            </a:r>
          </a:p>
        </p:txBody>
      </p:sp>
      <p:sp>
        <p:nvSpPr>
          <p:cNvPr id="9" name="ZoneTexte 8">
            <a:extLst>
              <a:ext uri="{FF2B5EF4-FFF2-40B4-BE49-F238E27FC236}">
                <a16:creationId xmlns:a16="http://schemas.microsoft.com/office/drawing/2014/main" id="{D14DAC25-9850-4F85-8BCF-F8BF98FA43A1}"/>
              </a:ext>
            </a:extLst>
          </p:cNvPr>
          <p:cNvSpPr txBox="1"/>
          <p:nvPr/>
        </p:nvSpPr>
        <p:spPr>
          <a:xfrm>
            <a:off x="530225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S4</a:t>
            </a:r>
          </a:p>
        </p:txBody>
      </p:sp>
      <p:sp>
        <p:nvSpPr>
          <p:cNvPr id="10" name="ZoneTexte 9">
            <a:extLst>
              <a:ext uri="{FF2B5EF4-FFF2-40B4-BE49-F238E27FC236}">
                <a16:creationId xmlns:a16="http://schemas.microsoft.com/office/drawing/2014/main" id="{0B654E47-AC4C-4EFF-9AF1-40B060C1FEED}"/>
              </a:ext>
            </a:extLst>
          </p:cNvPr>
          <p:cNvSpPr txBox="1"/>
          <p:nvPr/>
        </p:nvSpPr>
        <p:spPr>
          <a:xfrm>
            <a:off x="592666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S5</a:t>
            </a:r>
          </a:p>
        </p:txBody>
      </p:sp>
      <p:sp>
        <p:nvSpPr>
          <p:cNvPr id="11" name="ZoneTexte 10">
            <a:extLst>
              <a:ext uri="{FF2B5EF4-FFF2-40B4-BE49-F238E27FC236}">
                <a16:creationId xmlns:a16="http://schemas.microsoft.com/office/drawing/2014/main" id="{7D8D9AF2-4E12-4B88-B2CE-0F342B77FD25}"/>
              </a:ext>
            </a:extLst>
          </p:cNvPr>
          <p:cNvSpPr txBox="1"/>
          <p:nvPr/>
        </p:nvSpPr>
        <p:spPr>
          <a:xfrm>
            <a:off x="655108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S6</a:t>
            </a:r>
          </a:p>
        </p:txBody>
      </p:sp>
      <p:sp>
        <p:nvSpPr>
          <p:cNvPr id="12" name="ZoneTexte 11">
            <a:extLst>
              <a:ext uri="{FF2B5EF4-FFF2-40B4-BE49-F238E27FC236}">
                <a16:creationId xmlns:a16="http://schemas.microsoft.com/office/drawing/2014/main" id="{0E4A21D1-2580-4FCA-9056-349D6AE07D19}"/>
              </a:ext>
            </a:extLst>
          </p:cNvPr>
          <p:cNvSpPr txBox="1"/>
          <p:nvPr/>
        </p:nvSpPr>
        <p:spPr>
          <a:xfrm>
            <a:off x="717550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S7</a:t>
            </a:r>
          </a:p>
        </p:txBody>
      </p:sp>
      <p:sp>
        <p:nvSpPr>
          <p:cNvPr id="13" name="ZoneTexte 12">
            <a:extLst>
              <a:ext uri="{FF2B5EF4-FFF2-40B4-BE49-F238E27FC236}">
                <a16:creationId xmlns:a16="http://schemas.microsoft.com/office/drawing/2014/main" id="{375E5C7E-2B7D-44A8-B901-966931B536A9}"/>
              </a:ext>
            </a:extLst>
          </p:cNvPr>
          <p:cNvSpPr txBox="1"/>
          <p:nvPr/>
        </p:nvSpPr>
        <p:spPr>
          <a:xfrm>
            <a:off x="779991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S8</a:t>
            </a:r>
          </a:p>
        </p:txBody>
      </p:sp>
      <p:sp>
        <p:nvSpPr>
          <p:cNvPr id="14" name="ZoneTexte 13">
            <a:extLst>
              <a:ext uri="{FF2B5EF4-FFF2-40B4-BE49-F238E27FC236}">
                <a16:creationId xmlns:a16="http://schemas.microsoft.com/office/drawing/2014/main" id="{0F72AE78-A0D4-41B2-AAD4-750BC4871E00}"/>
              </a:ext>
            </a:extLst>
          </p:cNvPr>
          <p:cNvSpPr txBox="1"/>
          <p:nvPr/>
        </p:nvSpPr>
        <p:spPr>
          <a:xfrm>
            <a:off x="842433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S9</a:t>
            </a:r>
          </a:p>
        </p:txBody>
      </p:sp>
      <p:sp>
        <p:nvSpPr>
          <p:cNvPr id="15" name="ZoneTexte 14">
            <a:extLst>
              <a:ext uri="{FF2B5EF4-FFF2-40B4-BE49-F238E27FC236}">
                <a16:creationId xmlns:a16="http://schemas.microsoft.com/office/drawing/2014/main" id="{21CFA020-FCA8-4E2B-BDFB-6E2171D636AE}"/>
              </a:ext>
            </a:extLst>
          </p:cNvPr>
          <p:cNvSpPr txBox="1"/>
          <p:nvPr/>
        </p:nvSpPr>
        <p:spPr>
          <a:xfrm>
            <a:off x="904875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S10</a:t>
            </a:r>
          </a:p>
        </p:txBody>
      </p:sp>
      <p:sp>
        <p:nvSpPr>
          <p:cNvPr id="16" name="ZoneTexte 15">
            <a:extLst>
              <a:ext uri="{FF2B5EF4-FFF2-40B4-BE49-F238E27FC236}">
                <a16:creationId xmlns:a16="http://schemas.microsoft.com/office/drawing/2014/main" id="{5C4A2BAF-ACD6-4217-BCEA-B9D39CD49A68}"/>
              </a:ext>
            </a:extLst>
          </p:cNvPr>
          <p:cNvSpPr txBox="1"/>
          <p:nvPr/>
        </p:nvSpPr>
        <p:spPr>
          <a:xfrm>
            <a:off x="967316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S11</a:t>
            </a:r>
          </a:p>
        </p:txBody>
      </p:sp>
      <p:sp>
        <p:nvSpPr>
          <p:cNvPr id="17" name="ZoneTexte 16">
            <a:extLst>
              <a:ext uri="{FF2B5EF4-FFF2-40B4-BE49-F238E27FC236}">
                <a16:creationId xmlns:a16="http://schemas.microsoft.com/office/drawing/2014/main" id="{E0DC3CA9-1230-4C66-B645-C4EEBDBA0BAA}"/>
              </a:ext>
            </a:extLst>
          </p:cNvPr>
          <p:cNvSpPr txBox="1"/>
          <p:nvPr/>
        </p:nvSpPr>
        <p:spPr>
          <a:xfrm>
            <a:off x="1029758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S12</a:t>
            </a:r>
          </a:p>
        </p:txBody>
      </p:sp>
      <p:sp>
        <p:nvSpPr>
          <p:cNvPr id="18" name="Ellipse 17">
            <a:extLst>
              <a:ext uri="{FF2B5EF4-FFF2-40B4-BE49-F238E27FC236}">
                <a16:creationId xmlns:a16="http://schemas.microsoft.com/office/drawing/2014/main" id="{A51AF4D4-64F5-4308-9AAA-73CC920F82C8}"/>
              </a:ext>
            </a:extLst>
          </p:cNvPr>
          <p:cNvSpPr/>
          <p:nvPr/>
        </p:nvSpPr>
        <p:spPr>
          <a:xfrm>
            <a:off x="939800" y="2032000"/>
            <a:ext cx="152400" cy="152400"/>
          </a:xfrm>
          <a:prstGeom prst="ellipse">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ZoneTexte 18">
            <a:extLst>
              <a:ext uri="{FF2B5EF4-FFF2-40B4-BE49-F238E27FC236}">
                <a16:creationId xmlns:a16="http://schemas.microsoft.com/office/drawing/2014/main" id="{D92CB6C1-8546-4B7C-9CA3-43ADABB225FC}"/>
              </a:ext>
            </a:extLst>
          </p:cNvPr>
          <p:cNvSpPr txBox="1"/>
          <p:nvPr/>
        </p:nvSpPr>
        <p:spPr>
          <a:xfrm>
            <a:off x="1168400" y="19304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Cadrage &amp; gouvernance</a:t>
            </a:r>
          </a:p>
        </p:txBody>
      </p:sp>
      <p:sp>
        <p:nvSpPr>
          <p:cNvPr id="20" name="Rectangle : coins arrondis 19">
            <a:extLst>
              <a:ext uri="{FF2B5EF4-FFF2-40B4-BE49-F238E27FC236}">
                <a16:creationId xmlns:a16="http://schemas.microsoft.com/office/drawing/2014/main" id="{E36B4519-76E1-44ED-8ACF-1022C33E4630}"/>
              </a:ext>
            </a:extLst>
          </p:cNvPr>
          <p:cNvSpPr/>
          <p:nvPr/>
        </p:nvSpPr>
        <p:spPr>
          <a:xfrm>
            <a:off x="3429000" y="1943100"/>
            <a:ext cx="1248833" cy="3302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1" name="ZoneTexte 20">
            <a:extLst>
              <a:ext uri="{FF2B5EF4-FFF2-40B4-BE49-F238E27FC236}">
                <a16:creationId xmlns:a16="http://schemas.microsoft.com/office/drawing/2014/main" id="{566DA7B4-7837-4338-BF51-2941D326FB39}"/>
              </a:ext>
            </a:extLst>
          </p:cNvPr>
          <p:cNvSpPr txBox="1"/>
          <p:nvPr/>
        </p:nvSpPr>
        <p:spPr>
          <a:xfrm>
            <a:off x="3429000" y="1943100"/>
            <a:ext cx="1248833" cy="330200"/>
          </a:xfrm>
          <a:prstGeom prst="rect">
            <a:avLst/>
          </a:prstGeom>
          <a:noFill/>
        </p:spPr>
        <p:txBody>
          <a:bodyPr vertOverflow="overflow" vert="horz" wrap="none" rtlCol="0" anchor="ctr" anchorCtr="0">
            <a:noAutofit/>
          </a:bodyPr>
          <a:lstStyle/>
          <a:p>
            <a:pPr algn="l"/>
            <a:r>
              <a:rPr lang="fr-FR" sz="1100" b="1">
                <a:solidFill>
                  <a:srgbClr val="FFFFFF"/>
                </a:solidFill>
              </a:rPr>
              <a:t>S1-S2</a:t>
            </a:r>
          </a:p>
        </p:txBody>
      </p:sp>
      <p:sp>
        <p:nvSpPr>
          <p:cNvPr id="22" name="Ellipse 21">
            <a:extLst>
              <a:ext uri="{FF2B5EF4-FFF2-40B4-BE49-F238E27FC236}">
                <a16:creationId xmlns:a16="http://schemas.microsoft.com/office/drawing/2014/main" id="{A5EBFDCB-1021-4429-8461-46FDED2C8754}"/>
              </a:ext>
            </a:extLst>
          </p:cNvPr>
          <p:cNvSpPr/>
          <p:nvPr/>
        </p:nvSpPr>
        <p:spPr>
          <a:xfrm>
            <a:off x="939800" y="26162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45F5EEDE-EB02-4A19-AA01-4DA570ECC599}"/>
              </a:ext>
            </a:extLst>
          </p:cNvPr>
          <p:cNvSpPr txBox="1"/>
          <p:nvPr/>
        </p:nvSpPr>
        <p:spPr>
          <a:xfrm>
            <a:off x="1168400" y="25146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Itérations produit (3 sprints)</a:t>
            </a:r>
          </a:p>
        </p:txBody>
      </p:sp>
      <p:sp>
        <p:nvSpPr>
          <p:cNvPr id="24" name="Rectangle : coins arrondis 23">
            <a:extLst>
              <a:ext uri="{FF2B5EF4-FFF2-40B4-BE49-F238E27FC236}">
                <a16:creationId xmlns:a16="http://schemas.microsoft.com/office/drawing/2014/main" id="{2D2E0D92-C4CB-45B5-A519-44AC04F1DD29}"/>
              </a:ext>
            </a:extLst>
          </p:cNvPr>
          <p:cNvSpPr/>
          <p:nvPr/>
        </p:nvSpPr>
        <p:spPr>
          <a:xfrm>
            <a:off x="4677833" y="2527300"/>
            <a:ext cx="3746500" cy="3302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5" name="ZoneTexte 24">
            <a:extLst>
              <a:ext uri="{FF2B5EF4-FFF2-40B4-BE49-F238E27FC236}">
                <a16:creationId xmlns:a16="http://schemas.microsoft.com/office/drawing/2014/main" id="{255965DC-5D4F-4825-927D-B0210129A7D1}"/>
              </a:ext>
            </a:extLst>
          </p:cNvPr>
          <p:cNvSpPr txBox="1"/>
          <p:nvPr/>
        </p:nvSpPr>
        <p:spPr>
          <a:xfrm>
            <a:off x="4677833" y="2527300"/>
            <a:ext cx="3746500" cy="330200"/>
          </a:xfrm>
          <a:prstGeom prst="rect">
            <a:avLst/>
          </a:prstGeom>
          <a:noFill/>
        </p:spPr>
        <p:txBody>
          <a:bodyPr vertOverflow="overflow" vert="horz" wrap="none" rtlCol="0" anchor="ctr" anchorCtr="0">
            <a:noAutofit/>
          </a:bodyPr>
          <a:lstStyle/>
          <a:p>
            <a:pPr algn="l"/>
            <a:r>
              <a:rPr lang="fr-FR" sz="1100" b="1">
                <a:solidFill>
                  <a:srgbClr val="FFFFFF"/>
                </a:solidFill>
              </a:rPr>
              <a:t>S3-S8</a:t>
            </a:r>
          </a:p>
        </p:txBody>
      </p:sp>
      <p:sp>
        <p:nvSpPr>
          <p:cNvPr id="26" name="Ellipse 25">
            <a:extLst>
              <a:ext uri="{FF2B5EF4-FFF2-40B4-BE49-F238E27FC236}">
                <a16:creationId xmlns:a16="http://schemas.microsoft.com/office/drawing/2014/main" id="{2005DE94-08E5-4D1D-98A4-883B1C1D603C}"/>
              </a:ext>
            </a:extLst>
          </p:cNvPr>
          <p:cNvSpPr/>
          <p:nvPr/>
        </p:nvSpPr>
        <p:spPr>
          <a:xfrm>
            <a:off x="939800" y="32004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7" name="ZoneTexte 26">
            <a:extLst>
              <a:ext uri="{FF2B5EF4-FFF2-40B4-BE49-F238E27FC236}">
                <a16:creationId xmlns:a16="http://schemas.microsoft.com/office/drawing/2014/main" id="{9D9C4CDF-6CF5-4F49-8620-45AC348595AF}"/>
              </a:ext>
            </a:extLst>
          </p:cNvPr>
          <p:cNvSpPr txBox="1"/>
          <p:nvPr/>
        </p:nvSpPr>
        <p:spPr>
          <a:xfrm>
            <a:off x="1168400" y="30988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Accompagnement &amp; formation</a:t>
            </a:r>
          </a:p>
        </p:txBody>
      </p:sp>
      <p:sp>
        <p:nvSpPr>
          <p:cNvPr id="28" name="Rectangle : coins arrondis 27">
            <a:extLst>
              <a:ext uri="{FF2B5EF4-FFF2-40B4-BE49-F238E27FC236}">
                <a16:creationId xmlns:a16="http://schemas.microsoft.com/office/drawing/2014/main" id="{E087B8EE-82DB-45CC-82F1-95338DC9D39D}"/>
              </a:ext>
            </a:extLst>
          </p:cNvPr>
          <p:cNvSpPr/>
          <p:nvPr/>
        </p:nvSpPr>
        <p:spPr>
          <a:xfrm>
            <a:off x="6551083" y="3111500"/>
            <a:ext cx="3122083"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9" name="ZoneTexte 28">
            <a:extLst>
              <a:ext uri="{FF2B5EF4-FFF2-40B4-BE49-F238E27FC236}">
                <a16:creationId xmlns:a16="http://schemas.microsoft.com/office/drawing/2014/main" id="{5F463E52-1D04-4E5B-AB3A-64F71EBAA82F}"/>
              </a:ext>
            </a:extLst>
          </p:cNvPr>
          <p:cNvSpPr txBox="1"/>
          <p:nvPr/>
        </p:nvSpPr>
        <p:spPr>
          <a:xfrm>
            <a:off x="6551083" y="3111500"/>
            <a:ext cx="3122083" cy="330200"/>
          </a:xfrm>
          <a:prstGeom prst="rect">
            <a:avLst/>
          </a:prstGeom>
          <a:noFill/>
        </p:spPr>
        <p:txBody>
          <a:bodyPr vertOverflow="overflow" vert="horz" wrap="none" rtlCol="0" anchor="ctr" anchorCtr="0">
            <a:noAutofit/>
          </a:bodyPr>
          <a:lstStyle/>
          <a:p>
            <a:pPr algn="l"/>
            <a:r>
              <a:rPr lang="fr-FR" sz="1100" b="1">
                <a:solidFill>
                  <a:srgbClr val="FFFFFF"/>
                </a:solidFill>
              </a:rPr>
              <a:t>S6-S10</a:t>
            </a:r>
          </a:p>
        </p:txBody>
      </p:sp>
      <p:sp>
        <p:nvSpPr>
          <p:cNvPr id="30" name="Ellipse 29">
            <a:extLst>
              <a:ext uri="{FF2B5EF4-FFF2-40B4-BE49-F238E27FC236}">
                <a16:creationId xmlns:a16="http://schemas.microsoft.com/office/drawing/2014/main" id="{4F7EA5FD-45AB-453A-8ED6-7CCA848C2498}"/>
              </a:ext>
            </a:extLst>
          </p:cNvPr>
          <p:cNvSpPr/>
          <p:nvPr/>
        </p:nvSpPr>
        <p:spPr>
          <a:xfrm>
            <a:off x="939800" y="37846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1" name="ZoneTexte 30">
            <a:extLst>
              <a:ext uri="{FF2B5EF4-FFF2-40B4-BE49-F238E27FC236}">
                <a16:creationId xmlns:a16="http://schemas.microsoft.com/office/drawing/2014/main" id="{7128A086-4E31-4932-BB0A-30972F01369E}"/>
              </a:ext>
            </a:extLst>
          </p:cNvPr>
          <p:cNvSpPr txBox="1"/>
          <p:nvPr/>
        </p:nvSpPr>
        <p:spPr>
          <a:xfrm>
            <a:off x="1168400" y="36830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Déploiement pilote</a:t>
            </a:r>
          </a:p>
        </p:txBody>
      </p:sp>
      <p:sp>
        <p:nvSpPr>
          <p:cNvPr id="32" name="Rectangle : coins arrondis 31">
            <a:extLst>
              <a:ext uri="{FF2B5EF4-FFF2-40B4-BE49-F238E27FC236}">
                <a16:creationId xmlns:a16="http://schemas.microsoft.com/office/drawing/2014/main" id="{5CB1ED96-ED02-499B-BF8D-B98B5B663381}"/>
              </a:ext>
            </a:extLst>
          </p:cNvPr>
          <p:cNvSpPr/>
          <p:nvPr/>
        </p:nvSpPr>
        <p:spPr>
          <a:xfrm>
            <a:off x="9673166" y="3695700"/>
            <a:ext cx="1248833" cy="3302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3" name="ZoneTexte 32">
            <a:extLst>
              <a:ext uri="{FF2B5EF4-FFF2-40B4-BE49-F238E27FC236}">
                <a16:creationId xmlns:a16="http://schemas.microsoft.com/office/drawing/2014/main" id="{33A27D02-F0E8-4D05-B0B3-7249EECB783A}"/>
              </a:ext>
            </a:extLst>
          </p:cNvPr>
          <p:cNvSpPr txBox="1"/>
          <p:nvPr/>
        </p:nvSpPr>
        <p:spPr>
          <a:xfrm>
            <a:off x="9673166" y="3695700"/>
            <a:ext cx="1248833" cy="330200"/>
          </a:xfrm>
          <a:prstGeom prst="rect">
            <a:avLst/>
          </a:prstGeom>
          <a:noFill/>
        </p:spPr>
        <p:txBody>
          <a:bodyPr vertOverflow="overflow" vert="horz" wrap="none" rtlCol="0" anchor="ctr" anchorCtr="0">
            <a:noAutofit/>
          </a:bodyPr>
          <a:lstStyle/>
          <a:p>
            <a:pPr algn="l"/>
            <a:r>
              <a:rPr lang="fr-FR" sz="1100" b="1">
                <a:solidFill>
                  <a:srgbClr val="FFFFFF"/>
                </a:solidFill>
              </a:rPr>
              <a:t>S11-S12</a:t>
            </a:r>
          </a:p>
        </p:txBody>
      </p:sp>
      <p:sp>
        <p:nvSpPr>
          <p:cNvPr id="34" name="Losange 33">
            <a:extLst>
              <a:ext uri="{FF2B5EF4-FFF2-40B4-BE49-F238E27FC236}">
                <a16:creationId xmlns:a16="http://schemas.microsoft.com/office/drawing/2014/main" id="{9FEBA937-9EB1-4E87-9119-88B9ED40FD51}"/>
              </a:ext>
            </a:extLst>
          </p:cNvPr>
          <p:cNvSpPr/>
          <p:nvPr/>
        </p:nvSpPr>
        <p:spPr>
          <a:xfrm>
            <a:off x="4512733"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J1</a:t>
            </a:r>
          </a:p>
        </p:txBody>
      </p:sp>
      <p:sp>
        <p:nvSpPr>
          <p:cNvPr id="35" name="Losange 34">
            <a:extLst>
              <a:ext uri="{FF2B5EF4-FFF2-40B4-BE49-F238E27FC236}">
                <a16:creationId xmlns:a16="http://schemas.microsoft.com/office/drawing/2014/main" id="{2EF2738C-26A5-44FA-87B1-5811014B1E2E}"/>
              </a:ext>
            </a:extLst>
          </p:cNvPr>
          <p:cNvSpPr/>
          <p:nvPr/>
        </p:nvSpPr>
        <p:spPr>
          <a:xfrm>
            <a:off x="5761566"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dirty="0">
                <a:solidFill>
                  <a:srgbClr val="FFFFFF"/>
                </a:solidFill>
              </a:rPr>
              <a:t>J2</a:t>
            </a:r>
          </a:p>
        </p:txBody>
      </p:sp>
      <p:sp>
        <p:nvSpPr>
          <p:cNvPr id="36" name="Losange 35">
            <a:extLst>
              <a:ext uri="{FF2B5EF4-FFF2-40B4-BE49-F238E27FC236}">
                <a16:creationId xmlns:a16="http://schemas.microsoft.com/office/drawing/2014/main" id="{2CF457B2-2DEB-409E-A07C-277158016D39}"/>
              </a:ext>
            </a:extLst>
          </p:cNvPr>
          <p:cNvSpPr/>
          <p:nvPr/>
        </p:nvSpPr>
        <p:spPr>
          <a:xfrm>
            <a:off x="8259233"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J3</a:t>
            </a:r>
          </a:p>
        </p:txBody>
      </p:sp>
      <p:sp>
        <p:nvSpPr>
          <p:cNvPr id="37" name="Losange 36">
            <a:extLst>
              <a:ext uri="{FF2B5EF4-FFF2-40B4-BE49-F238E27FC236}">
                <a16:creationId xmlns:a16="http://schemas.microsoft.com/office/drawing/2014/main" id="{B704D660-069F-4CFD-B662-00C5E58646A6}"/>
              </a:ext>
            </a:extLst>
          </p:cNvPr>
          <p:cNvSpPr/>
          <p:nvPr/>
        </p:nvSpPr>
        <p:spPr>
          <a:xfrm>
            <a:off x="9508066"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J4</a:t>
            </a:r>
          </a:p>
        </p:txBody>
      </p:sp>
      <p:sp>
        <p:nvSpPr>
          <p:cNvPr id="38" name="Losange 37">
            <a:extLst>
              <a:ext uri="{FF2B5EF4-FFF2-40B4-BE49-F238E27FC236}">
                <a16:creationId xmlns:a16="http://schemas.microsoft.com/office/drawing/2014/main" id="{7AB170BD-C182-48D6-AD0C-B7CB6F60BF1A}"/>
              </a:ext>
            </a:extLst>
          </p:cNvPr>
          <p:cNvSpPr/>
          <p:nvPr/>
        </p:nvSpPr>
        <p:spPr>
          <a:xfrm>
            <a:off x="10756900"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J5</a:t>
            </a:r>
          </a:p>
        </p:txBody>
      </p:sp>
      <p:sp>
        <p:nvSpPr>
          <p:cNvPr id="39" name="ZoneTexte 38">
            <a:extLst>
              <a:ext uri="{FF2B5EF4-FFF2-40B4-BE49-F238E27FC236}">
                <a16:creationId xmlns:a16="http://schemas.microsoft.com/office/drawing/2014/main" id="{972BBD9E-F999-4E8A-A94F-5A76E86F022C}"/>
              </a:ext>
            </a:extLst>
          </p:cNvPr>
          <p:cNvSpPr txBox="1"/>
          <p:nvPr/>
        </p:nvSpPr>
        <p:spPr>
          <a:xfrm>
            <a:off x="1143000" y="4724400"/>
            <a:ext cx="9779000" cy="254000"/>
          </a:xfrm>
          <a:prstGeom prst="rect">
            <a:avLst/>
          </a:prstGeom>
          <a:noFill/>
        </p:spPr>
        <p:txBody>
          <a:bodyPr vertOverflow="overflow" vert="horz" wrap="square" rtlCol="0" anchor="t">
            <a:spAutoFit/>
          </a:bodyPr>
          <a:lstStyle/>
          <a:p>
            <a:pPr algn="l"/>
            <a:r>
              <a:rPr lang="fr-FR" sz="1100">
                <a:solidFill>
                  <a:srgbClr val="5D6D7E"/>
                </a:solidFill>
                <a:latin typeface="Segoe UI"/>
                <a:cs typeface="Segoe UI"/>
              </a:rPr>
              <a:t>J1 Gouvernance validée (S2)   ·   J2 Reporting en place   ·   J3 Produit prêt (S8)   ·   J4 100 % formés (S10)   ·   J5 Bilan &amp; go/no-go (S12)</a:t>
            </a:r>
          </a:p>
        </p:txBody>
      </p:sp>
      <p:sp>
        <p:nvSpPr>
          <p:cNvPr id="40" name="Rectangle : coins arrondis 39">
            <a:extLst>
              <a:ext uri="{FF2B5EF4-FFF2-40B4-BE49-F238E27FC236}">
                <a16:creationId xmlns:a16="http://schemas.microsoft.com/office/drawing/2014/main" id="{48E7EDC4-34C1-478F-838E-DFC74381DC61}"/>
              </a:ext>
            </a:extLst>
          </p:cNvPr>
          <p:cNvSpPr/>
          <p:nvPr/>
        </p:nvSpPr>
        <p:spPr>
          <a:xfrm>
            <a:off x="1143000" y="5461000"/>
            <a:ext cx="9779000" cy="5588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rmAutofit/>
          </a:bodyPr>
          <a:lstStyle/>
          <a:p>
            <a:pPr algn="l"/>
            <a:r>
              <a:rPr lang="fr-FR" sz="1500" b="1">
                <a:solidFill>
                  <a:srgbClr val="1E7D45"/>
                </a:solidFill>
                <a:latin typeface="Segoe UI Semibold"/>
                <a:cs typeface="Segoe UI Semibold"/>
              </a:rPr>
              <a:t>✓  Les formations se terminent avant le pilote (S10) : un pilote avec des utilisateurs non formés mesurerait l'échec de la formation, pas la valeur de l'outil. L'ordre suit les dépendances réelles : les rôles avant la procédure d'escalade, les indicateurs avant le reporting.</a:t>
            </a:r>
          </a:p>
        </p:txBody>
      </p:sp>
    </p:spTree>
    <p:extLst>
      <p:ext uri="{BB962C8B-B14F-4D97-AF65-F5344CB8AC3E}">
        <p14:creationId xmlns:p14="http://schemas.microsoft.com/office/powerpoint/2010/main" val="19781964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3E628C-8263-4F4B-B7EC-A4182AF8B30A}"/>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87B865AE-11B5-4406-9906-FCFDA3829428}"/>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latin typeface="Segoe UI"/>
                <a:cs typeface="Segoe UI"/>
              </a:rPr>
              <a:t>GOUVERNANCE</a:t>
            </a:r>
          </a:p>
        </p:txBody>
      </p:sp>
      <p:sp>
        <p:nvSpPr>
          <p:cNvPr id="4" name="ZoneTexte 3">
            <a:extLst>
              <a:ext uri="{FF2B5EF4-FFF2-40B4-BE49-F238E27FC236}">
                <a16:creationId xmlns:a16="http://schemas.microsoft.com/office/drawing/2014/main" id="{DC3188C0-7237-4CA0-87BF-D6820B4CF8EE}"/>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Qui décide quoi</a:t>
            </a:r>
          </a:p>
        </p:txBody>
      </p:sp>
      <p:sp>
        <p:nvSpPr>
          <p:cNvPr id="5" name="ZoneTexte 4">
            <a:extLst>
              <a:ext uri="{FF2B5EF4-FFF2-40B4-BE49-F238E27FC236}">
                <a16:creationId xmlns:a16="http://schemas.microsoft.com/office/drawing/2014/main" id="{6B1EAD51-0434-49C8-ABB0-931E56612761}"/>
              </a:ext>
            </a:extLst>
          </p:cNvPr>
          <p:cNvSpPr txBox="1"/>
          <p:nvPr/>
        </p:nvSpPr>
        <p:spPr>
          <a:xfrm>
            <a:off x="1143000" y="1473200"/>
            <a:ext cx="9779000" cy="292388"/>
          </a:xfrm>
          <a:prstGeom prst="rect">
            <a:avLst/>
          </a:prstGeom>
          <a:noFill/>
        </p:spPr>
        <p:txBody>
          <a:bodyPr vertOverflow="overflow" vert="horz" wrap="square" rtlCol="0" anchor="t">
            <a:spAutoFit/>
          </a:bodyPr>
          <a:lstStyle/>
          <a:p>
            <a:pPr algn="l"/>
            <a:r>
              <a:rPr lang="fr-FR" sz="1300" b="1">
                <a:solidFill>
                  <a:srgbClr val="2E86AB"/>
                </a:solidFill>
              </a:rPr>
              <a:t>MÉTHODE HYBRIDE · deux natures de travail, deux modes</a:t>
            </a:r>
          </a:p>
        </p:txBody>
      </p:sp>
      <p:sp>
        <p:nvSpPr>
          <p:cNvPr id="6" name="Rectangle : coins arrondis 5">
            <a:extLst>
              <a:ext uri="{FF2B5EF4-FFF2-40B4-BE49-F238E27FC236}">
                <a16:creationId xmlns:a16="http://schemas.microsoft.com/office/drawing/2014/main" id="{D9EBCECB-992C-44DE-AC3F-EB57CD180C22}"/>
              </a:ext>
            </a:extLst>
          </p:cNvPr>
          <p:cNvSpPr/>
          <p:nvPr/>
        </p:nvSpPr>
        <p:spPr>
          <a:xfrm>
            <a:off x="1143000" y="1778000"/>
            <a:ext cx="4762500" cy="9398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ZoneTexte 6">
            <a:extLst>
              <a:ext uri="{FF2B5EF4-FFF2-40B4-BE49-F238E27FC236}">
                <a16:creationId xmlns:a16="http://schemas.microsoft.com/office/drawing/2014/main" id="{19930F8E-23FC-4541-A1C7-070BC7528116}"/>
              </a:ext>
            </a:extLst>
          </p:cNvPr>
          <p:cNvSpPr txBox="1"/>
          <p:nvPr/>
        </p:nvSpPr>
        <p:spPr>
          <a:xfrm>
            <a:off x="1346200" y="1905000"/>
            <a:ext cx="43561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Sprints de 2 semaines</a:t>
            </a:r>
          </a:p>
        </p:txBody>
      </p:sp>
      <p:sp>
        <p:nvSpPr>
          <p:cNvPr id="8" name="ZoneTexte 7">
            <a:extLst>
              <a:ext uri="{FF2B5EF4-FFF2-40B4-BE49-F238E27FC236}">
                <a16:creationId xmlns:a16="http://schemas.microsoft.com/office/drawing/2014/main" id="{39160C30-3E2D-4B81-BDF9-4F9B9A27956B}"/>
              </a:ext>
            </a:extLst>
          </p:cNvPr>
          <p:cNvSpPr txBox="1"/>
          <p:nvPr/>
        </p:nvSpPr>
        <p:spPr>
          <a:xfrm>
            <a:off x="1346200" y="2235200"/>
            <a:ext cx="4356100" cy="461665"/>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Produit · les évolutions sont planifiables : 3 sprints de 2 semaines, cadence lisible pour la direction</a:t>
            </a:r>
          </a:p>
        </p:txBody>
      </p:sp>
      <p:sp>
        <p:nvSpPr>
          <p:cNvPr id="9" name="Rectangle : coins arrondis 8">
            <a:extLst>
              <a:ext uri="{FF2B5EF4-FFF2-40B4-BE49-F238E27FC236}">
                <a16:creationId xmlns:a16="http://schemas.microsoft.com/office/drawing/2014/main" id="{D932CC92-6EDF-471F-9F4F-BD4EF7F35A55}"/>
              </a:ext>
            </a:extLst>
          </p:cNvPr>
          <p:cNvSpPr/>
          <p:nvPr/>
        </p:nvSpPr>
        <p:spPr>
          <a:xfrm>
            <a:off x="6159500" y="1778000"/>
            <a:ext cx="4762500" cy="9398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488CCC35-08B5-49E9-B3D7-FC571BD8554B}"/>
              </a:ext>
            </a:extLst>
          </p:cNvPr>
          <p:cNvSpPr txBox="1"/>
          <p:nvPr/>
        </p:nvSpPr>
        <p:spPr>
          <a:xfrm>
            <a:off x="6362700" y="1905000"/>
            <a:ext cx="43561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Flux Kanban continu</a:t>
            </a:r>
          </a:p>
        </p:txBody>
      </p:sp>
      <p:sp>
        <p:nvSpPr>
          <p:cNvPr id="11" name="ZoneTexte 10">
            <a:extLst>
              <a:ext uri="{FF2B5EF4-FFF2-40B4-BE49-F238E27FC236}">
                <a16:creationId xmlns:a16="http://schemas.microsoft.com/office/drawing/2014/main" id="{2BFB73F3-B860-4B2C-9E4B-6E0903F01B12}"/>
              </a:ext>
            </a:extLst>
          </p:cNvPr>
          <p:cNvSpPr txBox="1"/>
          <p:nvPr/>
        </p:nvSpPr>
        <p:spPr>
          <a:xfrm>
            <a:off x="6362700" y="2235200"/>
            <a:ext cx="4356100" cy="461665"/>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Support · demandes imprévisibles : traitement en continu avec une file de priorités limitée</a:t>
            </a:r>
          </a:p>
        </p:txBody>
      </p:sp>
      <p:sp>
        <p:nvSpPr>
          <p:cNvPr id="12" name="Rectangle : coins arrondis 11">
            <a:extLst>
              <a:ext uri="{FF2B5EF4-FFF2-40B4-BE49-F238E27FC236}">
                <a16:creationId xmlns:a16="http://schemas.microsoft.com/office/drawing/2014/main" id="{4EA7E9B1-A035-43E0-AB54-ECFAB59658C9}"/>
              </a:ext>
            </a:extLst>
          </p:cNvPr>
          <p:cNvSpPr/>
          <p:nvPr/>
        </p:nvSpPr>
        <p:spPr>
          <a:xfrm>
            <a:off x="1143000" y="2870200"/>
            <a:ext cx="9779000" cy="7366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ZoneTexte 12">
            <a:extLst>
              <a:ext uri="{FF2B5EF4-FFF2-40B4-BE49-F238E27FC236}">
                <a16:creationId xmlns:a16="http://schemas.microsoft.com/office/drawing/2014/main" id="{7F7D9889-1548-413B-82CD-8AA91E766608}"/>
              </a:ext>
            </a:extLst>
          </p:cNvPr>
          <p:cNvSpPr txBox="1"/>
          <p:nvPr/>
        </p:nvSpPr>
        <p:spPr>
          <a:xfrm>
            <a:off x="1346200" y="2984500"/>
            <a:ext cx="6350000" cy="279400"/>
          </a:xfrm>
          <a:prstGeom prst="rect">
            <a:avLst/>
          </a:prstGeom>
          <a:noFill/>
        </p:spPr>
        <p:txBody>
          <a:bodyPr vertOverflow="overflow" vert="horz" wrap="square" rtlCol="0" anchor="t">
            <a:spAutoFit/>
          </a:bodyPr>
          <a:lstStyle/>
          <a:p>
            <a:pPr algn="l"/>
            <a:r>
              <a:rPr lang="fr-FR" sz="1600" b="1">
                <a:solidFill>
                  <a:srgbClr val="1A5276"/>
                </a:solidFill>
                <a:latin typeface="Segoe UI Semibold"/>
                <a:cs typeface="Segoe UI Semibold"/>
              </a:rPr>
              <a:t>Comité d'arbitrage hebdomadaire</a:t>
            </a:r>
          </a:p>
        </p:txBody>
      </p:sp>
      <p:sp>
        <p:nvSpPr>
          <p:cNvPr id="14" name="ZoneTexte 13">
            <a:extLst>
              <a:ext uri="{FF2B5EF4-FFF2-40B4-BE49-F238E27FC236}">
                <a16:creationId xmlns:a16="http://schemas.microsoft.com/office/drawing/2014/main" id="{65E6DEE9-57B1-4EE3-B41C-503A2DEF84B9}"/>
              </a:ext>
            </a:extLst>
          </p:cNvPr>
          <p:cNvSpPr txBox="1"/>
          <p:nvPr/>
        </p:nvSpPr>
        <p:spPr>
          <a:xfrm>
            <a:off x="1346200" y="3276600"/>
            <a:ext cx="9398000" cy="461665"/>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Product Owner  ·  Lead Data  ·  référent métier  ·  règle les conflits de priorités en jours, pas en mois. Exemple : export CSV ou alertes lisibles en premier ? Le PO tranche chaque lundi en 30 minutes, éclairé par la charge et les dépendances techniques.</a:t>
            </a:r>
          </a:p>
        </p:txBody>
      </p:sp>
      <p:sp>
        <p:nvSpPr>
          <p:cNvPr id="15" name="ZoneTexte 14">
            <a:extLst>
              <a:ext uri="{FF2B5EF4-FFF2-40B4-BE49-F238E27FC236}">
                <a16:creationId xmlns:a16="http://schemas.microsoft.com/office/drawing/2014/main" id="{95C99BC2-1161-4116-BE21-DF6CB690CE85}"/>
              </a:ext>
            </a:extLst>
          </p:cNvPr>
          <p:cNvSpPr txBox="1"/>
          <p:nvPr/>
        </p:nvSpPr>
        <p:spPr>
          <a:xfrm>
            <a:off x="1143000" y="3784600"/>
            <a:ext cx="9779000" cy="254000"/>
          </a:xfrm>
          <a:prstGeom prst="rect">
            <a:avLst/>
          </a:prstGeom>
          <a:noFill/>
        </p:spPr>
        <p:txBody>
          <a:bodyPr vertOverflow="overflow" vert="horz" wrap="square" rtlCol="0" anchor="t">
            <a:spAutoFit/>
          </a:bodyPr>
          <a:lstStyle/>
          <a:p>
            <a:pPr algn="l"/>
            <a:r>
              <a:rPr lang="fr-FR" sz="1300" b="1">
                <a:solidFill>
                  <a:srgbClr val="2E86AB"/>
                </a:solidFill>
              </a:rPr>
              <a:t>UN SEUL RESPONSABLE PAR ACTIVITÉ</a:t>
            </a:r>
          </a:p>
        </p:txBody>
      </p:sp>
      <p:sp>
        <p:nvSpPr>
          <p:cNvPr id="16" name="Rectangle : coins arrondis 15">
            <a:extLst>
              <a:ext uri="{FF2B5EF4-FFF2-40B4-BE49-F238E27FC236}">
                <a16:creationId xmlns:a16="http://schemas.microsoft.com/office/drawing/2014/main" id="{3294DC05-3FAB-407A-BEC7-AA2EE069DBB8}"/>
              </a:ext>
            </a:extLst>
          </p:cNvPr>
          <p:cNvSpPr/>
          <p:nvPr/>
        </p:nvSpPr>
        <p:spPr>
          <a:xfrm>
            <a:off x="1143000" y="4089400"/>
            <a:ext cx="3175000" cy="10160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7" name="ZoneTexte 16">
            <a:extLst>
              <a:ext uri="{FF2B5EF4-FFF2-40B4-BE49-F238E27FC236}">
                <a16:creationId xmlns:a16="http://schemas.microsoft.com/office/drawing/2014/main" id="{B9DC5A5C-855F-46BF-A9CE-DEBBA3E7A9DE}"/>
              </a:ext>
            </a:extLst>
          </p:cNvPr>
          <p:cNvSpPr txBox="1"/>
          <p:nvPr/>
        </p:nvSpPr>
        <p:spPr>
          <a:xfrm>
            <a:off x="1320800" y="4216400"/>
            <a:ext cx="2819400" cy="254000"/>
          </a:xfrm>
          <a:prstGeom prst="rect">
            <a:avLst/>
          </a:prstGeom>
          <a:noFill/>
        </p:spPr>
        <p:txBody>
          <a:bodyPr vertOverflow="overflow" vert="horz" wrap="square" rtlCol="0" anchor="t">
            <a:spAutoFit/>
          </a:bodyPr>
          <a:lstStyle/>
          <a:p>
            <a:pPr algn="l"/>
            <a:r>
              <a:rPr lang="fr-FR" sz="1400" b="1">
                <a:solidFill>
                  <a:srgbClr val="1A5276"/>
                </a:solidFill>
                <a:latin typeface="Segoe UI Semibold"/>
                <a:cs typeface="Segoe UI Semibold"/>
              </a:rPr>
              <a:t>Product Owner</a:t>
            </a:r>
          </a:p>
        </p:txBody>
      </p:sp>
      <p:sp>
        <p:nvSpPr>
          <p:cNvPr id="18" name="ZoneTexte 17">
            <a:extLst>
              <a:ext uri="{FF2B5EF4-FFF2-40B4-BE49-F238E27FC236}">
                <a16:creationId xmlns:a16="http://schemas.microsoft.com/office/drawing/2014/main" id="{B0FD25A7-0601-4732-9AC2-D33A0ACA04F1}"/>
              </a:ext>
            </a:extLst>
          </p:cNvPr>
          <p:cNvSpPr txBox="1"/>
          <p:nvPr/>
        </p:nvSpPr>
        <p:spPr>
          <a:xfrm>
            <a:off x="1320800" y="4521200"/>
            <a:ext cx="2819400" cy="461665"/>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Priorise le backlog et porte la valeur métier</a:t>
            </a:r>
          </a:p>
        </p:txBody>
      </p:sp>
      <p:sp>
        <p:nvSpPr>
          <p:cNvPr id="19" name="Rectangle : coins arrondis 18">
            <a:extLst>
              <a:ext uri="{FF2B5EF4-FFF2-40B4-BE49-F238E27FC236}">
                <a16:creationId xmlns:a16="http://schemas.microsoft.com/office/drawing/2014/main" id="{B49ED90F-5B79-4D4A-B391-C8E850C91728}"/>
              </a:ext>
            </a:extLst>
          </p:cNvPr>
          <p:cNvSpPr/>
          <p:nvPr/>
        </p:nvSpPr>
        <p:spPr>
          <a:xfrm>
            <a:off x="4445000" y="4089400"/>
            <a:ext cx="3175000" cy="1016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ZoneTexte 19">
            <a:extLst>
              <a:ext uri="{FF2B5EF4-FFF2-40B4-BE49-F238E27FC236}">
                <a16:creationId xmlns:a16="http://schemas.microsoft.com/office/drawing/2014/main" id="{88D904B9-62AC-489E-B179-299CF529E8BA}"/>
              </a:ext>
            </a:extLst>
          </p:cNvPr>
          <p:cNvSpPr txBox="1"/>
          <p:nvPr/>
        </p:nvSpPr>
        <p:spPr>
          <a:xfrm>
            <a:off x="4622800" y="4216400"/>
            <a:ext cx="2819400" cy="254000"/>
          </a:xfrm>
          <a:prstGeom prst="rect">
            <a:avLst/>
          </a:prstGeom>
          <a:noFill/>
        </p:spPr>
        <p:txBody>
          <a:bodyPr vertOverflow="overflow" vert="horz" wrap="square" rtlCol="0" anchor="t">
            <a:spAutoFit/>
          </a:bodyPr>
          <a:lstStyle/>
          <a:p>
            <a:pPr algn="l"/>
            <a:r>
              <a:rPr lang="fr-FR" sz="1400" b="1">
                <a:solidFill>
                  <a:srgbClr val="FFFFFF"/>
                </a:solidFill>
                <a:latin typeface="Segoe UI Semibold"/>
                <a:cs typeface="Segoe UI Semibold"/>
              </a:rPr>
              <a:t>Lead Data (moi)</a:t>
            </a:r>
          </a:p>
        </p:txBody>
      </p:sp>
      <p:sp>
        <p:nvSpPr>
          <p:cNvPr id="21" name="ZoneTexte 20">
            <a:extLst>
              <a:ext uri="{FF2B5EF4-FFF2-40B4-BE49-F238E27FC236}">
                <a16:creationId xmlns:a16="http://schemas.microsoft.com/office/drawing/2014/main" id="{D3E78536-4129-4AE8-BD81-2DBD14903802}"/>
              </a:ext>
            </a:extLst>
          </p:cNvPr>
          <p:cNvSpPr txBox="1"/>
          <p:nvPr/>
        </p:nvSpPr>
        <p:spPr>
          <a:xfrm>
            <a:off x="4622800" y="4521200"/>
            <a:ext cx="2819400" cy="646331"/>
          </a:xfrm>
          <a:prstGeom prst="rect">
            <a:avLst/>
          </a:prstGeom>
          <a:noFill/>
        </p:spPr>
        <p:txBody>
          <a:bodyPr vertOverflow="overflow" vert="horz" wrap="square" rtlCol="0" anchor="t">
            <a:normAutofit/>
          </a:bodyPr>
          <a:lstStyle/>
          <a:p>
            <a:pPr algn="l"/>
            <a:r>
              <a:rPr lang="fr-FR" sz="1200">
                <a:solidFill>
                  <a:srgbClr val="EAF2F8"/>
                </a:solidFill>
                <a:latin typeface="Segoe UI"/>
                <a:cs typeface="Segoe UI"/>
              </a:rPr>
              <a:t>Planifie le projet, garantit la fiabilité des indicateurs, rend compte à la direction</a:t>
            </a:r>
          </a:p>
        </p:txBody>
      </p:sp>
      <p:sp>
        <p:nvSpPr>
          <p:cNvPr id="22" name="Rectangle : coins arrondis 21">
            <a:extLst>
              <a:ext uri="{FF2B5EF4-FFF2-40B4-BE49-F238E27FC236}">
                <a16:creationId xmlns:a16="http://schemas.microsoft.com/office/drawing/2014/main" id="{C1A5EABE-9B45-4735-B015-09F28C7D1AA9}"/>
              </a:ext>
            </a:extLst>
          </p:cNvPr>
          <p:cNvSpPr/>
          <p:nvPr/>
        </p:nvSpPr>
        <p:spPr>
          <a:xfrm>
            <a:off x="7747000" y="4089400"/>
            <a:ext cx="3175000" cy="10160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23F2EE6B-3173-4C63-80A1-1FB65148E849}"/>
              </a:ext>
            </a:extLst>
          </p:cNvPr>
          <p:cNvSpPr txBox="1"/>
          <p:nvPr/>
        </p:nvSpPr>
        <p:spPr>
          <a:xfrm>
            <a:off x="7924800" y="4216400"/>
            <a:ext cx="2819400" cy="254000"/>
          </a:xfrm>
          <a:prstGeom prst="rect">
            <a:avLst/>
          </a:prstGeom>
          <a:noFill/>
        </p:spPr>
        <p:txBody>
          <a:bodyPr vertOverflow="overflow" vert="horz" wrap="square" rtlCol="0" anchor="t">
            <a:spAutoFit/>
          </a:bodyPr>
          <a:lstStyle/>
          <a:p>
            <a:pPr algn="l"/>
            <a:r>
              <a:rPr lang="fr-FR" sz="1400" b="1">
                <a:solidFill>
                  <a:srgbClr val="1A5276"/>
                </a:solidFill>
                <a:latin typeface="Segoe UI Semibold"/>
                <a:cs typeface="Segoe UI Semibold"/>
              </a:rPr>
              <a:t>Référent accessibilité</a:t>
            </a:r>
          </a:p>
        </p:txBody>
      </p:sp>
      <p:sp>
        <p:nvSpPr>
          <p:cNvPr id="24" name="ZoneTexte 23">
            <a:extLst>
              <a:ext uri="{FF2B5EF4-FFF2-40B4-BE49-F238E27FC236}">
                <a16:creationId xmlns:a16="http://schemas.microsoft.com/office/drawing/2014/main" id="{E71583FC-6A5B-4BC7-AA71-83CA517D9196}"/>
              </a:ext>
            </a:extLst>
          </p:cNvPr>
          <p:cNvSpPr txBox="1"/>
          <p:nvPr/>
        </p:nvSpPr>
        <p:spPr>
          <a:xfrm>
            <a:off x="7924800" y="4521200"/>
            <a:ext cx="2819400" cy="461665"/>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Valide l'accessibilité de chaque support avant toute diffusion</a:t>
            </a:r>
          </a:p>
        </p:txBody>
      </p:sp>
      <p:sp>
        <p:nvSpPr>
          <p:cNvPr id="25" name="Rectangle : coins arrondis 24">
            <a:extLst>
              <a:ext uri="{FF2B5EF4-FFF2-40B4-BE49-F238E27FC236}">
                <a16:creationId xmlns:a16="http://schemas.microsoft.com/office/drawing/2014/main" id="{7393EFB6-C238-49D7-8C02-06277688D7D8}"/>
              </a:ext>
            </a:extLst>
          </p:cNvPr>
          <p:cNvSpPr/>
          <p:nvPr/>
        </p:nvSpPr>
        <p:spPr>
          <a:xfrm>
            <a:off x="1143000" y="5283200"/>
            <a:ext cx="9779000" cy="635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600" b="1">
                <a:solidFill>
                  <a:srgbClr val="FFFFFF"/>
                </a:solidFill>
                <a:latin typeface="Segoe UI Semibold"/>
                <a:cs typeface="Segoe UI Semibold"/>
              </a:rPr>
              <a:t>①  Décision attendue :  valider ce mode de gouvernance</a:t>
            </a:r>
          </a:p>
        </p:txBody>
      </p:sp>
    </p:spTree>
    <p:extLst>
      <p:ext uri="{BB962C8B-B14F-4D97-AF65-F5344CB8AC3E}">
        <p14:creationId xmlns:p14="http://schemas.microsoft.com/office/powerpoint/2010/main" val="1541252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AE9FFEC-5077-41E0-B9D1-11588CAC5EF3}"/>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52EBB074-5417-4467-B364-594F45AEB96B}"/>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rPr>
              <a:t>INDICATEURS (KPI)</a:t>
            </a:r>
          </a:p>
        </p:txBody>
      </p:sp>
      <p:sp>
        <p:nvSpPr>
          <p:cNvPr id="4" name="ZoneTexte 3">
            <a:extLst>
              <a:ext uri="{FF2B5EF4-FFF2-40B4-BE49-F238E27FC236}">
                <a16:creationId xmlns:a16="http://schemas.microsoft.com/office/drawing/2014/main" id="{A0FF602C-0396-490E-80AE-5A4A1494DC00}"/>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Des cibles chiffrées en 4 catégories</a:t>
            </a:r>
          </a:p>
        </p:txBody>
      </p:sp>
      <p:sp>
        <p:nvSpPr>
          <p:cNvPr id="5" name="ZoneTexte 4">
            <a:extLst>
              <a:ext uri="{FF2B5EF4-FFF2-40B4-BE49-F238E27FC236}">
                <a16:creationId xmlns:a16="http://schemas.microsoft.com/office/drawing/2014/main" id="{B6C0FAB1-ED79-41F6-9409-F5EFE2A88E52}"/>
              </a:ext>
            </a:extLst>
          </p:cNvPr>
          <p:cNvSpPr txBox="1"/>
          <p:nvPr/>
        </p:nvSpPr>
        <p:spPr>
          <a:xfrm>
            <a:off x="8039100" y="1473200"/>
            <a:ext cx="3048000" cy="228600"/>
          </a:xfrm>
          <a:prstGeom prst="rect">
            <a:avLst/>
          </a:prstGeom>
          <a:noFill/>
        </p:spPr>
        <p:txBody>
          <a:bodyPr vertOverflow="overflow" vert="horz" wrap="square" rtlCol="0" anchor="t">
            <a:spAutoFit/>
          </a:bodyPr>
          <a:lstStyle/>
          <a:p>
            <a:pPr algn="l"/>
            <a:r>
              <a:rPr lang="fr-FR" sz="1200" b="1">
                <a:solidFill>
                  <a:srgbClr val="2E86AB"/>
                </a:solidFill>
                <a:latin typeface="Segoe UI"/>
                <a:cs typeface="Segoe UI"/>
              </a:rPr>
              <a:t>4 CATÉGORIES DE PILOTAGE</a:t>
            </a:r>
          </a:p>
        </p:txBody>
      </p:sp>
      <p:sp>
        <p:nvSpPr>
          <p:cNvPr id="6" name="Ellipse 5">
            <a:extLst>
              <a:ext uri="{FF2B5EF4-FFF2-40B4-BE49-F238E27FC236}">
                <a16:creationId xmlns:a16="http://schemas.microsoft.com/office/drawing/2014/main" id="{B8933C2B-ED09-4704-AB3A-58F6EFFB8059}"/>
              </a:ext>
            </a:extLst>
          </p:cNvPr>
          <p:cNvSpPr/>
          <p:nvPr/>
        </p:nvSpPr>
        <p:spPr>
          <a:xfrm>
            <a:off x="8039100" y="1828800"/>
            <a:ext cx="152400" cy="152400"/>
          </a:xfrm>
          <a:prstGeom prst="ellipse">
            <a:avLst/>
          </a:prstGeom>
          <a:solidFill>
            <a:srgbClr val="2E86A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ZoneTexte 6">
            <a:extLst>
              <a:ext uri="{FF2B5EF4-FFF2-40B4-BE49-F238E27FC236}">
                <a16:creationId xmlns:a16="http://schemas.microsoft.com/office/drawing/2014/main" id="{005E4D3D-22A1-414C-A8D8-92AEB6008FEF}"/>
              </a:ext>
            </a:extLst>
          </p:cNvPr>
          <p:cNvSpPr txBox="1"/>
          <p:nvPr/>
        </p:nvSpPr>
        <p:spPr>
          <a:xfrm>
            <a:off x="8280400" y="17907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Adoption</a:t>
            </a:r>
          </a:p>
        </p:txBody>
      </p:sp>
      <p:sp>
        <p:nvSpPr>
          <p:cNvPr id="8" name="Ellipse 7">
            <a:extLst>
              <a:ext uri="{FF2B5EF4-FFF2-40B4-BE49-F238E27FC236}">
                <a16:creationId xmlns:a16="http://schemas.microsoft.com/office/drawing/2014/main" id="{78D59626-F26E-4EB1-8F80-32AC7949746F}"/>
              </a:ext>
            </a:extLst>
          </p:cNvPr>
          <p:cNvSpPr/>
          <p:nvPr/>
        </p:nvSpPr>
        <p:spPr>
          <a:xfrm>
            <a:off x="8039100" y="2133600"/>
            <a:ext cx="152400" cy="152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B3596707-59C8-4387-87D4-18A6FBE4AD53}"/>
              </a:ext>
            </a:extLst>
          </p:cNvPr>
          <p:cNvSpPr txBox="1"/>
          <p:nvPr/>
        </p:nvSpPr>
        <p:spPr>
          <a:xfrm>
            <a:off x="8280400" y="20955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Produit</a:t>
            </a:r>
          </a:p>
        </p:txBody>
      </p:sp>
      <p:sp>
        <p:nvSpPr>
          <p:cNvPr id="10" name="Ellipse 9">
            <a:extLst>
              <a:ext uri="{FF2B5EF4-FFF2-40B4-BE49-F238E27FC236}">
                <a16:creationId xmlns:a16="http://schemas.microsoft.com/office/drawing/2014/main" id="{75112334-9FB1-4E0E-B627-4DA3EA332097}"/>
              </a:ext>
            </a:extLst>
          </p:cNvPr>
          <p:cNvSpPr/>
          <p:nvPr/>
        </p:nvSpPr>
        <p:spPr>
          <a:xfrm>
            <a:off x="8039100" y="2438400"/>
            <a:ext cx="152400" cy="152400"/>
          </a:xfrm>
          <a:prstGeom prst="ellipse">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1" name="ZoneTexte 10">
            <a:extLst>
              <a:ext uri="{FF2B5EF4-FFF2-40B4-BE49-F238E27FC236}">
                <a16:creationId xmlns:a16="http://schemas.microsoft.com/office/drawing/2014/main" id="{320233AC-963F-433A-8C9B-5092D1105A02}"/>
              </a:ext>
            </a:extLst>
          </p:cNvPr>
          <p:cNvSpPr txBox="1"/>
          <p:nvPr/>
        </p:nvSpPr>
        <p:spPr>
          <a:xfrm>
            <a:off x="8280400" y="24003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Projet</a:t>
            </a:r>
          </a:p>
        </p:txBody>
      </p:sp>
      <p:sp>
        <p:nvSpPr>
          <p:cNvPr id="12" name="Ellipse 11">
            <a:extLst>
              <a:ext uri="{FF2B5EF4-FFF2-40B4-BE49-F238E27FC236}">
                <a16:creationId xmlns:a16="http://schemas.microsoft.com/office/drawing/2014/main" id="{AD8BCC12-217F-490A-843D-9264DC03883F}"/>
              </a:ext>
            </a:extLst>
          </p:cNvPr>
          <p:cNvSpPr/>
          <p:nvPr/>
        </p:nvSpPr>
        <p:spPr>
          <a:xfrm>
            <a:off x="8039100" y="2743200"/>
            <a:ext cx="152400" cy="152400"/>
          </a:xfrm>
          <a:prstGeom prst="ellipse">
            <a:avLst/>
          </a:prstGeom>
          <a:solidFill>
            <a:srgbClr val="27AE6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ZoneTexte 12">
            <a:extLst>
              <a:ext uri="{FF2B5EF4-FFF2-40B4-BE49-F238E27FC236}">
                <a16:creationId xmlns:a16="http://schemas.microsoft.com/office/drawing/2014/main" id="{E8683FD9-C503-4384-82A9-9CBCA384F52C}"/>
              </a:ext>
            </a:extLst>
          </p:cNvPr>
          <p:cNvSpPr txBox="1"/>
          <p:nvPr/>
        </p:nvSpPr>
        <p:spPr>
          <a:xfrm>
            <a:off x="8280400" y="27051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RSE</a:t>
            </a:r>
          </a:p>
        </p:txBody>
      </p:sp>
      <p:sp>
        <p:nvSpPr>
          <p:cNvPr id="14" name="Rectangle : coins arrondis 13">
            <a:extLst>
              <a:ext uri="{FF2B5EF4-FFF2-40B4-BE49-F238E27FC236}">
                <a16:creationId xmlns:a16="http://schemas.microsoft.com/office/drawing/2014/main" id="{910E6704-6F45-463E-B599-33F0B3F2B4FC}"/>
              </a:ext>
            </a:extLst>
          </p:cNvPr>
          <p:cNvSpPr/>
          <p:nvPr/>
        </p:nvSpPr>
        <p:spPr>
          <a:xfrm>
            <a:off x="8039100" y="3149600"/>
            <a:ext cx="3048000" cy="838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ZoneTexte 14">
            <a:extLst>
              <a:ext uri="{FF2B5EF4-FFF2-40B4-BE49-F238E27FC236}">
                <a16:creationId xmlns:a16="http://schemas.microsoft.com/office/drawing/2014/main" id="{0228B332-4F89-4199-B11F-D708465E4122}"/>
              </a:ext>
            </a:extLst>
          </p:cNvPr>
          <p:cNvSpPr txBox="1"/>
          <p:nvPr/>
        </p:nvSpPr>
        <p:spPr>
          <a:xfrm>
            <a:off x="8216900" y="3263900"/>
            <a:ext cx="26924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Jalons tenus</a:t>
            </a:r>
          </a:p>
        </p:txBody>
      </p:sp>
      <p:sp>
        <p:nvSpPr>
          <p:cNvPr id="16" name="ZoneTexte 15">
            <a:extLst>
              <a:ext uri="{FF2B5EF4-FFF2-40B4-BE49-F238E27FC236}">
                <a16:creationId xmlns:a16="http://schemas.microsoft.com/office/drawing/2014/main" id="{7EDF86CB-C6C3-4862-A770-655A419BBD8E}"/>
              </a:ext>
            </a:extLst>
          </p:cNvPr>
          <p:cNvSpPr txBox="1"/>
          <p:nvPr/>
        </p:nvSpPr>
        <p:spPr>
          <a:xfrm>
            <a:off x="8216900" y="3517900"/>
            <a:ext cx="1905000" cy="323165"/>
          </a:xfrm>
          <a:prstGeom prst="rect">
            <a:avLst/>
          </a:prstGeom>
          <a:noFill/>
        </p:spPr>
        <p:txBody>
          <a:bodyPr vertOverflow="overflow" vert="horz" wrap="square" rtlCol="0" anchor="t">
            <a:spAutoFit/>
          </a:bodyPr>
          <a:lstStyle/>
          <a:p>
            <a:pPr algn="l"/>
            <a:r>
              <a:rPr lang="fr-FR" sz="1500" b="1">
                <a:solidFill>
                  <a:srgbClr val="1B2A38"/>
                </a:solidFill>
                <a:latin typeface="Segoe UI Semibold"/>
                <a:cs typeface="Segoe UI Semibold"/>
              </a:rPr>
              <a:t>85 % min.</a:t>
            </a:r>
          </a:p>
        </p:txBody>
      </p:sp>
      <p:sp>
        <p:nvSpPr>
          <p:cNvPr id="17" name="Rectangle : coins arrondis 16">
            <a:extLst>
              <a:ext uri="{FF2B5EF4-FFF2-40B4-BE49-F238E27FC236}">
                <a16:creationId xmlns:a16="http://schemas.microsoft.com/office/drawing/2014/main" id="{981088F5-94B0-4C06-986B-4B109B1A757B}"/>
              </a:ext>
            </a:extLst>
          </p:cNvPr>
          <p:cNvSpPr/>
          <p:nvPr/>
        </p:nvSpPr>
        <p:spPr>
          <a:xfrm>
            <a:off x="10172700" y="3632200"/>
            <a:ext cx="762000" cy="254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Projet</a:t>
            </a:r>
          </a:p>
        </p:txBody>
      </p:sp>
      <p:sp>
        <p:nvSpPr>
          <p:cNvPr id="18" name="Rectangle : coins arrondis 17">
            <a:extLst>
              <a:ext uri="{FF2B5EF4-FFF2-40B4-BE49-F238E27FC236}">
                <a16:creationId xmlns:a16="http://schemas.microsoft.com/office/drawing/2014/main" id="{292E780D-E8F5-4535-8352-83B6A9206555}"/>
              </a:ext>
            </a:extLst>
          </p:cNvPr>
          <p:cNvSpPr/>
          <p:nvPr/>
        </p:nvSpPr>
        <p:spPr>
          <a:xfrm>
            <a:off x="8039100" y="4089400"/>
            <a:ext cx="3048000" cy="838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ZoneTexte 18">
            <a:extLst>
              <a:ext uri="{FF2B5EF4-FFF2-40B4-BE49-F238E27FC236}">
                <a16:creationId xmlns:a16="http://schemas.microsoft.com/office/drawing/2014/main" id="{006C8D79-5DC1-43D6-A254-B2264281C295}"/>
              </a:ext>
            </a:extLst>
          </p:cNvPr>
          <p:cNvSpPr txBox="1"/>
          <p:nvPr/>
        </p:nvSpPr>
        <p:spPr>
          <a:xfrm>
            <a:off x="8216900" y="4203700"/>
            <a:ext cx="26924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Empreinte numérique</a:t>
            </a:r>
          </a:p>
        </p:txBody>
      </p:sp>
      <p:sp>
        <p:nvSpPr>
          <p:cNvPr id="20" name="ZoneTexte 19">
            <a:extLst>
              <a:ext uri="{FF2B5EF4-FFF2-40B4-BE49-F238E27FC236}">
                <a16:creationId xmlns:a16="http://schemas.microsoft.com/office/drawing/2014/main" id="{5A13F90D-AA21-46F0-B3AF-6E5AE3FCD740}"/>
              </a:ext>
            </a:extLst>
          </p:cNvPr>
          <p:cNvSpPr txBox="1"/>
          <p:nvPr/>
        </p:nvSpPr>
        <p:spPr>
          <a:xfrm>
            <a:off x="8216900" y="4457700"/>
            <a:ext cx="1905000" cy="784830"/>
          </a:xfrm>
          <a:prstGeom prst="rect">
            <a:avLst/>
          </a:prstGeom>
          <a:noFill/>
        </p:spPr>
        <p:txBody>
          <a:bodyPr vertOverflow="overflow" vert="horz" wrap="square" rtlCol="0" anchor="t">
            <a:normAutofit/>
          </a:bodyPr>
          <a:lstStyle/>
          <a:p>
            <a:pPr algn="l"/>
            <a:r>
              <a:rPr lang="fr-FR" sz="1500" b="1">
                <a:solidFill>
                  <a:srgbClr val="1B2A38"/>
                </a:solidFill>
                <a:latin typeface="Segoe UI Semibold"/>
                <a:cs typeface="Segoe UI Semibold"/>
              </a:rPr>
              <a:t>Formule définie en S4, puis suivi mensuel</a:t>
            </a:r>
          </a:p>
        </p:txBody>
      </p:sp>
      <p:sp>
        <p:nvSpPr>
          <p:cNvPr id="21" name="Rectangle : coins arrondis 20">
            <a:extLst>
              <a:ext uri="{FF2B5EF4-FFF2-40B4-BE49-F238E27FC236}">
                <a16:creationId xmlns:a16="http://schemas.microsoft.com/office/drawing/2014/main" id="{D606D668-6804-4962-8D31-E124B1000DAA}"/>
              </a:ext>
            </a:extLst>
          </p:cNvPr>
          <p:cNvSpPr/>
          <p:nvPr/>
        </p:nvSpPr>
        <p:spPr>
          <a:xfrm>
            <a:off x="10172700" y="4572000"/>
            <a:ext cx="762000" cy="2540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RSE</a:t>
            </a:r>
          </a:p>
        </p:txBody>
      </p:sp>
      <p:sp>
        <p:nvSpPr>
          <p:cNvPr id="22" name="Rectangle : coins arrondis 21">
            <a:extLst>
              <a:ext uri="{FF2B5EF4-FFF2-40B4-BE49-F238E27FC236}">
                <a16:creationId xmlns:a16="http://schemas.microsoft.com/office/drawing/2014/main" id="{725ACCA3-27AE-44CC-891E-0CDE1DD28261}"/>
              </a:ext>
            </a:extLst>
          </p:cNvPr>
          <p:cNvSpPr/>
          <p:nvPr/>
        </p:nvSpPr>
        <p:spPr>
          <a:xfrm>
            <a:off x="914400" y="5461000"/>
            <a:ext cx="10007600" cy="5588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r>
              <a:rPr lang="fr-FR" sz="1400" b="1">
                <a:solidFill>
                  <a:srgbClr val="1A5276"/>
                </a:solidFill>
                <a:latin typeface="Segoe UI Semibold"/>
                <a:cs typeface="Segoe UI Semibold"/>
              </a:rPr>
              <a:t>Adoption : de 35 % à 75 % · Compréhension d'une alerte : de 5 à 2 minutes · Fausses alertes : de 28 % à 15 %. Chaque indicateur a un responsable, une formule documentée au glossaire et une action prévue en cas de dérive. Tous les chiffres proviennent du dossier fourni par la direction.</a:t>
            </a:r>
          </a:p>
        </p:txBody>
      </p:sp>
      <p:graphicFrame>
        <p:nvGraphicFramePr>
          <p:cNvPr id="201" name="ChartKPI"/>
          <p:cNvGraphicFramePr/>
          <p:nvPr/>
        </p:nvGraphicFramePr>
        <p:xfrm>
          <a:off x="914400" y="1473200"/>
          <a:ext cx="6858000" cy="36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505484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CDFFBE2-745E-4A49-8EAA-3F750D34FF3C}"/>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1E350F23-7948-4D55-AC6C-E60907395E2C}"/>
              </a:ext>
            </a:extLst>
          </p:cNvPr>
          <p:cNvSpPr txBox="1"/>
          <p:nvPr/>
        </p:nvSpPr>
        <p:spPr>
          <a:xfrm>
            <a:off x="1143000" y="482600"/>
            <a:ext cx="5080000" cy="254000"/>
          </a:xfrm>
          <a:prstGeom prst="rect">
            <a:avLst/>
          </a:prstGeom>
          <a:noFill/>
        </p:spPr>
        <p:txBody>
          <a:bodyPr vertOverflow="overflow" vert="horz" wrap="square" rtlCol="0" anchor="t">
            <a:spAutoFit/>
          </a:bodyPr>
          <a:lstStyle/>
          <a:p>
            <a:pPr algn="l"/>
            <a:r>
              <a:rPr lang="fr-FR" sz="1300" b="1">
                <a:solidFill>
                  <a:srgbClr val="2E86AB"/>
                </a:solidFill>
              </a:rPr>
              <a:t>RISQUES</a:t>
            </a:r>
          </a:p>
        </p:txBody>
      </p:sp>
      <p:sp>
        <p:nvSpPr>
          <p:cNvPr id="4" name="ZoneTexte 3">
            <a:extLst>
              <a:ext uri="{FF2B5EF4-FFF2-40B4-BE49-F238E27FC236}">
                <a16:creationId xmlns:a16="http://schemas.microsoft.com/office/drawing/2014/main" id="{131C4F90-9C0E-4C49-BBBC-CA1A1589D803}"/>
              </a:ext>
            </a:extLst>
          </p:cNvPr>
          <p:cNvSpPr txBox="1"/>
          <p:nvPr/>
        </p:nvSpPr>
        <p:spPr>
          <a:xfrm>
            <a:off x="1117600" y="711200"/>
            <a:ext cx="635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Top 3 et parades</a:t>
            </a:r>
          </a:p>
        </p:txBody>
      </p:sp>
      <p:sp>
        <p:nvSpPr>
          <p:cNvPr id="5" name="ZoneTexte 4">
            <a:extLst>
              <a:ext uri="{FF2B5EF4-FFF2-40B4-BE49-F238E27FC236}">
                <a16:creationId xmlns:a16="http://schemas.microsoft.com/office/drawing/2014/main" id="{35155EB9-88FC-42BD-8370-09E37D676BEA}"/>
              </a:ext>
            </a:extLst>
          </p:cNvPr>
          <p:cNvSpPr txBox="1"/>
          <p:nvPr/>
        </p:nvSpPr>
        <p:spPr>
          <a:xfrm>
            <a:off x="5969000" y="787400"/>
            <a:ext cx="4953000" cy="292388"/>
          </a:xfrm>
          <a:prstGeom prst="rect">
            <a:avLst/>
          </a:prstGeom>
          <a:noFill/>
        </p:spPr>
        <p:txBody>
          <a:bodyPr vertOverflow="overflow" vert="horz" wrap="square" rtlCol="0" anchor="t">
            <a:spAutoFit/>
          </a:bodyPr>
          <a:lstStyle/>
          <a:p>
            <a:pPr algn="l"/>
            <a:r>
              <a:rPr lang="fr-FR" sz="1300" i="1">
                <a:solidFill>
                  <a:srgbClr val="5D6D7E"/>
                </a:solidFill>
              </a:rPr>
              <a:t>6 risques au registre · voici les 3 majeurs</a:t>
            </a:r>
          </a:p>
        </p:txBody>
      </p:sp>
      <p:sp>
        <p:nvSpPr>
          <p:cNvPr id="6" name="ZoneTexte 5">
            <a:extLst>
              <a:ext uri="{FF2B5EF4-FFF2-40B4-BE49-F238E27FC236}">
                <a16:creationId xmlns:a16="http://schemas.microsoft.com/office/drawing/2014/main" id="{8DE6188C-2BFC-4515-8E2E-984E5EBA10D4}"/>
              </a:ext>
            </a:extLst>
          </p:cNvPr>
          <p:cNvSpPr txBox="1"/>
          <p:nvPr/>
        </p:nvSpPr>
        <p:spPr>
          <a:xfrm>
            <a:off x="1016000" y="1524000"/>
            <a:ext cx="38100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RISQUE</a:t>
            </a:r>
          </a:p>
        </p:txBody>
      </p:sp>
      <p:sp>
        <p:nvSpPr>
          <p:cNvPr id="7" name="ZoneTexte 6">
            <a:extLst>
              <a:ext uri="{FF2B5EF4-FFF2-40B4-BE49-F238E27FC236}">
                <a16:creationId xmlns:a16="http://schemas.microsoft.com/office/drawing/2014/main" id="{C2403A88-882B-4C93-B09E-D0C7C866C6FF}"/>
              </a:ext>
            </a:extLst>
          </p:cNvPr>
          <p:cNvSpPr txBox="1"/>
          <p:nvPr/>
        </p:nvSpPr>
        <p:spPr>
          <a:xfrm>
            <a:off x="4724400" y="1524000"/>
            <a:ext cx="15240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NIVEAU</a:t>
            </a:r>
          </a:p>
        </p:txBody>
      </p:sp>
      <p:sp>
        <p:nvSpPr>
          <p:cNvPr id="8" name="ZoneTexte 7">
            <a:extLst>
              <a:ext uri="{FF2B5EF4-FFF2-40B4-BE49-F238E27FC236}">
                <a16:creationId xmlns:a16="http://schemas.microsoft.com/office/drawing/2014/main" id="{EFDF729B-35F1-45ED-AF7E-FAF2E95BA1DD}"/>
              </a:ext>
            </a:extLst>
          </p:cNvPr>
          <p:cNvSpPr txBox="1"/>
          <p:nvPr/>
        </p:nvSpPr>
        <p:spPr>
          <a:xfrm>
            <a:off x="6350000" y="1524000"/>
            <a:ext cx="46736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PARADE</a:t>
            </a:r>
          </a:p>
        </p:txBody>
      </p:sp>
      <p:sp>
        <p:nvSpPr>
          <p:cNvPr id="9" name="Rectangle : coins arrondis 8">
            <a:extLst>
              <a:ext uri="{FF2B5EF4-FFF2-40B4-BE49-F238E27FC236}">
                <a16:creationId xmlns:a16="http://schemas.microsoft.com/office/drawing/2014/main" id="{CF783AAD-529D-48D4-A649-F2D8D23BCF5F}"/>
              </a:ext>
            </a:extLst>
          </p:cNvPr>
          <p:cNvSpPr/>
          <p:nvPr/>
        </p:nvSpPr>
        <p:spPr>
          <a:xfrm>
            <a:off x="914400" y="18796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Rectangle 9">
            <a:extLst>
              <a:ext uri="{FF2B5EF4-FFF2-40B4-BE49-F238E27FC236}">
                <a16:creationId xmlns:a16="http://schemas.microsoft.com/office/drawing/2014/main" id="{4553E645-3957-4C8C-B390-9400563209E2}"/>
              </a:ext>
            </a:extLst>
          </p:cNvPr>
          <p:cNvSpPr/>
          <p:nvPr/>
        </p:nvSpPr>
        <p:spPr>
          <a:xfrm>
            <a:off x="914400" y="18796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1" name="ZoneTexte 10">
            <a:extLst>
              <a:ext uri="{FF2B5EF4-FFF2-40B4-BE49-F238E27FC236}">
                <a16:creationId xmlns:a16="http://schemas.microsoft.com/office/drawing/2014/main" id="{4B39DE3A-D661-43E6-8B89-0D986EC85BF2}"/>
              </a:ext>
            </a:extLst>
          </p:cNvPr>
          <p:cNvSpPr txBox="1"/>
          <p:nvPr/>
        </p:nvSpPr>
        <p:spPr>
          <a:xfrm>
            <a:off x="1117600" y="18796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Non-adoption par les agents</a:t>
            </a:r>
          </a:p>
        </p:txBody>
      </p:sp>
      <p:sp>
        <p:nvSpPr>
          <p:cNvPr id="12" name="Rectangle : coins arrondis 11">
            <a:extLst>
              <a:ext uri="{FF2B5EF4-FFF2-40B4-BE49-F238E27FC236}">
                <a16:creationId xmlns:a16="http://schemas.microsoft.com/office/drawing/2014/main" id="{7ECDE710-6F76-41BA-BD54-9E0B9D05AD15}"/>
              </a:ext>
            </a:extLst>
          </p:cNvPr>
          <p:cNvSpPr/>
          <p:nvPr/>
        </p:nvSpPr>
        <p:spPr>
          <a:xfrm>
            <a:off x="4953000" y="21590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13" name="ZoneTexte 12">
            <a:extLst>
              <a:ext uri="{FF2B5EF4-FFF2-40B4-BE49-F238E27FC236}">
                <a16:creationId xmlns:a16="http://schemas.microsoft.com/office/drawing/2014/main" id="{2ECCF88F-D549-44FC-9763-81C7AECA793A}"/>
              </a:ext>
            </a:extLst>
          </p:cNvPr>
          <p:cNvSpPr txBox="1"/>
          <p:nvPr/>
        </p:nvSpPr>
        <p:spPr>
          <a:xfrm>
            <a:off x="6350000" y="18796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Formations courtes, co-construction, canal de retours structuré</a:t>
            </a:r>
          </a:p>
        </p:txBody>
      </p:sp>
      <p:sp>
        <p:nvSpPr>
          <p:cNvPr id="14" name="Rectangle : coins arrondis 13">
            <a:extLst>
              <a:ext uri="{FF2B5EF4-FFF2-40B4-BE49-F238E27FC236}">
                <a16:creationId xmlns:a16="http://schemas.microsoft.com/office/drawing/2014/main" id="{D2021B10-1CB7-42ED-B33E-C6625583B8AD}"/>
              </a:ext>
            </a:extLst>
          </p:cNvPr>
          <p:cNvSpPr/>
          <p:nvPr/>
        </p:nvSpPr>
        <p:spPr>
          <a:xfrm>
            <a:off x="914400" y="29210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Rectangle 14">
            <a:extLst>
              <a:ext uri="{FF2B5EF4-FFF2-40B4-BE49-F238E27FC236}">
                <a16:creationId xmlns:a16="http://schemas.microsoft.com/office/drawing/2014/main" id="{18009B4C-0D57-4751-8E41-FCA4052EE597}"/>
              </a:ext>
            </a:extLst>
          </p:cNvPr>
          <p:cNvSpPr/>
          <p:nvPr/>
        </p:nvSpPr>
        <p:spPr>
          <a:xfrm>
            <a:off x="914400" y="29210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6" name="ZoneTexte 15">
            <a:extLst>
              <a:ext uri="{FF2B5EF4-FFF2-40B4-BE49-F238E27FC236}">
                <a16:creationId xmlns:a16="http://schemas.microsoft.com/office/drawing/2014/main" id="{20A8C8C1-EA77-4333-ACD9-3B62E9B7FFA1}"/>
              </a:ext>
            </a:extLst>
          </p:cNvPr>
          <p:cNvSpPr txBox="1"/>
          <p:nvPr/>
        </p:nvSpPr>
        <p:spPr>
          <a:xfrm>
            <a:off x="1117600" y="29210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Conflits de priorités IT &amp; métier</a:t>
            </a:r>
          </a:p>
        </p:txBody>
      </p:sp>
      <p:sp>
        <p:nvSpPr>
          <p:cNvPr id="17" name="Rectangle : coins arrondis 16">
            <a:extLst>
              <a:ext uri="{FF2B5EF4-FFF2-40B4-BE49-F238E27FC236}">
                <a16:creationId xmlns:a16="http://schemas.microsoft.com/office/drawing/2014/main" id="{C415B18F-BB9B-4136-9863-ADD1747CE0CA}"/>
              </a:ext>
            </a:extLst>
          </p:cNvPr>
          <p:cNvSpPr/>
          <p:nvPr/>
        </p:nvSpPr>
        <p:spPr>
          <a:xfrm>
            <a:off x="4953000" y="32004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18" name="ZoneTexte 17">
            <a:extLst>
              <a:ext uri="{FF2B5EF4-FFF2-40B4-BE49-F238E27FC236}">
                <a16:creationId xmlns:a16="http://schemas.microsoft.com/office/drawing/2014/main" id="{0C4ABDDC-CD7E-4187-949C-8FBCEE606717}"/>
              </a:ext>
            </a:extLst>
          </p:cNvPr>
          <p:cNvSpPr txBox="1"/>
          <p:nvPr/>
        </p:nvSpPr>
        <p:spPr>
          <a:xfrm>
            <a:off x="6350000" y="29210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Comité d'arbitrage hebdomadaire</a:t>
            </a:r>
          </a:p>
        </p:txBody>
      </p:sp>
      <p:sp>
        <p:nvSpPr>
          <p:cNvPr id="19" name="Rectangle : coins arrondis 18">
            <a:extLst>
              <a:ext uri="{FF2B5EF4-FFF2-40B4-BE49-F238E27FC236}">
                <a16:creationId xmlns:a16="http://schemas.microsoft.com/office/drawing/2014/main" id="{2BC97E51-FF56-4618-B99D-C9AD9AB6DE86}"/>
              </a:ext>
            </a:extLst>
          </p:cNvPr>
          <p:cNvSpPr/>
          <p:nvPr/>
        </p:nvSpPr>
        <p:spPr>
          <a:xfrm>
            <a:off x="914400" y="39624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Rectangle 19">
            <a:extLst>
              <a:ext uri="{FF2B5EF4-FFF2-40B4-BE49-F238E27FC236}">
                <a16:creationId xmlns:a16="http://schemas.microsoft.com/office/drawing/2014/main" id="{2AF1459B-A2BA-4F34-AFD1-307A3AEAF93C}"/>
              </a:ext>
            </a:extLst>
          </p:cNvPr>
          <p:cNvSpPr/>
          <p:nvPr/>
        </p:nvSpPr>
        <p:spPr>
          <a:xfrm>
            <a:off x="914400" y="39624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1" name="ZoneTexte 20">
            <a:extLst>
              <a:ext uri="{FF2B5EF4-FFF2-40B4-BE49-F238E27FC236}">
                <a16:creationId xmlns:a16="http://schemas.microsoft.com/office/drawing/2014/main" id="{BD5A5311-33AE-4306-9A23-BF25E264AA8D}"/>
              </a:ext>
            </a:extLst>
          </p:cNvPr>
          <p:cNvSpPr txBox="1"/>
          <p:nvPr/>
        </p:nvSpPr>
        <p:spPr>
          <a:xfrm>
            <a:off x="1117600" y="39624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Accessibilité insuffisante</a:t>
            </a:r>
          </a:p>
        </p:txBody>
      </p:sp>
      <p:sp>
        <p:nvSpPr>
          <p:cNvPr id="22" name="Rectangle : coins arrondis 21">
            <a:extLst>
              <a:ext uri="{FF2B5EF4-FFF2-40B4-BE49-F238E27FC236}">
                <a16:creationId xmlns:a16="http://schemas.microsoft.com/office/drawing/2014/main" id="{9AACDB62-AEFD-4CDB-85EF-B336D164F2B1}"/>
              </a:ext>
            </a:extLst>
          </p:cNvPr>
          <p:cNvSpPr/>
          <p:nvPr/>
        </p:nvSpPr>
        <p:spPr>
          <a:xfrm>
            <a:off x="4953000" y="42418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23" name="ZoneTexte 22">
            <a:extLst>
              <a:ext uri="{FF2B5EF4-FFF2-40B4-BE49-F238E27FC236}">
                <a16:creationId xmlns:a16="http://schemas.microsoft.com/office/drawing/2014/main" id="{EBABCBF3-37FC-4367-9D9E-4DDAB041B797}"/>
              </a:ext>
            </a:extLst>
          </p:cNvPr>
          <p:cNvSpPr txBox="1"/>
          <p:nvPr/>
        </p:nvSpPr>
        <p:spPr>
          <a:xfrm>
            <a:off x="6350000" y="39624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Validation de chaque support avant diffusion</a:t>
            </a:r>
          </a:p>
        </p:txBody>
      </p:sp>
      <p:sp>
        <p:nvSpPr>
          <p:cNvPr id="24" name="Rectangle : coins arrondis 23">
            <a:extLst>
              <a:ext uri="{FF2B5EF4-FFF2-40B4-BE49-F238E27FC236}">
                <a16:creationId xmlns:a16="http://schemas.microsoft.com/office/drawing/2014/main" id="{9D98B299-C1D6-4080-BDF5-32406F25ED53}"/>
              </a:ext>
            </a:extLst>
          </p:cNvPr>
          <p:cNvSpPr/>
          <p:nvPr/>
        </p:nvSpPr>
        <p:spPr>
          <a:xfrm>
            <a:off x="914400" y="5054600"/>
            <a:ext cx="10007600" cy="889000"/>
          </a:xfrm>
          <a:prstGeom prst="roundRect">
            <a:avLst/>
          </a:prstGeom>
          <a:solidFill>
            <a:srgbClr val="FDF1E7"/>
          </a:solidFill>
          <a:ln w="12700" cap="flat" cmpd="sng" algn="ctr">
            <a:solidFill>
              <a:srgbClr val="E67E2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rmAutofit/>
          </a:bodyPr>
          <a:lstStyle/>
          <a:p>
            <a:pPr algn="l"/>
            <a:r>
              <a:rPr lang="fr-FR" sz="1500" b="1">
                <a:solidFill>
                  <a:srgbClr val="8A4B12"/>
                </a:solidFill>
                <a:latin typeface="Segoe UI Semibold"/>
                <a:cs typeface="Segoe UI Semibold"/>
              </a:rPr>
              <a:t>Chaque risque a un plan B avec un seuil déclencheur défini à l'avance : la décision difficile est préparée à froid, pas dans la panique.</a:t>
            </a:r>
          </a:p>
        </p:txBody>
      </p:sp>
      <p:sp>
        <p:nvSpPr>
          <p:cNvPr id="25" name="ZoneTexte 24">
            <a:extLst>
              <a:ext uri="{FF2B5EF4-FFF2-40B4-BE49-F238E27FC236}">
                <a16:creationId xmlns:a16="http://schemas.microsoft.com/office/drawing/2014/main" id="{43A91613-2C04-4943-BD68-9DE45FED2A3A}"/>
              </a:ext>
            </a:extLst>
          </p:cNvPr>
          <p:cNvSpPr txBox="1"/>
          <p:nvPr/>
        </p:nvSpPr>
        <p:spPr>
          <a:xfrm>
            <a:off x="1117600" y="5537200"/>
            <a:ext cx="9601200" cy="304800"/>
          </a:xfrm>
          <a:prstGeom prst="rect">
            <a:avLst/>
          </a:prstGeom>
          <a:noFill/>
        </p:spPr>
        <p:txBody>
          <a:bodyPr vertOverflow="overflow" vert="horz" wrap="square" rtlCol="0" anchor="t">
            <a:spAutoFit/>
          </a:bodyPr>
          <a:lstStyle/>
          <a:p>
            <a:pPr algn="l"/>
            <a:r>
              <a:rPr lang="fr-FR" sz="1200">
                <a:solidFill>
                  <a:srgbClr val="8A4B12"/>
                </a:solidFill>
              </a:rPr>
              <a:t>Exemple : adoption sous 50 % en S8 → ateliers ciblés + accompagnement individuel en binôme.</a:t>
            </a:r>
          </a:p>
        </p:txBody>
      </p:sp>
    </p:spTree>
    <p:extLst>
      <p:ext uri="{BB962C8B-B14F-4D97-AF65-F5344CB8AC3E}">
        <p14:creationId xmlns:p14="http://schemas.microsoft.com/office/powerpoint/2010/main" val="664413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222B94-F1CB-476F-9D88-1C5E2F7FAEA9}"/>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15963295-EC8E-480C-8CC0-4D003F6017FA}"/>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FEEDBACKS UTILISATEURS</a:t>
            </a:r>
          </a:p>
        </p:txBody>
      </p:sp>
      <p:sp>
        <p:nvSpPr>
          <p:cNvPr id="4" name="ZoneTexte 3">
            <a:extLst>
              <a:ext uri="{FF2B5EF4-FFF2-40B4-BE49-F238E27FC236}">
                <a16:creationId xmlns:a16="http://schemas.microsoft.com/office/drawing/2014/main" id="{8EE0BD05-4B49-4505-95FE-BE908E553D05}"/>
              </a:ext>
            </a:extLst>
          </p:cNvPr>
          <p:cNvSpPr txBox="1"/>
          <p:nvPr/>
        </p:nvSpPr>
        <p:spPr>
          <a:xfrm>
            <a:off x="1117600" y="711200"/>
            <a:ext cx="762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Le terrain guide le backlog</a:t>
            </a:r>
          </a:p>
        </p:txBody>
      </p:sp>
      <p:sp>
        <p:nvSpPr>
          <p:cNvPr id="5" name="ZoneTexte 4">
            <a:extLst>
              <a:ext uri="{FF2B5EF4-FFF2-40B4-BE49-F238E27FC236}">
                <a16:creationId xmlns:a16="http://schemas.microsoft.com/office/drawing/2014/main" id="{201E0792-18A4-4AB4-B9AE-B7FA751B53F2}"/>
              </a:ext>
            </a:extLst>
          </p:cNvPr>
          <p:cNvSpPr txBox="1"/>
          <p:nvPr/>
        </p:nvSpPr>
        <p:spPr>
          <a:xfrm>
            <a:off x="1143000" y="1320800"/>
            <a:ext cx="9779000" cy="254000"/>
          </a:xfrm>
          <a:prstGeom prst="rect">
            <a:avLst/>
          </a:prstGeom>
          <a:noFill/>
        </p:spPr>
        <p:txBody>
          <a:bodyPr vertOverflow="overflow" vert="horz" wrap="square" rtlCol="0" anchor="t">
            <a:spAutoFit/>
          </a:bodyPr>
          <a:lstStyle/>
          <a:p>
            <a:pPr algn="l"/>
            <a:r>
              <a:rPr lang="fr-FR" sz="1300" i="1">
                <a:solidFill>
                  <a:srgbClr val="5D6D7E"/>
                </a:solidFill>
              </a:rPr>
              <a:t>6 retours recueillis sur le prototype, priorisés par impact et fréquence</a:t>
            </a:r>
          </a:p>
        </p:txBody>
      </p:sp>
      <p:sp>
        <p:nvSpPr>
          <p:cNvPr id="6" name="Rectangle : coins arrondis 5">
            <a:extLst>
              <a:ext uri="{FF2B5EF4-FFF2-40B4-BE49-F238E27FC236}">
                <a16:creationId xmlns:a16="http://schemas.microsoft.com/office/drawing/2014/main" id="{6BBCD327-B3C1-4855-876F-FBB01D355177}"/>
              </a:ext>
            </a:extLst>
          </p:cNvPr>
          <p:cNvSpPr/>
          <p:nvPr/>
        </p:nvSpPr>
        <p:spPr>
          <a:xfrm>
            <a:off x="914400" y="16764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Ellipse 6">
            <a:extLst>
              <a:ext uri="{FF2B5EF4-FFF2-40B4-BE49-F238E27FC236}">
                <a16:creationId xmlns:a16="http://schemas.microsoft.com/office/drawing/2014/main" id="{FE7EBC41-858A-4FDE-AEF9-A6E60321234D}"/>
              </a:ext>
            </a:extLst>
          </p:cNvPr>
          <p:cNvSpPr/>
          <p:nvPr/>
        </p:nvSpPr>
        <p:spPr>
          <a:xfrm>
            <a:off x="1092200" y="18923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1</a:t>
            </a:r>
          </a:p>
        </p:txBody>
      </p:sp>
      <p:sp>
        <p:nvSpPr>
          <p:cNvPr id="8" name="ZoneTexte 7">
            <a:extLst>
              <a:ext uri="{FF2B5EF4-FFF2-40B4-BE49-F238E27FC236}">
                <a16:creationId xmlns:a16="http://schemas.microsoft.com/office/drawing/2014/main" id="{793578F5-B6DB-4F85-9F22-CBE59402B413}"/>
              </a:ext>
            </a:extLst>
          </p:cNvPr>
          <p:cNvSpPr txBox="1"/>
          <p:nvPr/>
        </p:nvSpPr>
        <p:spPr>
          <a:xfrm>
            <a:off x="1625600" y="16764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Vocabulaire des alertes trop technique</a:t>
            </a:r>
          </a:p>
        </p:txBody>
      </p:sp>
      <p:sp>
        <p:nvSpPr>
          <p:cNvPr id="9" name="ZoneTexte 8">
            <a:extLst>
              <a:ext uri="{FF2B5EF4-FFF2-40B4-BE49-F238E27FC236}">
                <a16:creationId xmlns:a16="http://schemas.microsoft.com/office/drawing/2014/main" id="{F9BDED52-C585-4DA0-A978-7A916552392A}"/>
              </a:ext>
            </a:extLst>
          </p:cNvPr>
          <p:cNvSpPr txBox="1"/>
          <p:nvPr/>
        </p:nvSpPr>
        <p:spPr>
          <a:xfrm>
            <a:off x="6045200" y="16764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10" name="ZoneTexte 9">
            <a:extLst>
              <a:ext uri="{FF2B5EF4-FFF2-40B4-BE49-F238E27FC236}">
                <a16:creationId xmlns:a16="http://schemas.microsoft.com/office/drawing/2014/main" id="{1EF88645-D5BB-4C06-9ABB-B1E19591F4AE}"/>
              </a:ext>
            </a:extLst>
          </p:cNvPr>
          <p:cNvSpPr txBox="1"/>
          <p:nvPr/>
        </p:nvSpPr>
        <p:spPr>
          <a:xfrm>
            <a:off x="6426200" y="16764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Libellés métier &amp; aide contextuelle</a:t>
            </a:r>
          </a:p>
        </p:txBody>
      </p:sp>
      <p:sp>
        <p:nvSpPr>
          <p:cNvPr id="11" name="Rectangle : coins arrondis 10">
            <a:extLst>
              <a:ext uri="{FF2B5EF4-FFF2-40B4-BE49-F238E27FC236}">
                <a16:creationId xmlns:a16="http://schemas.microsoft.com/office/drawing/2014/main" id="{C37CE48A-1170-4E3A-AC26-66FF21DD74CE}"/>
              </a:ext>
            </a:extLst>
          </p:cNvPr>
          <p:cNvSpPr/>
          <p:nvPr/>
        </p:nvSpPr>
        <p:spPr>
          <a:xfrm>
            <a:off x="9499600" y="19177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2</a:t>
            </a:r>
          </a:p>
        </p:txBody>
      </p:sp>
      <p:sp>
        <p:nvSpPr>
          <p:cNvPr id="12" name="Rectangle : coins arrondis 11">
            <a:extLst>
              <a:ext uri="{FF2B5EF4-FFF2-40B4-BE49-F238E27FC236}">
                <a16:creationId xmlns:a16="http://schemas.microsoft.com/office/drawing/2014/main" id="{23596DD5-73E0-4FCE-8023-5AADC17D8A4E}"/>
              </a:ext>
            </a:extLst>
          </p:cNvPr>
          <p:cNvSpPr/>
          <p:nvPr/>
        </p:nvSpPr>
        <p:spPr>
          <a:xfrm>
            <a:off x="914400" y="25781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Ellipse 12">
            <a:extLst>
              <a:ext uri="{FF2B5EF4-FFF2-40B4-BE49-F238E27FC236}">
                <a16:creationId xmlns:a16="http://schemas.microsoft.com/office/drawing/2014/main" id="{AFBD53D7-FD20-48BD-A74A-6061FA1DC971}"/>
              </a:ext>
            </a:extLst>
          </p:cNvPr>
          <p:cNvSpPr/>
          <p:nvPr/>
        </p:nvSpPr>
        <p:spPr>
          <a:xfrm>
            <a:off x="1092200" y="27940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2</a:t>
            </a:r>
          </a:p>
        </p:txBody>
      </p:sp>
      <p:sp>
        <p:nvSpPr>
          <p:cNvPr id="14" name="ZoneTexte 13">
            <a:extLst>
              <a:ext uri="{FF2B5EF4-FFF2-40B4-BE49-F238E27FC236}">
                <a16:creationId xmlns:a16="http://schemas.microsoft.com/office/drawing/2014/main" id="{364BC0D2-2967-481A-9BB1-27F3C8DE11E3}"/>
              </a:ext>
            </a:extLst>
          </p:cNvPr>
          <p:cNvSpPr txBox="1"/>
          <p:nvPr/>
        </p:nvSpPr>
        <p:spPr>
          <a:xfrm>
            <a:off x="1625600" y="25781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Aucune procédure en cas de mauvaise alerte</a:t>
            </a:r>
          </a:p>
        </p:txBody>
      </p:sp>
      <p:sp>
        <p:nvSpPr>
          <p:cNvPr id="15" name="ZoneTexte 14">
            <a:extLst>
              <a:ext uri="{FF2B5EF4-FFF2-40B4-BE49-F238E27FC236}">
                <a16:creationId xmlns:a16="http://schemas.microsoft.com/office/drawing/2014/main" id="{CF1A0CE1-C701-451E-AF57-D56C4775D2C5}"/>
              </a:ext>
            </a:extLst>
          </p:cNvPr>
          <p:cNvSpPr txBox="1"/>
          <p:nvPr/>
        </p:nvSpPr>
        <p:spPr>
          <a:xfrm>
            <a:off x="6045200" y="25781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16" name="ZoneTexte 15">
            <a:extLst>
              <a:ext uri="{FF2B5EF4-FFF2-40B4-BE49-F238E27FC236}">
                <a16:creationId xmlns:a16="http://schemas.microsoft.com/office/drawing/2014/main" id="{61064B7E-1570-4746-96DE-EA1CABF7EBFD}"/>
              </a:ext>
            </a:extLst>
          </p:cNvPr>
          <p:cNvSpPr txBox="1"/>
          <p:nvPr/>
        </p:nvSpPr>
        <p:spPr>
          <a:xfrm>
            <a:off x="6426200" y="25781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Procédure d'escalade</a:t>
            </a:r>
          </a:p>
        </p:txBody>
      </p:sp>
      <p:sp>
        <p:nvSpPr>
          <p:cNvPr id="17" name="Rectangle : coins arrondis 16">
            <a:extLst>
              <a:ext uri="{FF2B5EF4-FFF2-40B4-BE49-F238E27FC236}">
                <a16:creationId xmlns:a16="http://schemas.microsoft.com/office/drawing/2014/main" id="{26A384A8-6AD5-463C-886D-25480A24C759}"/>
              </a:ext>
            </a:extLst>
          </p:cNvPr>
          <p:cNvSpPr/>
          <p:nvPr/>
        </p:nvSpPr>
        <p:spPr>
          <a:xfrm>
            <a:off x="9499600" y="28194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1</a:t>
            </a:r>
          </a:p>
        </p:txBody>
      </p:sp>
      <p:sp>
        <p:nvSpPr>
          <p:cNvPr id="18" name="Rectangle : coins arrondis 17">
            <a:extLst>
              <a:ext uri="{FF2B5EF4-FFF2-40B4-BE49-F238E27FC236}">
                <a16:creationId xmlns:a16="http://schemas.microsoft.com/office/drawing/2014/main" id="{B4BB3104-28DA-4223-920A-4E841BAEB3AD}"/>
              </a:ext>
            </a:extLst>
          </p:cNvPr>
          <p:cNvSpPr/>
          <p:nvPr/>
        </p:nvSpPr>
        <p:spPr>
          <a:xfrm>
            <a:off x="914400" y="34798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Ellipse 18">
            <a:extLst>
              <a:ext uri="{FF2B5EF4-FFF2-40B4-BE49-F238E27FC236}">
                <a16:creationId xmlns:a16="http://schemas.microsoft.com/office/drawing/2014/main" id="{794FD43F-D695-460C-8CC3-5147B5CAD2A2}"/>
              </a:ext>
            </a:extLst>
          </p:cNvPr>
          <p:cNvSpPr/>
          <p:nvPr/>
        </p:nvSpPr>
        <p:spPr>
          <a:xfrm>
            <a:off x="1092200" y="36957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3</a:t>
            </a:r>
          </a:p>
        </p:txBody>
      </p:sp>
      <p:sp>
        <p:nvSpPr>
          <p:cNvPr id="20" name="ZoneTexte 19">
            <a:extLst>
              <a:ext uri="{FF2B5EF4-FFF2-40B4-BE49-F238E27FC236}">
                <a16:creationId xmlns:a16="http://schemas.microsoft.com/office/drawing/2014/main" id="{99083B28-5934-458D-90FD-D7EDEFC1103B}"/>
              </a:ext>
            </a:extLst>
          </p:cNvPr>
          <p:cNvSpPr txBox="1"/>
          <p:nvPr/>
        </p:nvSpPr>
        <p:spPr>
          <a:xfrm>
            <a:off x="1625600" y="34798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Définitions des indicateurs imprécises</a:t>
            </a:r>
          </a:p>
        </p:txBody>
      </p:sp>
      <p:sp>
        <p:nvSpPr>
          <p:cNvPr id="21" name="ZoneTexte 20">
            <a:extLst>
              <a:ext uri="{FF2B5EF4-FFF2-40B4-BE49-F238E27FC236}">
                <a16:creationId xmlns:a16="http://schemas.microsoft.com/office/drawing/2014/main" id="{ACDF6E97-E20F-4F50-A355-3DB3075B11A0}"/>
              </a:ext>
            </a:extLst>
          </p:cNvPr>
          <p:cNvSpPr txBox="1"/>
          <p:nvPr/>
        </p:nvSpPr>
        <p:spPr>
          <a:xfrm>
            <a:off x="6045200" y="34798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22" name="ZoneTexte 21">
            <a:extLst>
              <a:ext uri="{FF2B5EF4-FFF2-40B4-BE49-F238E27FC236}">
                <a16:creationId xmlns:a16="http://schemas.microsoft.com/office/drawing/2014/main" id="{9BF157D7-341E-4710-8612-AE5A42B6DDBC}"/>
              </a:ext>
            </a:extLst>
          </p:cNvPr>
          <p:cNvSpPr txBox="1"/>
          <p:nvPr/>
        </p:nvSpPr>
        <p:spPr>
          <a:xfrm>
            <a:off x="6426200" y="34798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Glossaire des indicateurs</a:t>
            </a:r>
          </a:p>
        </p:txBody>
      </p:sp>
      <p:sp>
        <p:nvSpPr>
          <p:cNvPr id="23" name="Rectangle : coins arrondis 22">
            <a:extLst>
              <a:ext uri="{FF2B5EF4-FFF2-40B4-BE49-F238E27FC236}">
                <a16:creationId xmlns:a16="http://schemas.microsoft.com/office/drawing/2014/main" id="{8A0D8A6B-C624-41E9-A79F-6407ED5DA817}"/>
              </a:ext>
            </a:extLst>
          </p:cNvPr>
          <p:cNvSpPr/>
          <p:nvPr/>
        </p:nvSpPr>
        <p:spPr>
          <a:xfrm>
            <a:off x="9499600" y="37211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Phase 1</a:t>
            </a:r>
          </a:p>
        </p:txBody>
      </p:sp>
      <p:sp>
        <p:nvSpPr>
          <p:cNvPr id="24" name="Rectangle : coins arrondis 23">
            <a:extLst>
              <a:ext uri="{FF2B5EF4-FFF2-40B4-BE49-F238E27FC236}">
                <a16:creationId xmlns:a16="http://schemas.microsoft.com/office/drawing/2014/main" id="{6DE23729-B1A7-478A-84F5-8890888A16A7}"/>
              </a:ext>
            </a:extLst>
          </p:cNvPr>
          <p:cNvSpPr/>
          <p:nvPr/>
        </p:nvSpPr>
        <p:spPr>
          <a:xfrm>
            <a:off x="914400" y="43815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5" name="Ellipse 24">
            <a:extLst>
              <a:ext uri="{FF2B5EF4-FFF2-40B4-BE49-F238E27FC236}">
                <a16:creationId xmlns:a16="http://schemas.microsoft.com/office/drawing/2014/main" id="{B4E2F460-2C13-4F1E-9F02-B582EC4FFA84}"/>
              </a:ext>
            </a:extLst>
          </p:cNvPr>
          <p:cNvSpPr/>
          <p:nvPr/>
        </p:nvSpPr>
        <p:spPr>
          <a:xfrm>
            <a:off x="1092200" y="45974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4</a:t>
            </a:r>
          </a:p>
        </p:txBody>
      </p:sp>
      <p:sp>
        <p:nvSpPr>
          <p:cNvPr id="26" name="ZoneTexte 25">
            <a:extLst>
              <a:ext uri="{FF2B5EF4-FFF2-40B4-BE49-F238E27FC236}">
                <a16:creationId xmlns:a16="http://schemas.microsoft.com/office/drawing/2014/main" id="{E35E4B77-9781-4812-BA1F-27DFE4BE906E}"/>
              </a:ext>
            </a:extLst>
          </p:cNvPr>
          <p:cNvSpPr txBox="1"/>
          <p:nvPr/>
        </p:nvSpPr>
        <p:spPr>
          <a:xfrm>
            <a:off x="1625600" y="43815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Graphiques illisibles au lecteur d'écran</a:t>
            </a:r>
          </a:p>
        </p:txBody>
      </p:sp>
      <p:sp>
        <p:nvSpPr>
          <p:cNvPr id="27" name="ZoneTexte 26">
            <a:extLst>
              <a:ext uri="{FF2B5EF4-FFF2-40B4-BE49-F238E27FC236}">
                <a16:creationId xmlns:a16="http://schemas.microsoft.com/office/drawing/2014/main" id="{E046AE7F-DC56-4F1C-9646-DC6557BA0C11}"/>
              </a:ext>
            </a:extLst>
          </p:cNvPr>
          <p:cNvSpPr txBox="1"/>
          <p:nvPr/>
        </p:nvSpPr>
        <p:spPr>
          <a:xfrm>
            <a:off x="6045200" y="43815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28" name="ZoneTexte 27">
            <a:extLst>
              <a:ext uri="{FF2B5EF4-FFF2-40B4-BE49-F238E27FC236}">
                <a16:creationId xmlns:a16="http://schemas.microsoft.com/office/drawing/2014/main" id="{D8E05091-B20F-451B-BDA9-4A40B8EC98E3}"/>
              </a:ext>
            </a:extLst>
          </p:cNvPr>
          <p:cNvSpPr txBox="1"/>
          <p:nvPr/>
        </p:nvSpPr>
        <p:spPr>
          <a:xfrm>
            <a:off x="6426200" y="43815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Alternatives textuelles</a:t>
            </a:r>
          </a:p>
        </p:txBody>
      </p:sp>
      <p:sp>
        <p:nvSpPr>
          <p:cNvPr id="29" name="Rectangle : coins arrondis 28">
            <a:extLst>
              <a:ext uri="{FF2B5EF4-FFF2-40B4-BE49-F238E27FC236}">
                <a16:creationId xmlns:a16="http://schemas.microsoft.com/office/drawing/2014/main" id="{3D283CC4-DBE6-4DB1-BC49-C2B371DDA8CD}"/>
              </a:ext>
            </a:extLst>
          </p:cNvPr>
          <p:cNvSpPr/>
          <p:nvPr/>
        </p:nvSpPr>
        <p:spPr>
          <a:xfrm>
            <a:off x="9499600" y="4622800"/>
            <a:ext cx="1270000" cy="3302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3</a:t>
            </a:r>
          </a:p>
        </p:txBody>
      </p:sp>
      <p:sp>
        <p:nvSpPr>
          <p:cNvPr id="30" name="Rectangle : coins arrondis 29">
            <a:extLst>
              <a:ext uri="{FF2B5EF4-FFF2-40B4-BE49-F238E27FC236}">
                <a16:creationId xmlns:a16="http://schemas.microsoft.com/office/drawing/2014/main" id="{D797BA5B-CEFC-461F-972D-E97D70F7B306}"/>
              </a:ext>
            </a:extLst>
          </p:cNvPr>
          <p:cNvSpPr/>
          <p:nvPr/>
        </p:nvSpPr>
        <p:spPr>
          <a:xfrm>
            <a:off x="914400" y="5283200"/>
            <a:ext cx="10007600" cy="6604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r>
              <a:rPr lang="fr-FR" sz="1400" b="1">
                <a:solidFill>
                  <a:srgbClr val="1A5276"/>
                </a:solidFill>
                <a:latin typeface="Segoe UI Semibold"/>
                <a:cs typeface="Segoe UI Semibold"/>
              </a:rPr>
              <a:t>Trois retours cumulent impact fort et fréquence élevée : ils passent en premier. L'accessibilité est remontée en priorité, exigence d'inclusion. L'ordre des sprints reflète directement ces priorités.   ·   2 autres retours suivis au registre.</a:t>
            </a:r>
          </a:p>
        </p:txBody>
      </p:sp>
    </p:spTree>
    <p:extLst>
      <p:ext uri="{BB962C8B-B14F-4D97-AF65-F5344CB8AC3E}">
        <p14:creationId xmlns:p14="http://schemas.microsoft.com/office/powerpoint/2010/main" val="211116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838678-846F-49DB-BFB0-C7EFC18D530E}"/>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ED4F6BE5-AFD7-473D-8665-68C6E923E31C}"/>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ACCOMPAGNEMENT</a:t>
            </a:r>
          </a:p>
        </p:txBody>
      </p:sp>
      <p:sp>
        <p:nvSpPr>
          <p:cNvPr id="4" name="ZoneTexte 3">
            <a:extLst>
              <a:ext uri="{FF2B5EF4-FFF2-40B4-BE49-F238E27FC236}">
                <a16:creationId xmlns:a16="http://schemas.microsoft.com/office/drawing/2014/main" id="{39E14FC0-564A-45A1-8F03-7103D1F592AF}"/>
              </a:ext>
            </a:extLst>
          </p:cNvPr>
          <p:cNvSpPr txBox="1"/>
          <p:nvPr/>
        </p:nvSpPr>
        <p:spPr>
          <a:xfrm>
            <a:off x="1117600" y="711200"/>
            <a:ext cx="762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4 profils, 4 parcours</a:t>
            </a:r>
          </a:p>
        </p:txBody>
      </p:sp>
      <p:sp>
        <p:nvSpPr>
          <p:cNvPr id="5" name="Rectangle : coins arrondis 4">
            <a:extLst>
              <a:ext uri="{FF2B5EF4-FFF2-40B4-BE49-F238E27FC236}">
                <a16:creationId xmlns:a16="http://schemas.microsoft.com/office/drawing/2014/main" id="{79C8CC31-FB9C-45FD-8815-809C4A4BA6CC}"/>
              </a:ext>
            </a:extLst>
          </p:cNvPr>
          <p:cNvSpPr/>
          <p:nvPr/>
        </p:nvSpPr>
        <p:spPr>
          <a:xfrm>
            <a:off x="914400" y="14732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ZoneTexte 5">
            <a:extLst>
              <a:ext uri="{FF2B5EF4-FFF2-40B4-BE49-F238E27FC236}">
                <a16:creationId xmlns:a16="http://schemas.microsoft.com/office/drawing/2014/main" id="{7AA017E7-EF0E-4420-A90A-7451185F66E1}"/>
              </a:ext>
            </a:extLst>
          </p:cNvPr>
          <p:cNvSpPr txBox="1"/>
          <p:nvPr/>
        </p:nvSpPr>
        <p:spPr>
          <a:xfrm>
            <a:off x="9144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Superviseurs</a:t>
            </a:r>
          </a:p>
        </p:txBody>
      </p:sp>
      <p:sp>
        <p:nvSpPr>
          <p:cNvPr id="7" name="ZoneTexte 6">
            <a:extLst>
              <a:ext uri="{FF2B5EF4-FFF2-40B4-BE49-F238E27FC236}">
                <a16:creationId xmlns:a16="http://schemas.microsoft.com/office/drawing/2014/main" id="{1A6409C2-CE4D-48E4-9761-58E388AAB992}"/>
              </a:ext>
            </a:extLst>
          </p:cNvPr>
          <p:cNvSpPr txBox="1"/>
          <p:nvPr/>
        </p:nvSpPr>
        <p:spPr>
          <a:xfrm>
            <a:off x="1066800" y="2514600"/>
            <a:ext cx="2044700" cy="646331"/>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Atelier 45 min sur cas réels + fiche réflexe des indicateurs critiques</a:t>
            </a:r>
          </a:p>
        </p:txBody>
      </p:sp>
      <p:sp>
        <p:nvSpPr>
          <p:cNvPr id="8" name="Rectangle : coins arrondis 7">
            <a:extLst>
              <a:ext uri="{FF2B5EF4-FFF2-40B4-BE49-F238E27FC236}">
                <a16:creationId xmlns:a16="http://schemas.microsoft.com/office/drawing/2014/main" id="{D16EE2BF-DAB2-44DB-9E23-931085836FCC}"/>
              </a:ext>
            </a:extLst>
          </p:cNvPr>
          <p:cNvSpPr/>
          <p:nvPr/>
        </p:nvSpPr>
        <p:spPr>
          <a:xfrm>
            <a:off x="3416300" y="16129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67E260AD-3867-4F1E-9982-FAACF469CE15}"/>
              </a:ext>
            </a:extLst>
          </p:cNvPr>
          <p:cNvSpPr txBox="1"/>
          <p:nvPr/>
        </p:nvSpPr>
        <p:spPr>
          <a:xfrm>
            <a:off x="34671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Agents</a:t>
            </a:r>
          </a:p>
        </p:txBody>
      </p:sp>
      <p:sp>
        <p:nvSpPr>
          <p:cNvPr id="10" name="ZoneTexte 9">
            <a:extLst>
              <a:ext uri="{FF2B5EF4-FFF2-40B4-BE49-F238E27FC236}">
                <a16:creationId xmlns:a16="http://schemas.microsoft.com/office/drawing/2014/main" id="{1AB0232B-F260-4F15-A266-D0FA58C542E5}"/>
              </a:ext>
            </a:extLst>
          </p:cNvPr>
          <p:cNvSpPr txBox="1"/>
          <p:nvPr/>
        </p:nvSpPr>
        <p:spPr>
          <a:xfrm>
            <a:off x="3619500" y="2514600"/>
            <a:ext cx="2044700" cy="646331"/>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Binôme sur poste : 2 sessions de 30 min sur alertes réelles</a:t>
            </a:r>
          </a:p>
        </p:txBody>
      </p:sp>
      <p:sp>
        <p:nvSpPr>
          <p:cNvPr id="11" name="Rectangle : coins arrondis 10">
            <a:extLst>
              <a:ext uri="{FF2B5EF4-FFF2-40B4-BE49-F238E27FC236}">
                <a16:creationId xmlns:a16="http://schemas.microsoft.com/office/drawing/2014/main" id="{82451A09-7954-4D99-B7CA-E8FDD552D601}"/>
              </a:ext>
            </a:extLst>
          </p:cNvPr>
          <p:cNvSpPr/>
          <p:nvPr/>
        </p:nvSpPr>
        <p:spPr>
          <a:xfrm>
            <a:off x="6019800" y="14732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2" name="ZoneTexte 11">
            <a:extLst>
              <a:ext uri="{FF2B5EF4-FFF2-40B4-BE49-F238E27FC236}">
                <a16:creationId xmlns:a16="http://schemas.microsoft.com/office/drawing/2014/main" id="{BF3D7EEF-1435-4809-B737-9E72E946ADC8}"/>
              </a:ext>
            </a:extLst>
          </p:cNvPr>
          <p:cNvSpPr txBox="1"/>
          <p:nvPr/>
        </p:nvSpPr>
        <p:spPr>
          <a:xfrm>
            <a:off x="60198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Analystes</a:t>
            </a:r>
          </a:p>
        </p:txBody>
      </p:sp>
      <p:sp>
        <p:nvSpPr>
          <p:cNvPr id="13" name="ZoneTexte 12">
            <a:extLst>
              <a:ext uri="{FF2B5EF4-FFF2-40B4-BE49-F238E27FC236}">
                <a16:creationId xmlns:a16="http://schemas.microsoft.com/office/drawing/2014/main" id="{9C3B1738-3F15-41DC-91AF-8CCD807F3941}"/>
              </a:ext>
            </a:extLst>
          </p:cNvPr>
          <p:cNvSpPr txBox="1"/>
          <p:nvPr/>
        </p:nvSpPr>
        <p:spPr>
          <a:xfrm>
            <a:off x="6172200" y="2514600"/>
            <a:ext cx="2044700" cy="461665"/>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Atelier 45 min + glossaire des indicateurs et exports</a:t>
            </a:r>
          </a:p>
        </p:txBody>
      </p:sp>
      <p:sp>
        <p:nvSpPr>
          <p:cNvPr id="14" name="Rectangle : coins arrondis 13">
            <a:extLst>
              <a:ext uri="{FF2B5EF4-FFF2-40B4-BE49-F238E27FC236}">
                <a16:creationId xmlns:a16="http://schemas.microsoft.com/office/drawing/2014/main" id="{AF9522A3-BC98-4B66-9A19-523D34039DF4}"/>
              </a:ext>
            </a:extLst>
          </p:cNvPr>
          <p:cNvSpPr/>
          <p:nvPr/>
        </p:nvSpPr>
        <p:spPr>
          <a:xfrm>
            <a:off x="8572500" y="1473200"/>
            <a:ext cx="2349500" cy="13462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ZoneTexte 14">
            <a:extLst>
              <a:ext uri="{FF2B5EF4-FFF2-40B4-BE49-F238E27FC236}">
                <a16:creationId xmlns:a16="http://schemas.microsoft.com/office/drawing/2014/main" id="{994FC7AE-5568-4F16-9087-42B8B61CB144}"/>
              </a:ext>
            </a:extLst>
          </p:cNvPr>
          <p:cNvSpPr txBox="1"/>
          <p:nvPr/>
        </p:nvSpPr>
        <p:spPr>
          <a:xfrm>
            <a:off x="8572500" y="2260600"/>
            <a:ext cx="2349500" cy="254000"/>
          </a:xfrm>
          <a:prstGeom prst="rect">
            <a:avLst/>
          </a:prstGeom>
          <a:noFill/>
        </p:spPr>
        <p:txBody>
          <a:bodyPr vertOverflow="overflow" vert="horz" wrap="square" rtlCol="0" anchor="t">
            <a:spAutoFit/>
          </a:bodyPr>
          <a:lstStyle/>
          <a:p>
            <a:pPr algn="l"/>
            <a:r>
              <a:rPr lang="fr-FR" sz="1500" b="1">
                <a:solidFill>
                  <a:srgbClr val="1E7D45"/>
                </a:solidFill>
                <a:latin typeface="Segoe UI Semibold"/>
                <a:cs typeface="Segoe UI Semibold"/>
              </a:rPr>
              <a:t>Accessibilité</a:t>
            </a:r>
          </a:p>
        </p:txBody>
      </p:sp>
      <p:sp>
        <p:nvSpPr>
          <p:cNvPr id="16" name="ZoneTexte 15">
            <a:extLst>
              <a:ext uri="{FF2B5EF4-FFF2-40B4-BE49-F238E27FC236}">
                <a16:creationId xmlns:a16="http://schemas.microsoft.com/office/drawing/2014/main" id="{CEFD6198-FAE6-49BB-B17C-5A820E792C01}"/>
              </a:ext>
            </a:extLst>
          </p:cNvPr>
          <p:cNvSpPr txBox="1"/>
          <p:nvPr/>
        </p:nvSpPr>
        <p:spPr>
          <a:xfrm>
            <a:off x="8724900" y="2514600"/>
            <a:ext cx="2044700" cy="646331"/>
          </a:xfrm>
          <a:prstGeom prst="rect">
            <a:avLst/>
          </a:prstGeom>
          <a:noFill/>
        </p:spPr>
        <p:txBody>
          <a:bodyPr vertOverflow="overflow" vert="horz" wrap="square" rtlCol="0" anchor="t">
            <a:normAutofit/>
          </a:bodyPr>
          <a:lstStyle/>
          <a:p>
            <a:pPr algn="l"/>
            <a:r>
              <a:rPr lang="fr-FR" sz="1200">
                <a:solidFill>
                  <a:srgbClr val="1B2A38"/>
                </a:solidFill>
                <a:latin typeface="Segoe UI"/>
                <a:cs typeface="Segoe UI"/>
              </a:rPr>
              <a:t>Session dédiée : lecteur d'écran, sous-titres, rythme adapté</a:t>
            </a:r>
          </a:p>
        </p:txBody>
      </p:sp>
      <p:sp>
        <p:nvSpPr>
          <p:cNvPr id="17" name="ZoneTexte 16">
            <a:extLst>
              <a:ext uri="{FF2B5EF4-FFF2-40B4-BE49-F238E27FC236}">
                <a16:creationId xmlns:a16="http://schemas.microsoft.com/office/drawing/2014/main" id="{43BDB609-EEBF-4C69-A4DC-C915A4E6F37D}"/>
              </a:ext>
            </a:extLst>
          </p:cNvPr>
          <p:cNvSpPr txBox="1"/>
          <p:nvPr/>
        </p:nvSpPr>
        <p:spPr>
          <a:xfrm>
            <a:off x="914400" y="2997200"/>
            <a:ext cx="5080000" cy="228600"/>
          </a:xfrm>
          <a:prstGeom prst="rect">
            <a:avLst/>
          </a:prstGeom>
          <a:noFill/>
        </p:spPr>
        <p:txBody>
          <a:bodyPr vertOverflow="overflow" vert="horz" wrap="square" rtlCol="0" anchor="t">
            <a:spAutoFit/>
          </a:bodyPr>
          <a:lstStyle/>
          <a:p>
            <a:pPr algn="l"/>
            <a:r>
              <a:rPr lang="fr-FR" sz="1200" b="1">
                <a:solidFill>
                  <a:srgbClr val="2E86AB"/>
                </a:solidFill>
                <a:latin typeface="Segoe UI"/>
                <a:cs typeface="Segoe UI"/>
              </a:rPr>
              <a:t>LOGIQUE D'ACCOMPAGNEMENT</a:t>
            </a:r>
          </a:p>
        </p:txBody>
      </p:sp>
      <p:sp>
        <p:nvSpPr>
          <p:cNvPr id="18" name="Rectangle : coins arrondis 17">
            <a:extLst>
              <a:ext uri="{FF2B5EF4-FFF2-40B4-BE49-F238E27FC236}">
                <a16:creationId xmlns:a16="http://schemas.microsoft.com/office/drawing/2014/main" id="{16C98A27-69F6-4681-91F4-314B54530896}"/>
              </a:ext>
            </a:extLst>
          </p:cNvPr>
          <p:cNvSpPr/>
          <p:nvPr/>
        </p:nvSpPr>
        <p:spPr>
          <a:xfrm>
            <a:off x="914400" y="3251200"/>
            <a:ext cx="10007600" cy="482600"/>
          </a:xfrm>
          <a:prstGeom prst="roundRect">
            <a:avLst/>
          </a:prstGeom>
          <a:solidFill>
            <a:srgbClr val="EAF2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1A5276"/>
                </a:solidFill>
                <a:latin typeface="Segoe UI Semibold"/>
                <a:cs typeface="Segoe UI Semibold"/>
              </a:rPr>
              <a:t>Informer   →   Former   →   Accompagner sur le poste   →   Rendre autonome</a:t>
            </a:r>
          </a:p>
        </p:txBody>
      </p:sp>
      <p:sp>
        <p:nvSpPr>
          <p:cNvPr id="19" name="Rectangle : coins arrondis 18">
            <a:extLst>
              <a:ext uri="{FF2B5EF4-FFF2-40B4-BE49-F238E27FC236}">
                <a16:creationId xmlns:a16="http://schemas.microsoft.com/office/drawing/2014/main" id="{C80BCA12-D329-4CF5-877E-A5418C3A6D80}"/>
              </a:ext>
            </a:extLst>
          </p:cNvPr>
          <p:cNvSpPr/>
          <p:nvPr/>
        </p:nvSpPr>
        <p:spPr>
          <a:xfrm>
            <a:off x="914400" y="3911600"/>
            <a:ext cx="6096000" cy="7620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ZoneTexte 19">
            <a:extLst>
              <a:ext uri="{FF2B5EF4-FFF2-40B4-BE49-F238E27FC236}">
                <a16:creationId xmlns:a16="http://schemas.microsoft.com/office/drawing/2014/main" id="{00BE0EBA-E494-4337-8977-9AC0813C60A4}"/>
              </a:ext>
            </a:extLst>
          </p:cNvPr>
          <p:cNvSpPr txBox="1"/>
          <p:nvPr/>
        </p:nvSpPr>
        <p:spPr>
          <a:xfrm>
            <a:off x="1066800" y="3987800"/>
            <a:ext cx="57912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Après le déploiement</a:t>
            </a:r>
          </a:p>
        </p:txBody>
      </p:sp>
      <p:sp>
        <p:nvSpPr>
          <p:cNvPr id="21" name="ZoneTexte 20">
            <a:extLst>
              <a:ext uri="{FF2B5EF4-FFF2-40B4-BE49-F238E27FC236}">
                <a16:creationId xmlns:a16="http://schemas.microsoft.com/office/drawing/2014/main" id="{1862359C-2891-43AB-89DE-19102B00262D}"/>
              </a:ext>
            </a:extLst>
          </p:cNvPr>
          <p:cNvSpPr txBox="1"/>
          <p:nvPr/>
        </p:nvSpPr>
        <p:spPr>
          <a:xfrm>
            <a:off x="1066800" y="4241800"/>
            <a:ext cx="5791200" cy="492443"/>
          </a:xfrm>
          <a:prstGeom prst="rect">
            <a:avLst/>
          </a:prstGeom>
          <a:noFill/>
        </p:spPr>
        <p:txBody>
          <a:bodyPr vertOverflow="overflow" vert="horz" wrap="square" rtlCol="0" anchor="t">
            <a:normAutofit/>
          </a:bodyPr>
          <a:lstStyle/>
          <a:p>
            <a:pPr algn="l"/>
            <a:r>
              <a:rPr lang="fr-FR" sz="1300">
                <a:solidFill>
                  <a:srgbClr val="1B2A38"/>
                </a:solidFill>
                <a:latin typeface="Segoe UI"/>
                <a:cs typeface="Segoe UI"/>
              </a:rPr>
              <a:t>Support niveau 1 (FAQ, réponse sous 4 h ouvrées) puis niveau 2 (équipe data), avec procédure d'escalade claire</a:t>
            </a:r>
          </a:p>
        </p:txBody>
      </p:sp>
      <p:sp>
        <p:nvSpPr>
          <p:cNvPr id="22" name="Rectangle : coins arrondis 21">
            <a:extLst>
              <a:ext uri="{FF2B5EF4-FFF2-40B4-BE49-F238E27FC236}">
                <a16:creationId xmlns:a16="http://schemas.microsoft.com/office/drawing/2014/main" id="{C680A8FF-CAE8-4FAD-9AE9-6F1AA117036C}"/>
              </a:ext>
            </a:extLst>
          </p:cNvPr>
          <p:cNvSpPr/>
          <p:nvPr/>
        </p:nvSpPr>
        <p:spPr>
          <a:xfrm>
            <a:off x="7213600" y="3911600"/>
            <a:ext cx="3708400" cy="7620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8E6517DE-D75C-4A59-B5DA-3A386AFB1007}"/>
              </a:ext>
            </a:extLst>
          </p:cNvPr>
          <p:cNvSpPr txBox="1"/>
          <p:nvPr/>
        </p:nvSpPr>
        <p:spPr>
          <a:xfrm>
            <a:off x="7366000" y="3987800"/>
            <a:ext cx="3403600" cy="228600"/>
          </a:xfrm>
          <a:prstGeom prst="rect">
            <a:avLst/>
          </a:prstGeom>
          <a:noFill/>
        </p:spPr>
        <p:txBody>
          <a:bodyPr vertOverflow="overflow" vert="horz" wrap="square" rtlCol="0" anchor="t">
            <a:spAutoFit/>
          </a:bodyPr>
          <a:lstStyle/>
          <a:p>
            <a:pPr algn="l"/>
            <a:r>
              <a:rPr lang="fr-FR" sz="1200" b="1">
                <a:solidFill>
                  <a:srgbClr val="1E7D45"/>
                </a:solidFill>
                <a:latin typeface="Segoe UI Semibold"/>
                <a:cs typeface="Segoe UI Semibold"/>
              </a:rPr>
              <a:t>Cible</a:t>
            </a:r>
          </a:p>
        </p:txBody>
      </p:sp>
      <p:sp>
        <p:nvSpPr>
          <p:cNvPr id="24" name="ZoneTexte 23">
            <a:extLst>
              <a:ext uri="{FF2B5EF4-FFF2-40B4-BE49-F238E27FC236}">
                <a16:creationId xmlns:a16="http://schemas.microsoft.com/office/drawing/2014/main" id="{C40212C1-C8F5-456A-AB24-9F47C1BC3C9B}"/>
              </a:ext>
            </a:extLst>
          </p:cNvPr>
          <p:cNvSpPr txBox="1"/>
          <p:nvPr/>
        </p:nvSpPr>
        <p:spPr>
          <a:xfrm>
            <a:off x="7366000" y="4241800"/>
            <a:ext cx="3403600" cy="692497"/>
          </a:xfrm>
          <a:prstGeom prst="rect">
            <a:avLst/>
          </a:prstGeom>
          <a:noFill/>
        </p:spPr>
        <p:txBody>
          <a:bodyPr vertOverflow="overflow" vert="horz" wrap="square" rtlCol="0" anchor="t">
            <a:normAutofit/>
          </a:bodyPr>
          <a:lstStyle/>
          <a:p>
            <a:pPr algn="l"/>
            <a:r>
              <a:rPr lang="fr-FR" sz="1300">
                <a:solidFill>
                  <a:srgbClr val="1E7D45"/>
                </a:solidFill>
                <a:latin typeface="Segoe UI"/>
                <a:cs typeface="Segoe UI"/>
              </a:rPr>
              <a:t>100 % des profils formés avant le pilote · satisfaction 4/5 min. · participation 90 % min.</a:t>
            </a:r>
          </a:p>
        </p:txBody>
      </p:sp>
      <p:sp>
        <p:nvSpPr>
          <p:cNvPr id="25" name="Rectangle : coins arrondis 24">
            <a:extLst>
              <a:ext uri="{FF2B5EF4-FFF2-40B4-BE49-F238E27FC236}">
                <a16:creationId xmlns:a16="http://schemas.microsoft.com/office/drawing/2014/main" id="{3A9651D2-A895-43BA-9950-30A415D8BF39}"/>
              </a:ext>
            </a:extLst>
          </p:cNvPr>
          <p:cNvSpPr/>
          <p:nvPr/>
        </p:nvSpPr>
        <p:spPr>
          <a:xfrm>
            <a:off x="914400" y="4876800"/>
            <a:ext cx="10007600" cy="635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600" b="1">
                <a:solidFill>
                  <a:srgbClr val="FFFFFF"/>
                </a:solidFill>
                <a:latin typeface="Segoe UI Semibold"/>
                <a:cs typeface="Segoe UI Semibold"/>
              </a:rPr>
              <a:t>②  Décision attendue :  valider ce dispositif d'accompagnement</a:t>
            </a:r>
          </a:p>
        </p:txBody>
      </p:sp>
      <p:pic>
        <p:nvPicPr>
          <p:cNvPr id="26" name="Graphic 26" descr="Superviseur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28800" y="1651000"/>
            <a:ext cx="508000" cy="508000"/>
          </a:xfrm>
          <a:prstGeom prst="rect">
            <a:avLst/>
          </a:prstGeom>
        </p:spPr>
      </p:pic>
      <p:pic>
        <p:nvPicPr>
          <p:cNvPr id="27" name="Graphic 27" descr="Agen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81500" y="1651000"/>
            <a:ext cx="508000" cy="508000"/>
          </a:xfrm>
          <a:prstGeom prst="rect">
            <a:avLst/>
          </a:prstGeom>
        </p:spPr>
      </p:pic>
      <p:pic>
        <p:nvPicPr>
          <p:cNvPr id="28" name="Graphic 28" descr="Analyste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34200" y="1651000"/>
            <a:ext cx="508000" cy="508000"/>
          </a:xfrm>
          <a:prstGeom prst="rect">
            <a:avLst/>
          </a:prstGeom>
        </p:spPr>
      </p:pic>
      <p:pic>
        <p:nvPicPr>
          <p:cNvPr id="29" name="Graphic 29" descr="Accessibilité"/>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86900" y="1651000"/>
            <a:ext cx="508000" cy="508000"/>
          </a:xfrm>
          <a:prstGeom prst="rect">
            <a:avLst/>
          </a:prstGeom>
        </p:spPr>
      </p:pic>
    </p:spTree>
    <p:extLst>
      <p:ext uri="{BB962C8B-B14F-4D97-AF65-F5344CB8AC3E}">
        <p14:creationId xmlns:p14="http://schemas.microsoft.com/office/powerpoint/2010/main" val="37134089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ABD7F9B-FFC3-4369-92CC-633D88BFE21A}"/>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EF1BD864-3269-47EF-BF64-E0F1B7F1EEEB}"/>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DÉCISIONS DEMANDÉES</a:t>
            </a:r>
          </a:p>
        </p:txBody>
      </p:sp>
      <p:sp>
        <p:nvSpPr>
          <p:cNvPr id="4" name="ZoneTexte 3">
            <a:extLst>
              <a:ext uri="{FF2B5EF4-FFF2-40B4-BE49-F238E27FC236}">
                <a16:creationId xmlns:a16="http://schemas.microsoft.com/office/drawing/2014/main" id="{EAF548CC-4EE6-43C2-BD45-3A1C9B6DB804}"/>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Les 4 décisions attendues de ce comité</a:t>
            </a:r>
          </a:p>
        </p:txBody>
      </p:sp>
      <p:sp>
        <p:nvSpPr>
          <p:cNvPr id="5" name="Rectangle : coins arrondis 4">
            <a:extLst>
              <a:ext uri="{FF2B5EF4-FFF2-40B4-BE49-F238E27FC236}">
                <a16:creationId xmlns:a16="http://schemas.microsoft.com/office/drawing/2014/main" id="{57F0C33E-9263-4D61-94AC-6C9AF1DD84CE}"/>
              </a:ext>
            </a:extLst>
          </p:cNvPr>
          <p:cNvSpPr/>
          <p:nvPr/>
        </p:nvSpPr>
        <p:spPr>
          <a:xfrm>
            <a:off x="914400" y="14732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Ellipse 5">
            <a:extLst>
              <a:ext uri="{FF2B5EF4-FFF2-40B4-BE49-F238E27FC236}">
                <a16:creationId xmlns:a16="http://schemas.microsoft.com/office/drawing/2014/main" id="{CED6267D-9F65-4E3B-BE45-F9877F674054}"/>
              </a:ext>
            </a:extLst>
          </p:cNvPr>
          <p:cNvSpPr/>
          <p:nvPr/>
        </p:nvSpPr>
        <p:spPr>
          <a:xfrm>
            <a:off x="1117600" y="16129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1</a:t>
            </a:r>
          </a:p>
        </p:txBody>
      </p:sp>
      <p:sp>
        <p:nvSpPr>
          <p:cNvPr id="7" name="ZoneTexte 6">
            <a:extLst>
              <a:ext uri="{FF2B5EF4-FFF2-40B4-BE49-F238E27FC236}">
                <a16:creationId xmlns:a16="http://schemas.microsoft.com/office/drawing/2014/main" id="{83B1CE69-AACD-4A15-B74E-63C896B2BDAF}"/>
              </a:ext>
            </a:extLst>
          </p:cNvPr>
          <p:cNvSpPr txBox="1"/>
          <p:nvPr/>
        </p:nvSpPr>
        <p:spPr>
          <a:xfrm>
            <a:off x="1701800" y="14732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mode de gouvernance</a:t>
            </a:r>
          </a:p>
        </p:txBody>
      </p:sp>
      <p:sp>
        <p:nvSpPr>
          <p:cNvPr id="8" name="Rectangle : coins arrondis 7">
            <a:extLst>
              <a:ext uri="{FF2B5EF4-FFF2-40B4-BE49-F238E27FC236}">
                <a16:creationId xmlns:a16="http://schemas.microsoft.com/office/drawing/2014/main" id="{B75DFE18-AC4E-43E2-BA37-58510C070DF9}"/>
              </a:ext>
            </a:extLst>
          </p:cNvPr>
          <p:cNvSpPr/>
          <p:nvPr/>
        </p:nvSpPr>
        <p:spPr>
          <a:xfrm>
            <a:off x="9652000" y="16129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9" name="Rectangle : coins arrondis 8">
            <a:extLst>
              <a:ext uri="{FF2B5EF4-FFF2-40B4-BE49-F238E27FC236}">
                <a16:creationId xmlns:a16="http://schemas.microsoft.com/office/drawing/2014/main" id="{096C2C2D-42B4-4DC1-92A4-62E718F028DA}"/>
              </a:ext>
            </a:extLst>
          </p:cNvPr>
          <p:cNvSpPr/>
          <p:nvPr/>
        </p:nvSpPr>
        <p:spPr>
          <a:xfrm>
            <a:off x="914400" y="22606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Ellipse 9">
            <a:extLst>
              <a:ext uri="{FF2B5EF4-FFF2-40B4-BE49-F238E27FC236}">
                <a16:creationId xmlns:a16="http://schemas.microsoft.com/office/drawing/2014/main" id="{5102E8A9-C446-4190-A24A-51868FD59C4C}"/>
              </a:ext>
            </a:extLst>
          </p:cNvPr>
          <p:cNvSpPr/>
          <p:nvPr/>
        </p:nvSpPr>
        <p:spPr>
          <a:xfrm>
            <a:off x="1117600" y="24003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2</a:t>
            </a:r>
          </a:p>
        </p:txBody>
      </p:sp>
      <p:sp>
        <p:nvSpPr>
          <p:cNvPr id="11" name="ZoneTexte 10">
            <a:extLst>
              <a:ext uri="{FF2B5EF4-FFF2-40B4-BE49-F238E27FC236}">
                <a16:creationId xmlns:a16="http://schemas.microsoft.com/office/drawing/2014/main" id="{EB3B4889-7F21-4AEB-B84E-1631F69611E1}"/>
              </a:ext>
            </a:extLst>
          </p:cNvPr>
          <p:cNvSpPr txBox="1"/>
          <p:nvPr/>
        </p:nvSpPr>
        <p:spPr>
          <a:xfrm>
            <a:off x="1701800" y="22606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calendrier (4 phases, 5 jalons)</a:t>
            </a:r>
          </a:p>
        </p:txBody>
      </p:sp>
      <p:sp>
        <p:nvSpPr>
          <p:cNvPr id="12" name="Rectangle : coins arrondis 11">
            <a:extLst>
              <a:ext uri="{FF2B5EF4-FFF2-40B4-BE49-F238E27FC236}">
                <a16:creationId xmlns:a16="http://schemas.microsoft.com/office/drawing/2014/main" id="{8636CCB2-4D99-44C4-8959-36DFD3B0B0BB}"/>
              </a:ext>
            </a:extLst>
          </p:cNvPr>
          <p:cNvSpPr/>
          <p:nvPr/>
        </p:nvSpPr>
        <p:spPr>
          <a:xfrm>
            <a:off x="9652000" y="24003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13" name="Rectangle : coins arrondis 12">
            <a:extLst>
              <a:ext uri="{FF2B5EF4-FFF2-40B4-BE49-F238E27FC236}">
                <a16:creationId xmlns:a16="http://schemas.microsoft.com/office/drawing/2014/main" id="{665C180D-389D-4B11-B41A-921587D79258}"/>
              </a:ext>
            </a:extLst>
          </p:cNvPr>
          <p:cNvSpPr/>
          <p:nvPr/>
        </p:nvSpPr>
        <p:spPr>
          <a:xfrm>
            <a:off x="914400" y="30480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4" name="Ellipse 13">
            <a:extLst>
              <a:ext uri="{FF2B5EF4-FFF2-40B4-BE49-F238E27FC236}">
                <a16:creationId xmlns:a16="http://schemas.microsoft.com/office/drawing/2014/main" id="{748FA1D8-7C54-454A-BAE6-844BEE4858A6}"/>
              </a:ext>
            </a:extLst>
          </p:cNvPr>
          <p:cNvSpPr/>
          <p:nvPr/>
        </p:nvSpPr>
        <p:spPr>
          <a:xfrm>
            <a:off x="1117600" y="31877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3</a:t>
            </a:r>
          </a:p>
        </p:txBody>
      </p:sp>
      <p:sp>
        <p:nvSpPr>
          <p:cNvPr id="15" name="ZoneTexte 14">
            <a:extLst>
              <a:ext uri="{FF2B5EF4-FFF2-40B4-BE49-F238E27FC236}">
                <a16:creationId xmlns:a16="http://schemas.microsoft.com/office/drawing/2014/main" id="{870B5CCD-867D-4E42-9741-240C0E70A82A}"/>
              </a:ext>
            </a:extLst>
          </p:cNvPr>
          <p:cNvSpPr txBox="1"/>
          <p:nvPr/>
        </p:nvSpPr>
        <p:spPr>
          <a:xfrm>
            <a:off x="1701800" y="30480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Arbitrer les priorités du backlog</a:t>
            </a:r>
          </a:p>
        </p:txBody>
      </p:sp>
      <p:sp>
        <p:nvSpPr>
          <p:cNvPr id="16" name="Rectangle : coins arrondis 15">
            <a:extLst>
              <a:ext uri="{FF2B5EF4-FFF2-40B4-BE49-F238E27FC236}">
                <a16:creationId xmlns:a16="http://schemas.microsoft.com/office/drawing/2014/main" id="{62DED501-A17F-49AB-8B97-13F7FC1E4F8B}"/>
              </a:ext>
            </a:extLst>
          </p:cNvPr>
          <p:cNvSpPr/>
          <p:nvPr/>
        </p:nvSpPr>
        <p:spPr>
          <a:xfrm>
            <a:off x="9652000" y="31877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17" name="Rectangle : coins arrondis 16">
            <a:extLst>
              <a:ext uri="{FF2B5EF4-FFF2-40B4-BE49-F238E27FC236}">
                <a16:creationId xmlns:a16="http://schemas.microsoft.com/office/drawing/2014/main" id="{10B6674A-AFCB-4699-8EFD-00EB99937BCE}"/>
              </a:ext>
            </a:extLst>
          </p:cNvPr>
          <p:cNvSpPr/>
          <p:nvPr/>
        </p:nvSpPr>
        <p:spPr>
          <a:xfrm>
            <a:off x="914400" y="38354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8" name="Ellipse 17">
            <a:extLst>
              <a:ext uri="{FF2B5EF4-FFF2-40B4-BE49-F238E27FC236}">
                <a16:creationId xmlns:a16="http://schemas.microsoft.com/office/drawing/2014/main" id="{E950BD73-744B-44D9-8821-B228C4CDF604}"/>
              </a:ext>
            </a:extLst>
          </p:cNvPr>
          <p:cNvSpPr/>
          <p:nvPr/>
        </p:nvSpPr>
        <p:spPr>
          <a:xfrm>
            <a:off x="1117600" y="39751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4</a:t>
            </a:r>
          </a:p>
        </p:txBody>
      </p:sp>
      <p:sp>
        <p:nvSpPr>
          <p:cNvPr id="19" name="ZoneTexte 18">
            <a:extLst>
              <a:ext uri="{FF2B5EF4-FFF2-40B4-BE49-F238E27FC236}">
                <a16:creationId xmlns:a16="http://schemas.microsoft.com/office/drawing/2014/main" id="{F96FDB08-CEEA-4435-A24F-0CEFB30BEBA3}"/>
              </a:ext>
            </a:extLst>
          </p:cNvPr>
          <p:cNvSpPr txBox="1"/>
          <p:nvPr/>
        </p:nvSpPr>
        <p:spPr>
          <a:xfrm>
            <a:off x="1701800" y="38354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dispositif d'accompagnement</a:t>
            </a:r>
          </a:p>
        </p:txBody>
      </p:sp>
      <p:sp>
        <p:nvSpPr>
          <p:cNvPr id="20" name="Rectangle : coins arrondis 19">
            <a:extLst>
              <a:ext uri="{FF2B5EF4-FFF2-40B4-BE49-F238E27FC236}">
                <a16:creationId xmlns:a16="http://schemas.microsoft.com/office/drawing/2014/main" id="{1653D628-AF62-4B10-8335-8D9D589DDDDF}"/>
              </a:ext>
            </a:extLst>
          </p:cNvPr>
          <p:cNvSpPr/>
          <p:nvPr/>
        </p:nvSpPr>
        <p:spPr>
          <a:xfrm>
            <a:off x="9652000" y="3975100"/>
            <a:ext cx="1066800" cy="4064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S4</a:t>
            </a:r>
          </a:p>
        </p:txBody>
      </p:sp>
      <p:sp>
        <p:nvSpPr>
          <p:cNvPr id="21" name="ZoneTexte 20">
            <a:extLst>
              <a:ext uri="{FF2B5EF4-FFF2-40B4-BE49-F238E27FC236}">
                <a16:creationId xmlns:a16="http://schemas.microsoft.com/office/drawing/2014/main" id="{C22CE9B3-77BC-4C2D-B7A9-A2772B5795AE}"/>
              </a:ext>
            </a:extLst>
          </p:cNvPr>
          <p:cNvSpPr txBox="1"/>
          <p:nvPr/>
        </p:nvSpPr>
        <p:spPr>
          <a:xfrm>
            <a:off x="9652000" y="1143000"/>
            <a:ext cx="1066800" cy="228600"/>
          </a:xfrm>
          <a:prstGeom prst="rect">
            <a:avLst/>
          </a:prstGeom>
          <a:noFill/>
        </p:spPr>
        <p:txBody>
          <a:bodyPr vertOverflow="overflow" vert="horz" wrap="square" rtlCol="0" anchor="ctr" anchorCtr="0">
            <a:spAutoFit/>
          </a:bodyPr>
          <a:lstStyle/>
          <a:p>
            <a:pPr algn="l"/>
            <a:r>
              <a:rPr lang="fr-FR" sz="1100" b="1">
                <a:solidFill>
                  <a:srgbClr val="5D6D7E"/>
                </a:solidFill>
                <a:latin typeface="Segoe UI"/>
                <a:cs typeface="Segoe UI"/>
              </a:rPr>
              <a:t>Échéance</a:t>
            </a:r>
          </a:p>
        </p:txBody>
      </p:sp>
      <p:sp>
        <p:nvSpPr>
          <p:cNvPr id="22" name="Rectangle : coins arrondis 21">
            <a:extLst>
              <a:ext uri="{FF2B5EF4-FFF2-40B4-BE49-F238E27FC236}">
                <a16:creationId xmlns:a16="http://schemas.microsoft.com/office/drawing/2014/main" id="{57E931CE-09F8-418F-B7DC-DF25BDB9B2A4}"/>
              </a:ext>
            </a:extLst>
          </p:cNvPr>
          <p:cNvSpPr/>
          <p:nvPr/>
        </p:nvSpPr>
        <p:spPr>
          <a:xfrm>
            <a:off x="914400" y="4648200"/>
            <a:ext cx="10007600" cy="6096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r>
              <a:rPr lang="fr-FR" sz="1300" b="1">
                <a:solidFill>
                  <a:srgbClr val="1A5276"/>
                </a:solidFill>
                <a:latin typeface="Segoe UI Semibold"/>
                <a:cs typeface="Segoe UI Semibold"/>
              </a:rPr>
              <a:t>Prochaines étapes :  si vous validez aujourd'hui, le cadrage démarre immédiatement et le premier comité d'arbitrage se tient dès lundi  ·  1er reporting hebdomadaire en S3  ·  jalon J1 en fin de S2.</a:t>
            </a:r>
          </a:p>
        </p:txBody>
      </p:sp>
      <p:sp>
        <p:nvSpPr>
          <p:cNvPr id="23" name="ZoneTexte 22">
            <a:extLst>
              <a:ext uri="{FF2B5EF4-FFF2-40B4-BE49-F238E27FC236}">
                <a16:creationId xmlns:a16="http://schemas.microsoft.com/office/drawing/2014/main" id="{088CB0AD-EA1A-4C70-9BF9-63B41D08040B}"/>
              </a:ext>
            </a:extLst>
          </p:cNvPr>
          <p:cNvSpPr txBox="1"/>
          <p:nvPr/>
        </p:nvSpPr>
        <p:spPr>
          <a:xfrm>
            <a:off x="914400" y="5359400"/>
            <a:ext cx="10007600" cy="355600"/>
          </a:xfrm>
          <a:prstGeom prst="rect">
            <a:avLst/>
          </a:prstGeom>
          <a:noFill/>
        </p:spPr>
        <p:txBody>
          <a:bodyPr vertOverflow="overflow" vert="horz" wrap="square" rtlCol="0" anchor="t">
            <a:spAutoFit/>
          </a:bodyPr>
          <a:lstStyle/>
          <a:p>
            <a:pPr algn="l"/>
            <a:r>
              <a:rPr lang="fr-FR" sz="1700" b="1">
                <a:solidFill>
                  <a:srgbClr val="1A5276"/>
                </a:solidFill>
                <a:latin typeface="Segoe UI Semibold"/>
                <a:cs typeface="Segoe UI Semibold"/>
              </a:rPr>
              <a:t>Merci. Je suis prêt à répondre à vos questions.</a:t>
            </a:r>
          </a:p>
        </p:txBody>
      </p:sp>
    </p:spTree>
    <p:extLst>
      <p:ext uri="{BB962C8B-B14F-4D97-AF65-F5344CB8AC3E}">
        <p14:creationId xmlns:p14="http://schemas.microsoft.com/office/powerpoint/2010/main" val="890942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E6F033A6-6BED-F3AC-37B9-269849BBF2C0}"/>
              </a:ext>
            </a:extLst>
          </p:cNvPr>
          <p:cNvSpPr txBox="1"/>
          <p:nvPr/>
        </p:nvSpPr>
        <p:spPr>
          <a:xfrm>
            <a:off x="508000" y="317500"/>
            <a:ext cx="11176000" cy="492443"/>
          </a:xfrm>
          <a:prstGeom prst="rect">
            <a:avLst/>
          </a:prstGeom>
          <a:noFill/>
        </p:spPr>
        <p:txBody>
          <a:bodyPr vert="horz" rtlCol="0">
            <a:spAutoFit/>
          </a:bodyPr>
          <a:lstStyle/>
          <a:p>
            <a:r>
              <a:rPr lang="fr-FR" sz="2600" b="1">
                <a:solidFill>
                  <a:srgbClr val="1A5276"/>
                </a:solidFill>
              </a:rPr>
              <a:t>ANNEXE · Socle data et périmètre technique du Lead Data</a:t>
            </a:r>
          </a:p>
        </p:txBody>
      </p:sp>
      <p:sp>
        <p:nvSpPr>
          <p:cNvPr id="3" name="ZoneTexte 2">
            <a:extLst>
              <a:ext uri="{FF2B5EF4-FFF2-40B4-BE49-F238E27FC236}">
                <a16:creationId xmlns:a16="http://schemas.microsoft.com/office/drawing/2014/main" id="{FC94B1A7-6846-EFE3-4645-BAB741E9017C}"/>
              </a:ext>
            </a:extLst>
          </p:cNvPr>
          <p:cNvSpPr txBox="1"/>
          <p:nvPr/>
        </p:nvSpPr>
        <p:spPr>
          <a:xfrm>
            <a:off x="508000" y="863600"/>
            <a:ext cx="11176000" cy="292388"/>
          </a:xfrm>
          <a:prstGeom prst="rect">
            <a:avLst/>
          </a:prstGeom>
          <a:noFill/>
        </p:spPr>
        <p:txBody>
          <a:bodyPr vert="horz" rtlCol="0">
            <a:spAutoFit/>
          </a:bodyPr>
          <a:lstStyle/>
          <a:p>
            <a:r>
              <a:rPr lang="fr-FR" sz="1300" i="1"/>
              <a:t>Présentée uniquement en réponse aux questions du jury · hors des 10 minutes de reporting</a:t>
            </a:r>
          </a:p>
        </p:txBody>
      </p:sp>
      <p:sp>
        <p:nvSpPr>
          <p:cNvPr id="4" name="ZoneTexte 3">
            <a:extLst>
              <a:ext uri="{FF2B5EF4-FFF2-40B4-BE49-F238E27FC236}">
                <a16:creationId xmlns:a16="http://schemas.microsoft.com/office/drawing/2014/main" id="{011E6270-0E63-8BBB-1C4F-7B2224AB157F}"/>
              </a:ext>
            </a:extLst>
          </p:cNvPr>
          <p:cNvSpPr txBox="1"/>
          <p:nvPr/>
        </p:nvSpPr>
        <p:spPr>
          <a:xfrm>
            <a:off x="508000" y="1270000"/>
            <a:ext cx="11176000" cy="3293209"/>
          </a:xfrm>
          <a:prstGeom prst="rect">
            <a:avLst/>
          </a:prstGeom>
          <a:noFill/>
        </p:spPr>
        <p:txBody>
          <a:bodyPr vert="horz" rtlCol="0">
            <a:normAutofit/>
          </a:bodyPr>
          <a:lstStyle/>
          <a:p>
            <a:r>
              <a:rPr lang="fr-FR" sz="1300"/>
              <a:t>CHAINE DE DONNEES : collecte des signaux de mobilité (bus, tramways, vélos en libre-service, capteurs de trafic), ingestion en continu et centralisation dans un entrepôt de données. Je garantis la disponibilité et la fraîcheur des données.
QUALITE DES DONNEES : contrôles automatisés (complétude, cohérence, doublons) et référentiels partagés. C'est le prérequis des tendances par ligne (B06) : sans qualité data, pas d'indicateur fiable.
DETECTION D'ANOMALIES : modèle statistique surveillé par le MLOps ; je pilote le réglage des seuils pour réduire les fausses alertes de 28 % à 15 %, condition de la confiance des agents.
RESTITUTION : API de consultation, tableau de bord interne, exports CSV pour les analystes (B05) avec gestion des permissions d'accès.
MON PILOTAGE DE LEAD DATA : formules et owners des 7 KPI documentés au glossaire (réponse au risque R06), canal de feedback structuré (B10), estimation de l'empreinte numérique par run (indicateur RSE défini en S4).
PERIMETRE : le développement relève des épreuves E2/E3. Dans ce projet, je pilote la qualité, la fiabilité et l'exploitation de ce socle : c'est ce qui fonde ma légitimité de Lead Data sur les indicateurs présentés.</a:t>
            </a:r>
          </a:p>
        </p:txBody>
      </p:sp>
    </p:spTree>
    <p:extLst>
      <p:ext uri="{BB962C8B-B14F-4D97-AF65-F5344CB8AC3E}">
        <p14:creationId xmlns:p14="http://schemas.microsoft.com/office/powerpoint/2010/main" val="605658703"/>
      </p:ext>
    </p:extLst>
  </p:cSld>
  <p:clrMapOvr>
    <a:masterClrMapping/>
  </p:clrMapOvr>
</p:sld>
</file>

<file path=ppt/theme/theme1.xml><?xml version="1.0" encoding="utf-8"?>
<a:theme xmlns:a="http://schemas.openxmlformats.org/drawingml/2006/main" name="Office Theme [1784653823272]">
  <a:themeElements>
    <a:clrScheme name="Office">
      <a:dk1>
        <a:srgbClr val="1B2A38"/>
      </a:dk1>
      <a:lt1>
        <a:srgbClr val="FFFFFF"/>
      </a:lt1>
      <a:dk2>
        <a:srgbClr val="1A5276"/>
      </a:dk2>
      <a:lt2>
        <a:srgbClr val="EAF0F4"/>
      </a:lt2>
      <a:accent1>
        <a:srgbClr val="1A5276"/>
      </a:accent1>
      <a:accent2>
        <a:srgbClr val="2E86AB"/>
      </a:accent2>
      <a:accent3>
        <a:srgbClr val="27AE60"/>
      </a:accent3>
      <a:accent4>
        <a:srgbClr val="E67E22"/>
      </a:accent4>
      <a:accent5>
        <a:srgbClr val="C0392B"/>
      </a:accent5>
      <a:accent6>
        <a:srgbClr val="5D6D7E"/>
      </a:accent6>
      <a:hlink>
        <a:srgbClr val="0563C1"/>
      </a:hlink>
      <a:folHlink>
        <a:srgbClr val="954F72"/>
      </a:folHlink>
    </a:clrScheme>
    <a:fontScheme name="Office">
      <a:majorFont>
        <a:latin typeface="Segoe UI Semibold"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70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01b7194-a0d0-4138-bbb1-f369a6018c9e}">
  <we:reference id="WA200010001" version="1.0.0.1" store="en-US" storeType="OMEX"/>
  <we:alternateReferences/>
  <we:properties>
    <we:property name="Microsoft.Office.CampaignId" value="&quot;none&quot;"/>
    <we:property name="claude.fileId" value="&quot;b0c28f32-c3aa-4dc0-aa23-4f403c31bd61&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3" ma:contentTypeDescription="Create a new document." ma:contentTypeScope="" ma:versionID="d936d863d335d354da51eb78ca1ae338">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5fbac08d56b1b04aa33acbc31e882ce9"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Props1.xml><?xml version="1.0" encoding="utf-8"?>
<ds:datastoreItem xmlns:ds="http://schemas.openxmlformats.org/officeDocument/2006/customXml" ds:itemID="{A79EAE08-AAD0-49B9-BF66-164C225CC52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3.xml><?xml version="1.0" encoding="utf-8"?>
<ds:datastoreItem xmlns:ds="http://schemas.openxmlformats.org/officeDocument/2006/customXml" ds:itemID="{617AB1FA-2F28-4684-9230-02ACEB6C0B0A}">
  <ds:schemaRefs>
    <ds:schemaRef ds:uri="b1e4d6ee-9f6f-43f8-a618-24f3d84da28f"/>
    <ds:schemaRef ds:uri="http://purl.org/dc/terms/"/>
    <ds:schemaRef ds:uri="http://schemas.openxmlformats.org/package/2006/metadata/core-properties"/>
    <ds:schemaRef ds:uri="f577acbf-5b0b-4b4f-9948-268e97f8d3a4"/>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0</TotalTime>
  <Words>3455</Words>
  <Application>Microsoft Office PowerPoint</Application>
  <PresentationFormat>Grand écran</PresentationFormat>
  <Paragraphs>174</Paragraphs>
  <Slides>9</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9</vt:i4>
      </vt:variant>
    </vt:vector>
  </HeadingPairs>
  <TitlesOfParts>
    <vt:vector size="14" baseType="lpstr">
      <vt:lpstr>Aptos</vt:lpstr>
      <vt:lpstr>Arial</vt:lpstr>
      <vt:lpstr>Segoe UI</vt:lpstr>
      <vt:lpstr>Segoe UI Semibold</vt:lpstr>
      <vt:lpstr>Office Theme [1784653823272]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Ouassim MEGRAD</cp:lastModifiedBy>
  <cp:revision>8</cp:revision>
  <dcterms:created xsi:type="dcterms:W3CDTF">2018-06-07T21:39:02Z</dcterms:created>
  <dcterms:modified xsi:type="dcterms:W3CDTF">2026-07-21T17:45:31Z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