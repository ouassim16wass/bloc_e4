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DD991C-C385-4F94-8008-D179E645D8E1}" type="datetimeFigureOut">
              <a:rPr lang="fr-FR" smtClean="0"/>
              <a:t>21/07/2026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C29819-6A53-48D2-9DB0-EAF56D28E8F9}" type="slidenum">
              <a:rPr lang="fr-FR" smtClean="0"/>
              <a:t>‹N°›</a:t>
            </a:fld>
            <a:endParaRPr lang="fr-FR"/>
          </a:p>
        </p:txBody>
      </p:sp>
    </p:spTree>
    <p:extLst>
      <p:ext uri="{BB962C8B-B14F-4D97-AF65-F5344CB8AC3E}">
        <p14:creationId xmlns:p14="http://schemas.microsoft.com/office/powerpoint/2010/main" val="40612897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STATUT GLOBAL : VERT]
PITCH MOT A MOT :
Bonjour a tous. Je suis Ouassim Megrad, Lead Data de l'equipe Megslab. La direction de NovaVille a confie le passage a l'echelle de MobilityPulse a l'equipe Data Engineering, dont je suis le responsable. Ma mission : securiser le deploiement pilote sur 12 semaines.
Un point important avant de commencer : la solution existe deja, sous forme de prototype qui collecte les signaux de mobilite, detecte les anomalies et affiche des indicateurs. Mon travail n'est donc pas de la developper, mais d'organiser son adoption.
La direction a constate trois limites : personne ne sait organiser le passage a l'echelle, les roles entre les equipes ne sont pas formalises, et les utilisateurs demandent de la formation et du support. Mon dossier repond a ces trois limites, point par point : un plan projet, une gouvernance claire, et un accompagnement par profil.
Le statut global du projet est vert. Je vous presente le dispositif en huit points, et je terminerai par les quatre decisions que j'attends de ce comite.
TRANSITION : "Commencons par le calendrier."</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1</a:t>
            </a:fld>
            <a:endParaRPr lang="fr-FR"/>
          </a:p>
        </p:txBody>
      </p:sp>
    </p:spTree>
    <p:extLst>
      <p:ext uri="{BB962C8B-B14F-4D97-AF65-F5344CB8AC3E}">
        <p14:creationId xmlns:p14="http://schemas.microsoft.com/office/powerpoint/2010/main" val="35696916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Le deploiement tient en 12 semaines, decoupe en quatre phases et cinq jalons. Deux semaines de cadrage pour installer la gouvernance. Puis six semaines de travail produit, en trois sprints de deux semaines. En parallele, a partir de la semaine 6, l'accompagnement des utilisateurs demarre. Et les deux dernieres semaines sont le deploiement pilote en conditions reelles.
Vous remarquez que les phases produit et formation se chevauchent : c'est volontaire. Les agents ont peu de temps disponible, donc j'etale les formations sur cinq semaines. Et surtout, tout le monde est forme avant le pilote : un pilote avec des utilisateurs non formes mesurerait l'echec de la formation, pas la valeur de l'outil.
CAS CONCRET A RACONTER :
"Pourquoi cet ordre de travail ? Un exemple : le support reclame une procedure d'escalade des incidents. Impossible de l'ecrire tant qu'on ne sait pas qui fait quoi : a qui on escalade ? C'est pour ca que la definition des roles se fait en semaines 1 et 2, et la procedure juste apres, au sprint 1."
TRANSITION : "Justement, parlons des roles."</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2</a:t>
            </a:fld>
            <a:endParaRPr lang="fr-FR"/>
          </a:p>
        </p:txBody>
      </p:sp>
    </p:spTree>
    <p:extLst>
      <p:ext uri="{BB962C8B-B14F-4D97-AF65-F5344CB8AC3E}">
        <p14:creationId xmlns:p14="http://schemas.microsoft.com/office/powerpoint/2010/main" val="3188521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No1]
PITCH MOT A MOT :
Pour la gouvernance, j'ai choisi une methode hybride. Les evolutions du produit sont planifiables : je les organise en sprints de deux semaines, ce qui donne une cadence lisible pour vous, la direction. Le support, lui, est un flux imprevisible : je le gere en continu avec une file de priorites. Deux natures de travail, deux modes adaptes.
Le point central du dispositif, c'est le comite d'arbitrage hebdomadaire. Chaque activite a un seul responsable : le Product Owner priorise, moi je planifie, je garantis la fiabilite des indicateurs et je vous rends compte, et le referent accessibilite valide chaque support.
Premiere decision que je vous demande : valider ce mode de gouvernance.
CAS CONCRET A RACONTER :
"Imaginez la semaine 4. L'equipe technique veut livrer l'export CSV pour les analystes. Le centre de supervision reclame d'abord des alertes comprehensibles. Sans gouvernance, ce desaccord traine des semaines. Chez nous : comite du lundi, 30 minutes. Le Product Owner tranche, les alertes d'abord, parce que la non-adoption des agents est notre risque numero un, et moi j'eclaire la decision avec la charge et les dependances techniques."
TRANSITION : "Une gouvernance pilote avec des chiffres. Voici les notres."</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3</a:t>
            </a:fld>
            <a:endParaRPr lang="fr-FR"/>
          </a:p>
        </p:txBody>
      </p:sp>
    </p:spTree>
    <p:extLst>
      <p:ext uri="{BB962C8B-B14F-4D97-AF65-F5344CB8AC3E}">
        <p14:creationId xmlns:p14="http://schemas.microsoft.com/office/powerpoint/2010/main" val="13003054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LA SLIDE DU LEAD DATA]
PITCH MOT A MOT :
Le pilotage repose sur des indicateurs en quatre categories : le projet, le produit, l'adoption et l'impact environnemental. Tous les chiffres que vous voyez viennent du dossier fourni par la direction, je n'ai rien invente.
Trois chiffres a retenir. L'adoption d'abord : 35 % des utilisateurs cibles utilisent l'outil aujourd'hui, l'objectif est 75 % en fin de pilote. Le temps de comprehension d'une alerte ensuite : 5 minutes aujourd'hui, 2 minutes en cible. Et les fausses alertes : 28 % aujourd'hui, 15 % en cible, parce que la confiance dans l'outil conditionne son adoption.
En tant que Lead Data, c'est mon coeur de metier : chaque indicateur a un responsable designe, une formule documentee dans un glossaire, et une action prevue si la mesure derive.
CAS CONCRET A RACONTER :
"Prenons Malik, agent au centre de supervision. Aujourd'hui, en pleine heure de pointe, il recoit une alerte du genre 'anomalie de flux detectee, score 3,2'. Il met 5 minutes a comprendre, 5 minutes pendant lesquelles il ne decide rien. Notre travail : la meme alerte devient 'retard inhabituel sur la ligne de bus 12, secteur gare', avec une aide contextuelle. Objectif : 2 minutes."
TRANSITION : "Des chiffres pour piloter, et des risques sous controle."</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4</a:t>
            </a:fld>
            <a:endParaRPr lang="fr-FR"/>
          </a:p>
        </p:txBody>
      </p:sp>
    </p:spTree>
    <p:extLst>
      <p:ext uri="{BB962C8B-B14F-4D97-AF65-F5344CB8AC3E}">
        <p14:creationId xmlns:p14="http://schemas.microsoft.com/office/powerpoint/2010/main" val="27972220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Six risques sont documentes au registre, je vous presente les trois majeurs. Le premier, c'est la non-adoption par les agents : c'est le risque qui tuerait le projet. Mes parades : des formations courtes, de la co-construction avec le terrain, et un canal de retours structure. Le deuxieme, ce sont les conflits de priorites entre l'IT et le metier : c'est le comite d'arbitrage hebdomadaire qui le traite. Le troisieme, c'est une accessibilite insuffisante : chaque support est valide par le referent accessibilite avant diffusion, pas apres coup.
Et j'insiste : chaque risque a aussi un plan de contingence avec un seuil defini a l'avance. Pas d'improvisation en cours de pilote : les decisions difficiles sont preparees avant.
CAS CONCRET A RACONTER :
"Concretement : nous sommes en semaine 8, le tableau de bord affiche 48 % d'adoption alors qu'on devrait etre autour de 55. Le seuil des 50 % est franchi : je n'improvise pas, je declenche le plan prepare, ateliers cibles, accompagnement en binome, et je passe le statut a l'orange dans mon reporting avec la decision que je vous demande."
TRANSITION : "Ces risques, ce sont aussi les utilisateurs qui nous les signalent."</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5</a:t>
            </a:fld>
            <a:endParaRPr lang="fr-FR"/>
          </a:p>
        </p:txBody>
      </p:sp>
    </p:spTree>
    <p:extLst>
      <p:ext uri="{BB962C8B-B14F-4D97-AF65-F5344CB8AC3E}">
        <p14:creationId xmlns:p14="http://schemas.microsoft.com/office/powerpoint/2010/main" val="567000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PITCH MOT A MOT :
Six retours utilisateurs ont ete recueillis sur le prototype. Je les ai priorises en croisant deux criteres : l'impact et la frequence.
Trois retours cumulent impact fort et frequence elevee : le vocabulaire des alertes est trop technique, il n'existe aucune procedure en cas de mauvaise alerte, et les definitions des indicateurs sont imprecises. Ils sont traites en premier.
Le retour sur les graphiques illisibles au lecteur d'ecran est moins frequent, mais je l'ai remonte en priorite : l'accessibilite est une exigence d'inclusion de ce projet, pas une option.
Ce que je veux que vous reteniez : l'ordre de mes sprints n'est pas arbitraire, il reflete directement ce que le terrain nous a dit.
TRANSITION : "Ecouter le terrain, c'est aussi le former."</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6</a:t>
            </a:fld>
            <a:endParaRPr lang="fr-FR"/>
          </a:p>
        </p:txBody>
      </p:sp>
    </p:spTree>
    <p:extLst>
      <p:ext uri="{BB962C8B-B14F-4D97-AF65-F5344CB8AC3E}">
        <p14:creationId xmlns:p14="http://schemas.microsoft.com/office/powerpoint/2010/main" val="41959539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No2]
PITCH MOT A MOT :
L'accompagnement suit une logique simple : informer, former, accompagner sur le poste, puis rendre autonome. Quatre profils, quatre parcours adaptes : le superviseur presse, l'agent en salle operationnelle, l'analyste, et l'utilisateur en situation de handicap.
La contrainte principale, c'est le temps : les agents en ont tres peu. Donc tout est court : un seul atelier de 45 minutes par profil, des tutoriels de 3 a 5 minutes, et la prise en main se fait en binome, sur leur poste, pendant leur travail reel.
Pour l'accessibilite : une session dediee a rythme adapte, des supports compatibles lecteur d'ecran, des videos sous-titrees, et chaque support est valide avant diffusion. Apres le deploiement, un support en deux niveaux prend le relais. La formation cree l'adoption, le support l'empeche de retomber.
La cible : 100 % des profils formes avant le pilote, satisfaction de 4 sur 5 minimum. C'est ma deuxieme demande de validation.
CAS CONCRET A RACONTER :
"Suivons Malik sur les 12 semaines. Semaine 6 : il recoit l'annonce et une demo de 15 minutes. Semaine 8 : il suit SON atelier de 45 minutes, construit sur de vraies alertes de son quotidien. Semaines 9 et 10 : quelqu'un vient a son poste, deux fois 30 minutes. Semaine 11, le pilote demarre : Malik est autonome."
TRANSITION : "Je recapitule ce que j'attends de vous."</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7</a:t>
            </a:fld>
            <a:endParaRPr lang="fr-FR"/>
          </a:p>
        </p:txBody>
      </p:sp>
    </p:spTree>
    <p:extLst>
      <p:ext uri="{BB962C8B-B14F-4D97-AF65-F5344CB8AC3E}">
        <p14:creationId xmlns:p14="http://schemas.microsoft.com/office/powerpoint/2010/main" val="17270483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 NE JAMAIS SAUTER CETTE SLIDE]
PITCH MOT A MOT :
Pour conclure, voici les quatre decisions que j'attends de ce comite. Deux des cette semaine : valider le mode de gouvernance, et valider le calendrier en quatre phases et cinq jalons. Ensuite : arbitrer les priorites du backlog que je vous ai proposees, et d'ici la semaine 4, valider le dispositif d'accompagnement des utilisateurs.
Si vous validez aujourd'hui, le cadrage demarre immediatement, vous recevez le premier reporting hebdomadaire en semaine 3, et nous nous retrouvons au jalon 1 en fin de semaine 2 pour constater que la gouvernance est en place.
Un prototype prometteur, un plan en 12 semaines, des indicateurs fiables et des utilisateurs accompagnes : voila comment nous securisons MobilityPulse.
Merci de votre attention. Je suis pret a repondre a vos questions.
APRES CETTE SLIDE : silence, sourire, laisser le jury ouvrir les questions.</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8</a:t>
            </a:fld>
            <a:endParaRPr lang="fr-FR"/>
          </a:p>
        </p:txBody>
      </p:sp>
    </p:spTree>
    <p:extLst>
      <p:ext uri="{BB962C8B-B14F-4D97-AF65-F5344CB8AC3E}">
        <p14:creationId xmlns:p14="http://schemas.microsoft.com/office/powerpoint/2010/main" val="39756563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[SLIDE ANNEXE : NE PAS PRESENTER DANS LES 10 MINUTES. L'afficher seulement si le jury pose une question technique.]
QUAND L'UTILISER : questions du type "parlez-moi de l'architecture", "qu'avez-vous fait techniquement", "comment garantissez-vous la qualite des donnees".
REPONSE TYPE (mot a mot) :
"Volontairement, je n'ai pas mis de technique dans le reporting : la charte impose un vocabulaire non technique pour la direction. Mais bien sur, en tant que Lead Data, je pilote le socle : permettez-moi de vous montrer l'annexe.
La chaine collecte les signaux de mobilite et les centralise dans un entrepot de donnees. Mon equipe garantit la qualite : controles automatises de completude et de coherence, car sans qualite data, aucun indicateur n'est fiable. Le modele de detection d'anomalies est surveille par le MLOps, et je pilote le reglage des seuils : c'est comme ca qu'on fera passer les fausses alertes de 28 a 15 %. Cote restitution : une API de consultation, le tableau de bord interne et les exports CSV avec gestion des permissions.
Et mon role transverse : chaque KPI a sa formule documentee et son owner, le canal de feedback est structure, et l'empreinte numerique est estimee par run pour l'indicateur RSE.
Le developpement lui-meme releve des epreuves E2 et E3 : ici, mon travail est de piloter la qualite, la fiabilite et l'exploitation de ce socle."</a:t>
            </a:r>
          </a:p>
        </p:txBody>
      </p:sp>
      <p:sp>
        <p:nvSpPr>
          <p:cNvPr id="4" name="Espace réservé du numéro de diapositive 3"/>
          <p:cNvSpPr>
            <a:spLocks noGrp="1"/>
          </p:cNvSpPr>
          <p:nvPr>
            <p:ph type="sldNum" sz="quarter" idx="5"/>
          </p:nvPr>
        </p:nvSpPr>
        <p:spPr/>
        <p:txBody>
          <a:bodyPr/>
          <a:lstStyle/>
          <a:p>
            <a:fld id="{2EC29819-6A53-48D2-9DB0-EAF56D28E8F9}" type="slidenum">
              <a:rPr lang="fr-FR" smtClean="0"/>
              <a:t>9</a:t>
            </a:fld>
            <a:endParaRPr lang="fr-FR"/>
          </a:p>
        </p:txBody>
      </p:sp>
    </p:spTree>
    <p:extLst>
      <p:ext uri="{BB962C8B-B14F-4D97-AF65-F5344CB8AC3E}">
        <p14:creationId xmlns:p14="http://schemas.microsoft.com/office/powerpoint/2010/main" val="27934442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425DDE-D9C1-567F-BB08-4B50E5135F50}"/>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6320581-C5D6-910F-AA01-35638E956A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50ED7112-1AED-77B3-3564-5FB37120BDC0}"/>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1327389F-A3CC-6A3D-E94E-169DDB40208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E3A7EA7-B28A-787B-3DBC-CA6F1AE355F4}"/>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337248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9BAD6B-5B7D-20E6-DB71-B6CED80F4E8A}"/>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A63E517-0FB3-27B7-06AC-2575A6A2C5EB}"/>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19EC7B7-B4E0-245D-0928-0BF7B1911332}"/>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2C1A2330-3048-E2AF-AD91-D2A951494B1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002EE6D-F43E-4885-4CCA-E43EBD47D323}"/>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11064014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9F312D-E18D-9A92-A4B0-C19625D35D9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D453C-7768-0219-B213-687F3C9469A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D442E774-1ED0-A659-5545-F3776F01AAC6}"/>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23AA9C6A-0634-9ACA-ECC8-D385A185FAF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4B03C01-0C9C-20F9-D9AF-09A5A70281A4}"/>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24351501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732612-F40B-D21D-47A4-D85598E709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7BFD56-4FE6-6F22-67F4-49F410BA16D8}"/>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E0CCABDF-6540-9A61-78AA-72792C0568D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EBF0822-1DCA-1CA0-25CA-7A8C8C9C16F2}"/>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6" name="Espace réservé du pied de page 5">
            <a:extLst>
              <a:ext uri="{FF2B5EF4-FFF2-40B4-BE49-F238E27FC236}">
                <a16:creationId xmlns:a16="http://schemas.microsoft.com/office/drawing/2014/main" id="{888D9AE8-447B-8DAB-D2B4-812DE7F14F0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C73A3F5-6231-1BFD-F5A0-F6E935704DB8}"/>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2234741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56F8440-5608-E8A9-3562-F8C3F614112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075C15DD-291C-D07F-609D-F30E9A4DBB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7C8BE7D-895D-9142-B137-A2120029E6E5}"/>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25AA23EA-3ACE-8034-7C1C-4720FBE497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C02566A-EEB3-3298-5F4F-76E4520BC8D0}"/>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974F451-39D2-80FD-C259-6D70341F5B7D}"/>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8" name="Espace réservé du pied de page 7">
            <a:extLst>
              <a:ext uri="{FF2B5EF4-FFF2-40B4-BE49-F238E27FC236}">
                <a16:creationId xmlns:a16="http://schemas.microsoft.com/office/drawing/2014/main" id="{9CEE1B81-D80F-33E5-1A54-4E11109FFA3E}"/>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2575DBA5-66FD-E3F4-8CF8-1F5D0ECCAA36}"/>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3571862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40E3BB-E54E-9193-8837-0BF965CB321A}"/>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C7AE4EFE-2564-D7F8-BD8A-1E4B5104FB32}"/>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4" name="Espace réservé du pied de page 3">
            <a:extLst>
              <a:ext uri="{FF2B5EF4-FFF2-40B4-BE49-F238E27FC236}">
                <a16:creationId xmlns:a16="http://schemas.microsoft.com/office/drawing/2014/main" id="{8A86CA2D-3499-2FB2-2C25-DF3FBA98309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03D5548F-9BC5-988B-E461-F0443DE46974}"/>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490749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5113B983-7CE4-2990-3C32-A82AC57D29E6}"/>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3" name="Espace réservé du pied de page 2">
            <a:extLst>
              <a:ext uri="{FF2B5EF4-FFF2-40B4-BE49-F238E27FC236}">
                <a16:creationId xmlns:a16="http://schemas.microsoft.com/office/drawing/2014/main" id="{26AFD764-7B7E-28BD-B845-499A34984E3C}"/>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BE1FAB69-E0B0-1EB0-6EE4-01B250D38548}"/>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1819931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F91BB07-FA45-35F5-F04D-93809E2D915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17697CAE-BC93-C2D2-438F-C13BD2C02EA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708C2AA-660C-D562-9AA3-1FA7AFA5E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572DC509-085E-7AC0-4D7D-4EA4B90264DA}"/>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6" name="Espace réservé du pied de page 5">
            <a:extLst>
              <a:ext uri="{FF2B5EF4-FFF2-40B4-BE49-F238E27FC236}">
                <a16:creationId xmlns:a16="http://schemas.microsoft.com/office/drawing/2014/main" id="{51818629-0700-FC3D-4150-A657930A7BD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044946B-EEBE-1AB1-D1EA-EBECB901EBA0}"/>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90208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107D488-FCC1-1608-5816-084B9B7C52A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0BB9AEA6-93DB-0107-F265-8BD9B15A7F7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A84D67E0-C98B-52A3-0267-C9864F62E0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D2A5FD5-F91B-121F-F006-5E00FFA840EB}"/>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6" name="Espace réservé du pied de page 5">
            <a:extLst>
              <a:ext uri="{FF2B5EF4-FFF2-40B4-BE49-F238E27FC236}">
                <a16:creationId xmlns:a16="http://schemas.microsoft.com/office/drawing/2014/main" id="{3207846E-4C1C-D9F7-EDEF-20C8C77962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D879C3A-7005-ACD9-48C6-B37EC7F77A54}"/>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2118703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B155CF-E412-3377-8AD0-59E221CE2EB5}"/>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04084597-DB1C-496F-918E-A3523D289BC5}"/>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B1B51EF-29E4-AA6E-6514-5D71F73B9415}"/>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3963EAED-3564-4017-8EEF-E2DA64884DA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7889915-96DF-C7B9-A9D5-0670F2CE311C}"/>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1210959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7403DC2F-6303-3AC7-19B1-C144D4F61426}"/>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D1AA7C0-6C86-07FE-CA20-22BDB5FB139E}"/>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1900DC8-DCB2-8381-9F45-7420B4B3907E}"/>
              </a:ext>
            </a:extLst>
          </p:cNvPr>
          <p:cNvSpPr>
            <a:spLocks noGrp="1"/>
          </p:cNvSpPr>
          <p:nvPr>
            <p:ph type="dt" sz="half" idx="10"/>
          </p:nvPr>
        </p:nvSpPr>
        <p:spPr/>
        <p:txBody>
          <a:bodyPr/>
          <a:lstStyle/>
          <a:p>
            <a:fld id="{E45C8CDA-69E6-458F-BF50-317D310937B3}"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109C0835-6E61-C3B6-2CD8-FC03C58B756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C594790-CEBD-C59D-130E-C9E77E2305B9}"/>
              </a:ext>
            </a:extLst>
          </p:cNvPr>
          <p:cNvSpPr>
            <a:spLocks noGrp="1"/>
          </p:cNvSpPr>
          <p:nvPr>
            <p:ph type="sldNum" sz="quarter" idx="12"/>
          </p:nvPr>
        </p:nvSpPr>
        <p:spPr/>
        <p:txBody>
          <a:bodyPr/>
          <a:lstStyle/>
          <a:p>
            <a:fld id="{3AC5600D-0F36-445F-8368-4294C88FAD94}" type="slidenum">
              <a:rPr lang="fr-FR" smtClean="0"/>
              <a:t>‹N°›</a:t>
            </a:fld>
            <a:endParaRPr lang="fr-FR"/>
          </a:p>
        </p:txBody>
      </p:sp>
    </p:spTree>
    <p:extLst>
      <p:ext uri="{BB962C8B-B14F-4D97-AF65-F5344CB8AC3E}">
        <p14:creationId xmlns:p14="http://schemas.microsoft.com/office/powerpoint/2010/main" val="8892086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319D95F-EB57-376F-0AF4-03E1D7BDE6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A933FAA8-D8E9-671F-511F-6E4C82703A0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342051D-8337-97AB-83D4-99BD7111E4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45C8CDA-69E6-458F-BF50-317D310937B3}"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A9C432AB-E21C-84E2-7B42-ABC6226340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EC211F92-A157-562F-FBE4-09D25053A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C5600D-0F36-445F-8368-4294C88FAD94}" type="slidenum">
              <a:rPr lang="fr-FR" smtClean="0"/>
              <a:t>‹N°›</a:t>
            </a:fld>
            <a:endParaRPr lang="fr-FR"/>
          </a:p>
        </p:txBody>
      </p:sp>
    </p:spTree>
    <p:extLst>
      <p:ext uri="{BB962C8B-B14F-4D97-AF65-F5344CB8AC3E}">
        <p14:creationId xmlns:p14="http://schemas.microsoft.com/office/powerpoint/2010/main" val="37790818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6057D6D7-F123-5BC1-F850-139C22C9271E}"/>
              </a:ext>
            </a:extLst>
          </p:cNvPr>
          <p:cNvSpPr txBox="1"/>
          <p:nvPr/>
        </p:nvSpPr>
        <p:spPr>
          <a:xfrm>
            <a:off x="457200" y="381000"/>
            <a:ext cx="6350000" cy="276999"/>
          </a:xfrm>
          <a:prstGeom prst="rect">
            <a:avLst/>
          </a:prstGeom>
          <a:noFill/>
        </p:spPr>
        <p:txBody>
          <a:bodyPr vert="horz" wrap="square" rtlCol="0">
            <a:spAutoFit/>
          </a:bodyPr>
          <a:lstStyle/>
          <a:p>
            <a:r>
              <a:rPr lang="fr-FR" sz="1200" b="1">
                <a:solidFill>
                  <a:srgbClr val="6E7680"/>
                </a:solidFill>
                <a:latin typeface="Calibri" panose="020F0502020204030204" pitchFamily="34" charset="0"/>
              </a:rPr>
              <a:t>REPORTING AU COMITE DE DIRECTION</a:t>
            </a:r>
          </a:p>
        </p:txBody>
      </p:sp>
      <p:sp>
        <p:nvSpPr>
          <p:cNvPr id="3" name="ZoneTexte 2">
            <a:extLst>
              <a:ext uri="{FF2B5EF4-FFF2-40B4-BE49-F238E27FC236}">
                <a16:creationId xmlns:a16="http://schemas.microsoft.com/office/drawing/2014/main" id="{C04F1AE5-0F07-6356-23A7-81EF44ADEE94}"/>
              </a:ext>
            </a:extLst>
          </p:cNvPr>
          <p:cNvSpPr txBox="1"/>
          <p:nvPr/>
        </p:nvSpPr>
        <p:spPr>
          <a:xfrm>
            <a:off x="457200" y="711200"/>
            <a:ext cx="11277600" cy="553998"/>
          </a:xfrm>
          <a:prstGeom prst="rect">
            <a:avLst/>
          </a:prstGeom>
          <a:noFill/>
        </p:spPr>
        <p:txBody>
          <a:bodyPr vert="horz" wrap="square" rtlCol="0">
            <a:spAutoFit/>
          </a:bodyPr>
          <a:lstStyle/>
          <a:p>
            <a:r>
              <a:rPr lang="fr-FR" sz="3000" b="1">
                <a:solidFill>
                  <a:srgbClr val="1A5276"/>
                </a:solidFill>
                <a:latin typeface="Calibri" panose="020F0502020204030204" pitchFamily="34" charset="0"/>
              </a:rPr>
              <a:t>MobilityPulse : securiser le deploiement en 12 semaines</a:t>
            </a:r>
          </a:p>
        </p:txBody>
      </p:sp>
      <p:sp>
        <p:nvSpPr>
          <p:cNvPr id="4" name="ZoneTexte 3">
            <a:extLst>
              <a:ext uri="{FF2B5EF4-FFF2-40B4-BE49-F238E27FC236}">
                <a16:creationId xmlns:a16="http://schemas.microsoft.com/office/drawing/2014/main" id="{5065073E-6C39-AD6D-6A9D-26BC5A822EFC}"/>
              </a:ext>
            </a:extLst>
          </p:cNvPr>
          <p:cNvSpPr txBox="1"/>
          <p:nvPr/>
        </p:nvSpPr>
        <p:spPr>
          <a:xfrm>
            <a:off x="457200" y="1371600"/>
            <a:ext cx="11277600" cy="307777"/>
          </a:xfrm>
          <a:prstGeom prst="rect">
            <a:avLst/>
          </a:prstGeom>
          <a:noFill/>
        </p:spPr>
        <p:txBody>
          <a:bodyPr vert="horz" wrap="square" rtlCol="0">
            <a:spAutoFit/>
          </a:bodyPr>
          <a:lstStyle/>
          <a:p>
            <a:r>
              <a:rPr lang="pt-BR" sz="1400">
                <a:solidFill>
                  <a:srgbClr val="212121"/>
                </a:solidFill>
                <a:latin typeface="Calibri" panose="020F0502020204030204" pitchFamily="34" charset="0"/>
              </a:rPr>
              <a:t>Ouassim Megrad  ·  Lead Data  ·  equipe Megslab  ·  21/07/2026</a:t>
            </a:r>
            <a:endParaRPr lang="fr-FR" sz="1400">
              <a:solidFill>
                <a:srgbClr val="212121"/>
              </a:solidFill>
              <a:latin typeface="Calibri" panose="020F0502020204030204" pitchFamily="34" charset="0"/>
            </a:endParaRPr>
          </a:p>
        </p:txBody>
      </p:sp>
      <p:sp>
        <p:nvSpPr>
          <p:cNvPr id="5" name="Rectangle : coins arrondis 4">
            <a:extLst>
              <a:ext uri="{FF2B5EF4-FFF2-40B4-BE49-F238E27FC236}">
                <a16:creationId xmlns:a16="http://schemas.microsoft.com/office/drawing/2014/main" id="{67703A10-F20C-9025-5358-49A0C69D6257}"/>
              </a:ext>
            </a:extLst>
          </p:cNvPr>
          <p:cNvSpPr/>
          <p:nvPr/>
        </p:nvSpPr>
        <p:spPr>
          <a:xfrm>
            <a:off x="457200" y="1803400"/>
            <a:ext cx="7874000" cy="431800"/>
          </a:xfrm>
          <a:prstGeom prst="roundRect">
            <a:avLst/>
          </a:prstGeom>
          <a:solidFill>
            <a:srgbClr val="1E844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a:solidFill>
                  <a:srgbClr val="FFFFFF"/>
                </a:solidFill>
              </a:rPr>
              <a:t>STATUT GLOBAL : VERT  ·  pret a lancer  ·  aucun obstacle bloquant</a:t>
            </a:r>
          </a:p>
        </p:txBody>
      </p:sp>
      <p:sp>
        <p:nvSpPr>
          <p:cNvPr id="6" name="ZoneTexte 5">
            <a:extLst>
              <a:ext uri="{FF2B5EF4-FFF2-40B4-BE49-F238E27FC236}">
                <a16:creationId xmlns:a16="http://schemas.microsoft.com/office/drawing/2014/main" id="{4809DF9C-6E7C-99EC-ADF2-D58BB1DD2836}"/>
              </a:ext>
            </a:extLst>
          </p:cNvPr>
          <p:cNvSpPr txBox="1"/>
          <p:nvPr/>
        </p:nvSpPr>
        <p:spPr>
          <a:xfrm>
            <a:off x="457200" y="2438400"/>
            <a:ext cx="11277600" cy="523220"/>
          </a:xfrm>
          <a:prstGeom prst="rect">
            <a:avLst/>
          </a:prstGeom>
          <a:noFill/>
        </p:spPr>
        <p:txBody>
          <a:bodyPr vert="horz" wrap="square" rtlCol="0">
            <a:spAutoFit/>
          </a:bodyPr>
          <a:lstStyle/>
          <a:p>
            <a:r>
              <a:rPr lang="fr-FR" sz="1400">
                <a:solidFill>
                  <a:srgbClr val="212121"/>
                </a:solidFill>
                <a:latin typeface="Calibri" panose="020F0502020204030204" pitchFamily="34" charset="0"/>
              </a:rPr>
              <a:t>La solution existe deja en prototype : elle collecte les signaux de mobilite, detecte les anomalies et affiche des indicateurs. Ma mission n'est pas de la developper, mais d'organiser son adoption en 12 semaines.</a:t>
            </a:r>
          </a:p>
        </p:txBody>
      </p:sp>
      <p:sp>
        <p:nvSpPr>
          <p:cNvPr id="7" name="Rectangle : coins arrondis 6">
            <a:extLst>
              <a:ext uri="{FF2B5EF4-FFF2-40B4-BE49-F238E27FC236}">
                <a16:creationId xmlns:a16="http://schemas.microsoft.com/office/drawing/2014/main" id="{7B2C8CDF-BD81-8216-30AC-8CC58A78D135}"/>
              </a:ext>
            </a:extLst>
          </p:cNvPr>
          <p:cNvSpPr/>
          <p:nvPr/>
        </p:nvSpPr>
        <p:spPr>
          <a:xfrm>
            <a:off x="457200" y="3327400"/>
            <a:ext cx="3556000" cy="266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A0178F17-0F34-5966-CED5-705EBB44BF4D}"/>
              </a:ext>
            </a:extLst>
          </p:cNvPr>
          <p:cNvSpPr txBox="1"/>
          <p:nvPr/>
        </p:nvSpPr>
        <p:spPr>
          <a:xfrm>
            <a:off x="635000" y="3454400"/>
            <a:ext cx="3200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1 · Organisation</a:t>
            </a:r>
          </a:p>
        </p:txBody>
      </p:sp>
      <p:sp>
        <p:nvSpPr>
          <p:cNvPr id="9" name="ZoneTexte 8">
            <a:extLst>
              <a:ext uri="{FF2B5EF4-FFF2-40B4-BE49-F238E27FC236}">
                <a16:creationId xmlns:a16="http://schemas.microsoft.com/office/drawing/2014/main" id="{5B1C8F38-F8CE-5D60-9B70-3F609BF7DF82}"/>
              </a:ext>
            </a:extLst>
          </p:cNvPr>
          <p:cNvSpPr txBox="1"/>
          <p:nvPr/>
        </p:nvSpPr>
        <p:spPr>
          <a:xfrm>
            <a:off x="635000" y="3784600"/>
            <a:ext cx="3200400" cy="830997"/>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Constat de la direction : personne ne sait organiser le passage a l'echelle. Ma reponse : un plan projet en 12 semaines, 4 phases et 5 jalons, cale sur les dependances reelles du backlog.</a:t>
            </a:r>
          </a:p>
        </p:txBody>
      </p:sp>
      <p:sp>
        <p:nvSpPr>
          <p:cNvPr id="10" name="Rectangle : coins arrondis 9">
            <a:extLst>
              <a:ext uri="{FF2B5EF4-FFF2-40B4-BE49-F238E27FC236}">
                <a16:creationId xmlns:a16="http://schemas.microsoft.com/office/drawing/2014/main" id="{5C9571BD-483D-D3D2-5C31-88567C378A3D}"/>
              </a:ext>
            </a:extLst>
          </p:cNvPr>
          <p:cNvSpPr/>
          <p:nvPr/>
        </p:nvSpPr>
        <p:spPr>
          <a:xfrm>
            <a:off x="4318000" y="3327400"/>
            <a:ext cx="3556000" cy="266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D2C5FF0-6656-9EE9-451E-DE61442BDE07}"/>
              </a:ext>
            </a:extLst>
          </p:cNvPr>
          <p:cNvSpPr txBox="1"/>
          <p:nvPr/>
        </p:nvSpPr>
        <p:spPr>
          <a:xfrm>
            <a:off x="4495800" y="3454400"/>
            <a:ext cx="3200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2 · Gouvernance</a:t>
            </a:r>
          </a:p>
        </p:txBody>
      </p:sp>
      <p:sp>
        <p:nvSpPr>
          <p:cNvPr id="12" name="ZoneTexte 11">
            <a:extLst>
              <a:ext uri="{FF2B5EF4-FFF2-40B4-BE49-F238E27FC236}">
                <a16:creationId xmlns:a16="http://schemas.microsoft.com/office/drawing/2014/main" id="{CBE42C94-478F-4D20-BACC-288E71C78364}"/>
              </a:ext>
            </a:extLst>
          </p:cNvPr>
          <p:cNvSpPr txBox="1"/>
          <p:nvPr/>
        </p:nvSpPr>
        <p:spPr>
          <a:xfrm>
            <a:off x="4495800" y="3784600"/>
            <a:ext cx="3200400" cy="830997"/>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Constat : les roles entre data, IT, metier et exploitation ne sont pas formalises. Ma reponse : une matrice RACI avec un seul responsable par activite, et un comite d'arbitrage hebdomadaire.</a:t>
            </a:r>
          </a:p>
        </p:txBody>
      </p:sp>
      <p:sp>
        <p:nvSpPr>
          <p:cNvPr id="13" name="Rectangle : coins arrondis 12">
            <a:extLst>
              <a:ext uri="{FF2B5EF4-FFF2-40B4-BE49-F238E27FC236}">
                <a16:creationId xmlns:a16="http://schemas.microsoft.com/office/drawing/2014/main" id="{C482BCD1-27D9-A272-ABD5-0E7859849E14}"/>
              </a:ext>
            </a:extLst>
          </p:cNvPr>
          <p:cNvSpPr/>
          <p:nvPr/>
        </p:nvSpPr>
        <p:spPr>
          <a:xfrm>
            <a:off x="8178800" y="3327400"/>
            <a:ext cx="3556000" cy="266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A846BCE4-80ED-8F1B-9F37-58FC41600FA9}"/>
              </a:ext>
            </a:extLst>
          </p:cNvPr>
          <p:cNvSpPr txBox="1"/>
          <p:nvPr/>
        </p:nvSpPr>
        <p:spPr>
          <a:xfrm>
            <a:off x="8356600" y="3454400"/>
            <a:ext cx="3200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3 · Accompagnement</a:t>
            </a:r>
          </a:p>
        </p:txBody>
      </p:sp>
      <p:sp>
        <p:nvSpPr>
          <p:cNvPr id="15" name="ZoneTexte 14">
            <a:extLst>
              <a:ext uri="{FF2B5EF4-FFF2-40B4-BE49-F238E27FC236}">
                <a16:creationId xmlns:a16="http://schemas.microsoft.com/office/drawing/2014/main" id="{867C4343-9811-1330-7B02-49F7F7E8B9A7}"/>
              </a:ext>
            </a:extLst>
          </p:cNvPr>
          <p:cNvSpPr txBox="1"/>
          <p:nvPr/>
        </p:nvSpPr>
        <p:spPr>
          <a:xfrm>
            <a:off x="8356600" y="3784600"/>
            <a:ext cx="3200400" cy="830997"/>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Constat : les utilisateurs demandent formation, lisibilite et support. Ma reponse : un parcours court et accessible, adapte a chacun des 4 profils, et un support perenne en 2 niveaux.</a:t>
            </a:r>
          </a:p>
        </p:txBody>
      </p:sp>
      <p:sp>
        <p:nvSpPr>
          <p:cNvPr id="16" name="ZoneTexte 15">
            <a:extLst>
              <a:ext uri="{FF2B5EF4-FFF2-40B4-BE49-F238E27FC236}">
                <a16:creationId xmlns:a16="http://schemas.microsoft.com/office/drawing/2014/main" id="{124062D3-2A72-8AD0-1DA9-0C1BB8CF28FA}"/>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17" name="ZoneTexte 16">
            <a:extLst>
              <a:ext uri="{FF2B5EF4-FFF2-40B4-BE49-F238E27FC236}">
                <a16:creationId xmlns:a16="http://schemas.microsoft.com/office/drawing/2014/main" id="{24998AC9-5666-8889-461E-C68C10ADF0F5}"/>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1 / 9</a:t>
            </a:r>
          </a:p>
        </p:txBody>
      </p:sp>
    </p:spTree>
    <p:extLst>
      <p:ext uri="{BB962C8B-B14F-4D97-AF65-F5344CB8AC3E}">
        <p14:creationId xmlns:p14="http://schemas.microsoft.com/office/powerpoint/2010/main" val="16388663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4523AB-F721-DBFE-B67E-5D6DCDDFD125}"/>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934609ED-7678-0E75-6058-15ACA929E35B}"/>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Planning : 12 semaines, 4 phases, 5 jalons</a:t>
            </a:r>
          </a:p>
        </p:txBody>
      </p:sp>
      <p:sp>
        <p:nvSpPr>
          <p:cNvPr id="4" name="ZoneTexte 3">
            <a:extLst>
              <a:ext uri="{FF2B5EF4-FFF2-40B4-BE49-F238E27FC236}">
                <a16:creationId xmlns:a16="http://schemas.microsoft.com/office/drawing/2014/main" id="{F46ACAA3-254F-0880-FFD5-F0B41C6C4264}"/>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Un calendrier cale sur les dependances reelles, valide au jalon J1</a:t>
            </a:r>
          </a:p>
        </p:txBody>
      </p:sp>
      <p:sp>
        <p:nvSpPr>
          <p:cNvPr id="5" name="ZoneTexte 4">
            <a:extLst>
              <a:ext uri="{FF2B5EF4-FFF2-40B4-BE49-F238E27FC236}">
                <a16:creationId xmlns:a16="http://schemas.microsoft.com/office/drawing/2014/main" id="{377FF2C6-D1A7-E81F-5CBF-FF722646823E}"/>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B33B90FA-14EB-36C0-2100-21A4B34C5D43}"/>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2 / 9</a:t>
            </a:r>
          </a:p>
        </p:txBody>
      </p:sp>
      <p:graphicFrame>
        <p:nvGraphicFramePr>
          <p:cNvPr id="7" name="Tableau 6">
            <a:extLst>
              <a:ext uri="{FF2B5EF4-FFF2-40B4-BE49-F238E27FC236}">
                <a16:creationId xmlns:a16="http://schemas.microsoft.com/office/drawing/2014/main" id="{1D77FC42-5865-5AE8-CBFB-5601A682526A}"/>
              </a:ext>
            </a:extLst>
          </p:cNvPr>
          <p:cNvGraphicFramePr>
            <a:graphicFrameLocks noGrp="1"/>
          </p:cNvGraphicFramePr>
          <p:nvPr>
            <p:extLst>
              <p:ext uri="{D42A27DB-BD31-4B8C-83A1-F6EECF244321}">
                <p14:modId xmlns:p14="http://schemas.microsoft.com/office/powerpoint/2010/main" val="70040329"/>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1869130423"/>
                    </a:ext>
                  </a:extLst>
                </a:gridCol>
                <a:gridCol w="1016000">
                  <a:extLst>
                    <a:ext uri="{9D8B030D-6E8A-4147-A177-3AD203B41FA5}">
                      <a16:colId xmlns:a16="http://schemas.microsoft.com/office/drawing/2014/main" val="4258807219"/>
                    </a:ext>
                  </a:extLst>
                </a:gridCol>
                <a:gridCol w="3556000">
                  <a:extLst>
                    <a:ext uri="{9D8B030D-6E8A-4147-A177-3AD203B41FA5}">
                      <a16:colId xmlns:a16="http://schemas.microsoft.com/office/drawing/2014/main" val="3630518637"/>
                    </a:ext>
                  </a:extLst>
                </a:gridCol>
                <a:gridCol w="2921000">
                  <a:extLst>
                    <a:ext uri="{9D8B030D-6E8A-4147-A177-3AD203B41FA5}">
                      <a16:colId xmlns:a16="http://schemas.microsoft.com/office/drawing/2014/main" val="4078476513"/>
                    </a:ext>
                  </a:extLst>
                </a:gridCol>
                <a:gridCol w="1244600">
                  <a:extLst>
                    <a:ext uri="{9D8B030D-6E8A-4147-A177-3AD203B41FA5}">
                      <a16:colId xmlns:a16="http://schemas.microsoft.com/office/drawing/2014/main" val="408559360"/>
                    </a:ext>
                  </a:extLst>
                </a:gridCol>
              </a:tblGrid>
              <a:tr h="508000">
                <a:tc>
                  <a:txBody>
                    <a:bodyPr/>
                    <a:lstStyle/>
                    <a:p>
                      <a:r>
                        <a:rPr lang="fr-FR" sz="1200" b="1">
                          <a:solidFill>
                            <a:srgbClr val="FFFFFF"/>
                          </a:solidFill>
                          <a:latin typeface="Calibri" panose="020F0502020204030204" pitchFamily="34" charset="0"/>
                        </a:rPr>
                        <a:t>Phase</a:t>
                      </a:r>
                    </a:p>
                  </a:txBody>
                  <a:tcPr>
                    <a:solidFill>
                      <a:srgbClr val="1A5276"/>
                    </a:solidFill>
                  </a:tcPr>
                </a:tc>
                <a:tc>
                  <a:txBody>
                    <a:bodyPr/>
                    <a:lstStyle/>
                    <a:p>
                      <a:r>
                        <a:rPr lang="fr-FR" sz="1200" b="1">
                          <a:solidFill>
                            <a:srgbClr val="FFFFFF"/>
                          </a:solidFill>
                          <a:latin typeface="Calibri" panose="020F0502020204030204" pitchFamily="34" charset="0"/>
                        </a:rPr>
                        <a:t>Semaines</a:t>
                      </a:r>
                    </a:p>
                  </a:txBody>
                  <a:tcPr>
                    <a:solidFill>
                      <a:srgbClr val="1A5276"/>
                    </a:solidFill>
                  </a:tcPr>
                </a:tc>
                <a:tc>
                  <a:txBody>
                    <a:bodyPr/>
                    <a:lstStyle/>
                    <a:p>
                      <a:r>
                        <a:rPr lang="fr-FR" sz="1200" b="1">
                          <a:solidFill>
                            <a:srgbClr val="FFFFFF"/>
                          </a:solidFill>
                          <a:latin typeface="Calibri" panose="020F0502020204030204" pitchFamily="34" charset="0"/>
                        </a:rPr>
                        <a:t>Objectif</a:t>
                      </a:r>
                    </a:p>
                  </a:txBody>
                  <a:tcPr>
                    <a:solidFill>
                      <a:srgbClr val="1A5276"/>
                    </a:solidFill>
                  </a:tcPr>
                </a:tc>
                <a:tc>
                  <a:txBody>
                    <a:bodyPr/>
                    <a:lstStyle/>
                    <a:p>
                      <a:r>
                        <a:rPr lang="fr-FR" sz="1200" b="1">
                          <a:solidFill>
                            <a:srgbClr val="FFFFFF"/>
                          </a:solidFill>
                          <a:latin typeface="Calibri" panose="020F0502020204030204" pitchFamily="34" charset="0"/>
                        </a:rPr>
                        <a:t>Jalon</a:t>
                      </a:r>
                    </a:p>
                  </a:txBody>
                  <a:tcPr>
                    <a:solidFill>
                      <a:srgbClr val="1A5276"/>
                    </a:solidFill>
                  </a:tcPr>
                </a:tc>
                <a:tc>
                  <a:txBody>
                    <a:bodyPr/>
                    <a:lstStyle/>
                    <a:p>
                      <a:r>
                        <a:rPr lang="fr-FR" sz="1200" b="1">
                          <a:solidFill>
                            <a:srgbClr val="FFFFFF"/>
                          </a:solidFill>
                          <a:latin typeface="Calibri" panose="020F0502020204030204" pitchFamily="34" charset="0"/>
                        </a:rPr>
                        <a:t>Statut</a:t>
                      </a:r>
                    </a:p>
                  </a:txBody>
                  <a:tcPr>
                    <a:solidFill>
                      <a:srgbClr val="1A5276"/>
                    </a:solidFill>
                  </a:tcPr>
                </a:tc>
                <a:extLst>
                  <a:ext uri="{0D108BD9-81ED-4DB2-BD59-A6C34878D82A}">
                    <a16:rowId xmlns:a16="http://schemas.microsoft.com/office/drawing/2014/main" val="3753699613"/>
                  </a:ext>
                </a:extLst>
              </a:tr>
              <a:tr h="508000">
                <a:tc>
                  <a:txBody>
                    <a:bodyPr/>
                    <a:lstStyle/>
                    <a:p>
                      <a:r>
                        <a:rPr lang="fr-FR" sz="1200" b="0">
                          <a:solidFill>
                            <a:srgbClr val="212121"/>
                          </a:solidFill>
                          <a:latin typeface="Calibri" panose="020F0502020204030204" pitchFamily="34" charset="0"/>
                        </a:rPr>
                        <a:t>Cadrage et gouvernance</a:t>
                      </a:r>
                    </a:p>
                  </a:txBody>
                  <a:tcPr>
                    <a:solidFill>
                      <a:srgbClr val="FFFFFF"/>
                    </a:solidFill>
                  </a:tcPr>
                </a:tc>
                <a:tc>
                  <a:txBody>
                    <a:bodyPr/>
                    <a:lstStyle/>
                    <a:p>
                      <a:r>
                        <a:rPr lang="fr-FR" sz="1200" b="0">
                          <a:solidFill>
                            <a:srgbClr val="212121"/>
                          </a:solidFill>
                          <a:latin typeface="Calibri" panose="020F0502020204030204" pitchFamily="34" charset="0"/>
                        </a:rPr>
                        <a:t>S1 a S2</a:t>
                      </a:r>
                    </a:p>
                  </a:txBody>
                  <a:tcPr>
                    <a:solidFill>
                      <a:srgbClr val="FFFFFF"/>
                    </a:solidFill>
                  </a:tcPr>
                </a:tc>
                <a:tc>
                  <a:txBody>
                    <a:bodyPr/>
                    <a:lstStyle/>
                    <a:p>
                      <a:r>
                        <a:rPr lang="fr-FR" sz="1200" b="0">
                          <a:solidFill>
                            <a:srgbClr val="212121"/>
                          </a:solidFill>
                          <a:latin typeface="Calibri" panose="020F0502020204030204" pitchFamily="34" charset="0"/>
                        </a:rPr>
                        <a:t>Installer les regles du jeu : RACI, comite, indicateurs</a:t>
                      </a:r>
                    </a:p>
                  </a:txBody>
                  <a:tcPr>
                    <a:solidFill>
                      <a:srgbClr val="FFFFFF"/>
                    </a:solidFill>
                  </a:tcPr>
                </a:tc>
                <a:tc>
                  <a:txBody>
                    <a:bodyPr/>
                    <a:lstStyle/>
                    <a:p>
                      <a:r>
                        <a:rPr lang="fr-FR" sz="1200" b="0">
                          <a:solidFill>
                            <a:srgbClr val="212121"/>
                          </a:solidFill>
                          <a:latin typeface="Calibri" panose="020F0502020204030204" pitchFamily="34" charset="0"/>
                        </a:rPr>
                        <a:t>J1 : gouvernance validee</a:t>
                      </a:r>
                    </a:p>
                  </a:txBody>
                  <a:tcPr>
                    <a:solidFill>
                      <a:srgbClr val="FFFFFF"/>
                    </a:solidFill>
                  </a:tcPr>
                </a:tc>
                <a:tc>
                  <a:txBody>
                    <a:bodyPr/>
                    <a:lstStyle/>
                    <a:p>
                      <a:r>
                        <a:rPr lang="fr-FR" sz="1200" b="0">
                          <a:solidFill>
                            <a:srgbClr val="212121"/>
                          </a:solidFill>
                          <a:latin typeface="Calibri" panose="020F0502020204030204" pitchFamily="34" charset="0"/>
                        </a:rPr>
                        <a:t>VERT, en cours</a:t>
                      </a:r>
                    </a:p>
                  </a:txBody>
                  <a:tcPr>
                    <a:solidFill>
                      <a:srgbClr val="FFFFFF"/>
                    </a:solidFill>
                  </a:tcPr>
                </a:tc>
                <a:extLst>
                  <a:ext uri="{0D108BD9-81ED-4DB2-BD59-A6C34878D82A}">
                    <a16:rowId xmlns:a16="http://schemas.microsoft.com/office/drawing/2014/main" val="4138882967"/>
                  </a:ext>
                </a:extLst>
              </a:tr>
              <a:tr h="508000">
                <a:tc>
                  <a:txBody>
                    <a:bodyPr/>
                    <a:lstStyle/>
                    <a:p>
                      <a:r>
                        <a:rPr lang="fr-FR" sz="1200" b="0">
                          <a:solidFill>
                            <a:srgbClr val="212121"/>
                          </a:solidFill>
                          <a:latin typeface="Calibri" panose="020F0502020204030204" pitchFamily="34" charset="0"/>
                        </a:rPr>
                        <a:t>Iterations produit (3 sprints)</a:t>
                      </a:r>
                    </a:p>
                  </a:txBody>
                  <a:tcPr>
                    <a:solidFill>
                      <a:srgbClr val="EEF3F8"/>
                    </a:solidFill>
                  </a:tcPr>
                </a:tc>
                <a:tc>
                  <a:txBody>
                    <a:bodyPr/>
                    <a:lstStyle/>
                    <a:p>
                      <a:r>
                        <a:rPr lang="fr-FR" sz="1200" b="0">
                          <a:solidFill>
                            <a:srgbClr val="212121"/>
                          </a:solidFill>
                          <a:latin typeface="Calibri" panose="020F0502020204030204" pitchFamily="34" charset="0"/>
                        </a:rPr>
                        <a:t>S3 a S8</a:t>
                      </a:r>
                    </a:p>
                  </a:txBody>
                  <a:tcPr>
                    <a:solidFill>
                      <a:srgbClr val="EEF3F8"/>
                    </a:solidFill>
                  </a:tcPr>
                </a:tc>
                <a:tc>
                  <a:txBody>
                    <a:bodyPr/>
                    <a:lstStyle/>
                    <a:p>
                      <a:r>
                        <a:rPr lang="fr-FR" sz="1200" b="0">
                          <a:solidFill>
                            <a:srgbClr val="212121"/>
                          </a:solidFill>
                          <a:latin typeface="Calibri" panose="020F0502020204030204" pitchFamily="34" charset="0"/>
                        </a:rPr>
                        <a:t>Livrer les evolutions prioritaires du backlog</a:t>
                      </a:r>
                    </a:p>
                  </a:txBody>
                  <a:tcPr>
                    <a:solidFill>
                      <a:srgbClr val="EEF3F8"/>
                    </a:solidFill>
                  </a:tcPr>
                </a:tc>
                <a:tc>
                  <a:txBody>
                    <a:bodyPr/>
                    <a:lstStyle/>
                    <a:p>
                      <a:r>
                        <a:rPr lang="fr-FR" sz="1200" b="0">
                          <a:solidFill>
                            <a:srgbClr val="212121"/>
                          </a:solidFill>
                          <a:latin typeface="Calibri" panose="020F0502020204030204" pitchFamily="34" charset="0"/>
                        </a:rPr>
                        <a:t>J2 : reporting en place  ·  J3 : produit pret</a:t>
                      </a:r>
                    </a:p>
                  </a:txBody>
                  <a:tcPr>
                    <a:solidFill>
                      <a:srgbClr val="EEF3F8"/>
                    </a:solidFill>
                  </a:tcPr>
                </a:tc>
                <a:tc>
                  <a:txBody>
                    <a:bodyPr/>
                    <a:lstStyle/>
                    <a:p>
                      <a:r>
                        <a:rPr lang="fr-FR" sz="1200" b="0">
                          <a:solidFill>
                            <a:srgbClr val="212121"/>
                          </a:solidFill>
                          <a:latin typeface="Calibri" panose="020F0502020204030204" pitchFamily="34" charset="0"/>
                        </a:rPr>
                        <a:t>A venir</a:t>
                      </a:r>
                    </a:p>
                  </a:txBody>
                  <a:tcPr>
                    <a:solidFill>
                      <a:srgbClr val="EEF3F8"/>
                    </a:solidFill>
                  </a:tcPr>
                </a:tc>
                <a:extLst>
                  <a:ext uri="{0D108BD9-81ED-4DB2-BD59-A6C34878D82A}">
                    <a16:rowId xmlns:a16="http://schemas.microsoft.com/office/drawing/2014/main" val="2737109649"/>
                  </a:ext>
                </a:extLst>
              </a:tr>
              <a:tr h="508000">
                <a:tc>
                  <a:txBody>
                    <a:bodyPr/>
                    <a:lstStyle/>
                    <a:p>
                      <a:r>
                        <a:rPr lang="fr-FR" sz="1200" b="0">
                          <a:solidFill>
                            <a:srgbClr val="212121"/>
                          </a:solidFill>
                          <a:latin typeface="Calibri" panose="020F0502020204030204" pitchFamily="34" charset="0"/>
                        </a:rPr>
                        <a:t>Accompagnement et formation</a:t>
                      </a:r>
                    </a:p>
                  </a:txBody>
                  <a:tcPr>
                    <a:solidFill>
                      <a:srgbClr val="FFFFFF"/>
                    </a:solidFill>
                  </a:tcPr>
                </a:tc>
                <a:tc>
                  <a:txBody>
                    <a:bodyPr/>
                    <a:lstStyle/>
                    <a:p>
                      <a:r>
                        <a:rPr lang="fr-FR" sz="1200" b="0">
                          <a:solidFill>
                            <a:srgbClr val="212121"/>
                          </a:solidFill>
                          <a:latin typeface="Calibri" panose="020F0502020204030204" pitchFamily="34" charset="0"/>
                        </a:rPr>
                        <a:t>S6 a S10</a:t>
                      </a:r>
                    </a:p>
                  </a:txBody>
                  <a:tcPr>
                    <a:solidFill>
                      <a:srgbClr val="FFFFFF"/>
                    </a:solidFill>
                  </a:tcPr>
                </a:tc>
                <a:tc>
                  <a:txBody>
                    <a:bodyPr/>
                    <a:lstStyle/>
                    <a:p>
                      <a:r>
                        <a:rPr lang="fr-FR" sz="1200" b="0">
                          <a:solidFill>
                            <a:srgbClr val="212121"/>
                          </a:solidFill>
                          <a:latin typeface="Calibri" panose="020F0502020204030204" pitchFamily="34" charset="0"/>
                        </a:rPr>
                        <a:t>Former 100 % des profils, supports accessibles</a:t>
                      </a:r>
                    </a:p>
                  </a:txBody>
                  <a:tcPr>
                    <a:solidFill>
                      <a:srgbClr val="FFFFFF"/>
                    </a:solidFill>
                  </a:tcPr>
                </a:tc>
                <a:tc>
                  <a:txBody>
                    <a:bodyPr/>
                    <a:lstStyle/>
                    <a:p>
                      <a:r>
                        <a:rPr lang="fr-FR" sz="1200" b="0">
                          <a:solidFill>
                            <a:srgbClr val="212121"/>
                          </a:solidFill>
                          <a:latin typeface="Calibri" panose="020F0502020204030204" pitchFamily="34" charset="0"/>
                        </a:rPr>
                        <a:t>J4 : tous formes, satisfaction 4/5 min.</a:t>
                      </a:r>
                    </a:p>
                  </a:txBody>
                  <a:tcPr>
                    <a:solidFill>
                      <a:srgbClr val="FFFFFF"/>
                    </a:solidFill>
                  </a:tcPr>
                </a:tc>
                <a:tc>
                  <a:txBody>
                    <a:bodyPr/>
                    <a:lstStyle/>
                    <a:p>
                      <a:r>
                        <a:rPr lang="fr-FR" sz="1200" b="0">
                          <a:solidFill>
                            <a:srgbClr val="212121"/>
                          </a:solidFill>
                          <a:latin typeface="Calibri" panose="020F0502020204030204" pitchFamily="34" charset="0"/>
                        </a:rPr>
                        <a:t>A venir</a:t>
                      </a:r>
                    </a:p>
                  </a:txBody>
                  <a:tcPr>
                    <a:solidFill>
                      <a:srgbClr val="FFFFFF"/>
                    </a:solidFill>
                  </a:tcPr>
                </a:tc>
                <a:extLst>
                  <a:ext uri="{0D108BD9-81ED-4DB2-BD59-A6C34878D82A}">
                    <a16:rowId xmlns:a16="http://schemas.microsoft.com/office/drawing/2014/main" val="3926319744"/>
                  </a:ext>
                </a:extLst>
              </a:tr>
              <a:tr h="508000">
                <a:tc>
                  <a:txBody>
                    <a:bodyPr/>
                    <a:lstStyle/>
                    <a:p>
                      <a:r>
                        <a:rPr lang="fr-FR" sz="1200" b="0">
                          <a:solidFill>
                            <a:srgbClr val="212121"/>
                          </a:solidFill>
                          <a:latin typeface="Calibri" panose="020F0502020204030204" pitchFamily="34" charset="0"/>
                        </a:rPr>
                        <a:t>Deploiement pilote</a:t>
                      </a:r>
                    </a:p>
                  </a:txBody>
                  <a:tcPr>
                    <a:solidFill>
                      <a:srgbClr val="EEF3F8"/>
                    </a:solidFill>
                  </a:tcPr>
                </a:tc>
                <a:tc>
                  <a:txBody>
                    <a:bodyPr/>
                    <a:lstStyle/>
                    <a:p>
                      <a:r>
                        <a:rPr lang="fr-FR" sz="1200" b="0">
                          <a:solidFill>
                            <a:srgbClr val="212121"/>
                          </a:solidFill>
                          <a:latin typeface="Calibri" panose="020F0502020204030204" pitchFamily="34" charset="0"/>
                        </a:rPr>
                        <a:t>S11 a S12</a:t>
                      </a:r>
                    </a:p>
                  </a:txBody>
                  <a:tcPr>
                    <a:solidFill>
                      <a:srgbClr val="EEF3F8"/>
                    </a:solidFill>
                  </a:tcPr>
                </a:tc>
                <a:tc>
                  <a:txBody>
                    <a:bodyPr/>
                    <a:lstStyle/>
                    <a:p>
                      <a:r>
                        <a:rPr lang="fr-FR" sz="1200" b="0">
                          <a:solidFill>
                            <a:srgbClr val="212121"/>
                          </a:solidFill>
                          <a:latin typeface="Calibri" panose="020F0502020204030204" pitchFamily="34" charset="0"/>
                        </a:rPr>
                        <a:t>Mesurer l'adoption en conditions reelles</a:t>
                      </a:r>
                    </a:p>
                  </a:txBody>
                  <a:tcPr>
                    <a:solidFill>
                      <a:srgbClr val="EEF3F8"/>
                    </a:solidFill>
                  </a:tcPr>
                </a:tc>
                <a:tc>
                  <a:txBody>
                    <a:bodyPr/>
                    <a:lstStyle/>
                    <a:p>
                      <a:r>
                        <a:rPr lang="pl-PL" sz="1200" b="0">
                          <a:solidFill>
                            <a:srgbClr val="212121"/>
                          </a:solidFill>
                          <a:latin typeface="Calibri" panose="020F0502020204030204" pitchFamily="34" charset="0"/>
                        </a:rPr>
                        <a:t>J5 : bilan et go/no-go</a:t>
                      </a:r>
                      <a:endParaRPr lang="fr-FR" sz="1200" b="0">
                        <a:solidFill>
                          <a:srgbClr val="212121"/>
                        </a:solidFill>
                        <a:latin typeface="Calibri" panose="020F0502020204030204" pitchFamily="34" charset="0"/>
                      </a:endParaRPr>
                    </a:p>
                  </a:txBody>
                  <a:tcPr>
                    <a:solidFill>
                      <a:srgbClr val="EEF3F8"/>
                    </a:solidFill>
                  </a:tcPr>
                </a:tc>
                <a:tc>
                  <a:txBody>
                    <a:bodyPr/>
                    <a:lstStyle/>
                    <a:p>
                      <a:r>
                        <a:rPr lang="fr-FR" sz="1200" b="0">
                          <a:solidFill>
                            <a:srgbClr val="212121"/>
                          </a:solidFill>
                          <a:latin typeface="Calibri" panose="020F0502020204030204" pitchFamily="34" charset="0"/>
                        </a:rPr>
                        <a:t>A venir</a:t>
                      </a:r>
                    </a:p>
                  </a:txBody>
                  <a:tcPr>
                    <a:solidFill>
                      <a:srgbClr val="EEF3F8"/>
                    </a:solidFill>
                  </a:tcPr>
                </a:tc>
                <a:extLst>
                  <a:ext uri="{0D108BD9-81ED-4DB2-BD59-A6C34878D82A}">
                    <a16:rowId xmlns:a16="http://schemas.microsoft.com/office/drawing/2014/main" val="1249732724"/>
                  </a:ext>
                </a:extLst>
              </a:tr>
            </a:tbl>
          </a:graphicData>
        </a:graphic>
      </p:graphicFrame>
      <p:sp>
        <p:nvSpPr>
          <p:cNvPr id="8" name="ZoneTexte 7">
            <a:extLst>
              <a:ext uri="{FF2B5EF4-FFF2-40B4-BE49-F238E27FC236}">
                <a16:creationId xmlns:a16="http://schemas.microsoft.com/office/drawing/2014/main" id="{E50FBAD2-FB4B-C4DB-94B3-6AE0FE177BEE}"/>
              </a:ext>
            </a:extLst>
          </p:cNvPr>
          <p:cNvSpPr txBox="1"/>
          <p:nvPr/>
        </p:nvSpPr>
        <p:spPr>
          <a:xfrm>
            <a:off x="457200" y="41910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Les formations se terminent avant le pilote (S10) : un pilote avec des utilisateurs non formes mesurerait l'echec de la formation, pas la valeur de l'outil. Les phases produit et formation se chevauchent volontairement : les agents ont peu de temps disponible, donc les formations s'etalent sur 5 semaines. L'ordre des taches suit les dependances : les roles avant la procedure d'escalade, les indicateurs avant le reporting, la qualite des donnees avant les tendances par ligne.</a:t>
            </a:r>
          </a:p>
        </p:txBody>
      </p:sp>
    </p:spTree>
    <p:extLst>
      <p:ext uri="{BB962C8B-B14F-4D97-AF65-F5344CB8AC3E}">
        <p14:creationId xmlns:p14="http://schemas.microsoft.com/office/powerpoint/2010/main" val="2237835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0EF4D39-DA67-E2B8-C7B5-833EF982027E}"/>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66ECE413-2005-1E17-92A9-B725FBDB310F}"/>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Gouvernance : qui decide quoi</a:t>
            </a:r>
          </a:p>
        </p:txBody>
      </p:sp>
      <p:sp>
        <p:nvSpPr>
          <p:cNvPr id="4" name="ZoneTexte 3">
            <a:extLst>
              <a:ext uri="{FF2B5EF4-FFF2-40B4-BE49-F238E27FC236}">
                <a16:creationId xmlns:a16="http://schemas.microsoft.com/office/drawing/2014/main" id="{633C71FF-D082-C12E-16AA-81C30852B023}"/>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Une methode hybride, un arbitrage hebdomadaire, un seul responsable par activite</a:t>
            </a:r>
          </a:p>
        </p:txBody>
      </p:sp>
      <p:sp>
        <p:nvSpPr>
          <p:cNvPr id="5" name="ZoneTexte 4">
            <a:extLst>
              <a:ext uri="{FF2B5EF4-FFF2-40B4-BE49-F238E27FC236}">
                <a16:creationId xmlns:a16="http://schemas.microsoft.com/office/drawing/2014/main" id="{88583A43-442F-C13B-FD1F-7F53F2951094}"/>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E9526F15-8E48-A2E4-5EFC-2507A1CC844C}"/>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3 / 9</a:t>
            </a:r>
          </a:p>
        </p:txBody>
      </p:sp>
      <p:sp>
        <p:nvSpPr>
          <p:cNvPr id="7" name="Rectangle : coins arrondis 6">
            <a:extLst>
              <a:ext uri="{FF2B5EF4-FFF2-40B4-BE49-F238E27FC236}">
                <a16:creationId xmlns:a16="http://schemas.microsoft.com/office/drawing/2014/main" id="{61E1D4BA-ECCA-5438-897D-B0789C568F73}"/>
              </a:ext>
            </a:extLst>
          </p:cNvPr>
          <p:cNvSpPr/>
          <p:nvPr/>
        </p:nvSpPr>
        <p:spPr>
          <a:xfrm>
            <a:off x="457200" y="1016000"/>
            <a:ext cx="5461000" cy="16256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A6927510-2142-5FDD-C982-560155D7D810}"/>
              </a:ext>
            </a:extLst>
          </p:cNvPr>
          <p:cNvSpPr txBox="1"/>
          <p:nvPr/>
        </p:nvSpPr>
        <p:spPr>
          <a:xfrm>
            <a:off x="6350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METHODE HYBRIDE</a:t>
            </a:r>
          </a:p>
        </p:txBody>
      </p:sp>
      <p:sp>
        <p:nvSpPr>
          <p:cNvPr id="9" name="ZoneTexte 8">
            <a:extLst>
              <a:ext uri="{FF2B5EF4-FFF2-40B4-BE49-F238E27FC236}">
                <a16:creationId xmlns:a16="http://schemas.microsoft.com/office/drawing/2014/main" id="{21436CC2-09B1-6C41-A525-9A89BEC4A32F}"/>
              </a:ext>
            </a:extLst>
          </p:cNvPr>
          <p:cNvSpPr txBox="1"/>
          <p:nvPr/>
        </p:nvSpPr>
        <p:spPr>
          <a:xfrm>
            <a:off x="6350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Produit : 3 sprints de 2 semaines, une cadence previsible et lisible pour la direction. Support : des demandes imprevisibles, traitees en continu dans une file de priorites limitee. Deux natures de travail, deux modes adaptes.</a:t>
            </a:r>
          </a:p>
        </p:txBody>
      </p:sp>
      <p:sp>
        <p:nvSpPr>
          <p:cNvPr id="10" name="Rectangle : coins arrondis 9">
            <a:extLst>
              <a:ext uri="{FF2B5EF4-FFF2-40B4-BE49-F238E27FC236}">
                <a16:creationId xmlns:a16="http://schemas.microsoft.com/office/drawing/2014/main" id="{24ECA930-1113-62E2-A663-6E48637ADEF7}"/>
              </a:ext>
            </a:extLst>
          </p:cNvPr>
          <p:cNvSpPr/>
          <p:nvPr/>
        </p:nvSpPr>
        <p:spPr>
          <a:xfrm>
            <a:off x="6273800" y="1016000"/>
            <a:ext cx="5461000" cy="16256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912A5E38-37F9-F3BF-4FD8-B267FB7BD798}"/>
              </a:ext>
            </a:extLst>
          </p:cNvPr>
          <p:cNvSpPr txBox="1"/>
          <p:nvPr/>
        </p:nvSpPr>
        <p:spPr>
          <a:xfrm>
            <a:off x="64516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COMITE D'ARBITRAGE HEBDOMADAIRE</a:t>
            </a:r>
          </a:p>
        </p:txBody>
      </p:sp>
      <p:sp>
        <p:nvSpPr>
          <p:cNvPr id="12" name="ZoneTexte 11">
            <a:extLst>
              <a:ext uri="{FF2B5EF4-FFF2-40B4-BE49-F238E27FC236}">
                <a16:creationId xmlns:a16="http://schemas.microsoft.com/office/drawing/2014/main" id="{07143F40-EE66-3829-F0BE-126B3D24E82E}"/>
              </a:ext>
            </a:extLst>
          </p:cNvPr>
          <p:cNvSpPr txBox="1"/>
          <p:nvPr/>
        </p:nvSpPr>
        <p:spPr>
          <a:xfrm>
            <a:off x="64516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PO, Lead Data et referent metier, 30 minutes chaque lundi : les conflits de priorites se reglent en jours, pas en mois. Exemple : export CSV ou alertes lisibles en premier ? Le PO tranche, eclaire par mes analyses de charge.</a:t>
            </a:r>
          </a:p>
        </p:txBody>
      </p:sp>
      <p:graphicFrame>
        <p:nvGraphicFramePr>
          <p:cNvPr id="13" name="Tableau 12">
            <a:extLst>
              <a:ext uri="{FF2B5EF4-FFF2-40B4-BE49-F238E27FC236}">
                <a16:creationId xmlns:a16="http://schemas.microsoft.com/office/drawing/2014/main" id="{1CAA91AA-FEEC-7FF3-4888-ED3B272C97D3}"/>
              </a:ext>
            </a:extLst>
          </p:cNvPr>
          <p:cNvGraphicFramePr>
            <a:graphicFrameLocks noGrp="1"/>
          </p:cNvGraphicFramePr>
          <p:nvPr>
            <p:extLst>
              <p:ext uri="{D42A27DB-BD31-4B8C-83A1-F6EECF244321}">
                <p14:modId xmlns:p14="http://schemas.microsoft.com/office/powerpoint/2010/main" val="2353610496"/>
              </p:ext>
            </p:extLst>
          </p:nvPr>
        </p:nvGraphicFramePr>
        <p:xfrm>
          <a:off x="457200" y="2844800"/>
          <a:ext cx="11277600" cy="2032000"/>
        </p:xfrm>
        <a:graphic>
          <a:graphicData uri="http://schemas.openxmlformats.org/drawingml/2006/table">
            <a:tbl>
              <a:tblPr firstRow="1" bandRow="1">
                <a:tableStyleId>{5C22544A-7EE6-4342-B048-85BDC9FD1C3A}</a:tableStyleId>
              </a:tblPr>
              <a:tblGrid>
                <a:gridCol w="2794000">
                  <a:extLst>
                    <a:ext uri="{9D8B030D-6E8A-4147-A177-3AD203B41FA5}">
                      <a16:colId xmlns:a16="http://schemas.microsoft.com/office/drawing/2014/main" val="46205537"/>
                    </a:ext>
                  </a:extLst>
                </a:gridCol>
                <a:gridCol w="8483600">
                  <a:extLst>
                    <a:ext uri="{9D8B030D-6E8A-4147-A177-3AD203B41FA5}">
                      <a16:colId xmlns:a16="http://schemas.microsoft.com/office/drawing/2014/main" val="4048944391"/>
                    </a:ext>
                  </a:extLst>
                </a:gridCol>
              </a:tblGrid>
              <a:tr h="508000">
                <a:tc>
                  <a:txBody>
                    <a:bodyPr/>
                    <a:lstStyle/>
                    <a:p>
                      <a:r>
                        <a:rPr lang="fr-FR" sz="1200" b="1">
                          <a:solidFill>
                            <a:srgbClr val="FFFFFF"/>
                          </a:solidFill>
                          <a:latin typeface="Calibri" panose="020F0502020204030204" pitchFamily="34" charset="0"/>
                        </a:rPr>
                        <a:t>Role</a:t>
                      </a:r>
                    </a:p>
                  </a:txBody>
                  <a:tcPr>
                    <a:solidFill>
                      <a:srgbClr val="1A5276"/>
                    </a:solidFill>
                  </a:tcPr>
                </a:tc>
                <a:tc>
                  <a:txBody>
                    <a:bodyPr/>
                    <a:lstStyle/>
                    <a:p>
                      <a:r>
                        <a:rPr lang="fr-FR" sz="1200" b="1">
                          <a:solidFill>
                            <a:srgbClr val="FFFFFF"/>
                          </a:solidFill>
                          <a:latin typeface="Calibri" panose="020F0502020204030204" pitchFamily="34" charset="0"/>
                        </a:rPr>
                        <a:t>Responsabilite dans le projet</a:t>
                      </a:r>
                    </a:p>
                  </a:txBody>
                  <a:tcPr>
                    <a:solidFill>
                      <a:srgbClr val="1A5276"/>
                    </a:solidFill>
                  </a:tcPr>
                </a:tc>
                <a:extLst>
                  <a:ext uri="{0D108BD9-81ED-4DB2-BD59-A6C34878D82A}">
                    <a16:rowId xmlns:a16="http://schemas.microsoft.com/office/drawing/2014/main" val="3501414195"/>
                  </a:ext>
                </a:extLst>
              </a:tr>
              <a:tr h="508000">
                <a:tc>
                  <a:txBody>
                    <a:bodyPr/>
                    <a:lstStyle/>
                    <a:p>
                      <a:r>
                        <a:rPr lang="fr-FR" sz="1200" b="0">
                          <a:solidFill>
                            <a:srgbClr val="212121"/>
                          </a:solidFill>
                          <a:latin typeface="Calibri" panose="020F0502020204030204" pitchFamily="34" charset="0"/>
                        </a:rPr>
                        <a:t>Product Owner</a:t>
                      </a:r>
                    </a:p>
                  </a:txBody>
                  <a:tcPr>
                    <a:solidFill>
                      <a:srgbClr val="FFFFFF"/>
                    </a:solidFill>
                  </a:tcPr>
                </a:tc>
                <a:tc>
                  <a:txBody>
                    <a:bodyPr/>
                    <a:lstStyle/>
                    <a:p>
                      <a:r>
                        <a:rPr lang="fr-FR" sz="1200" b="0">
                          <a:solidFill>
                            <a:srgbClr val="212121"/>
                          </a:solidFill>
                          <a:latin typeface="Calibri" panose="020F0502020204030204" pitchFamily="34" charset="0"/>
                        </a:rPr>
                        <a:t>Priorise le backlog et porte la valeur metier aupres des equipes</a:t>
                      </a:r>
                    </a:p>
                  </a:txBody>
                  <a:tcPr>
                    <a:solidFill>
                      <a:srgbClr val="FFFFFF"/>
                    </a:solidFill>
                  </a:tcPr>
                </a:tc>
                <a:extLst>
                  <a:ext uri="{0D108BD9-81ED-4DB2-BD59-A6C34878D82A}">
                    <a16:rowId xmlns:a16="http://schemas.microsoft.com/office/drawing/2014/main" val="1921739675"/>
                  </a:ext>
                </a:extLst>
              </a:tr>
              <a:tr h="508000">
                <a:tc>
                  <a:txBody>
                    <a:bodyPr/>
                    <a:lstStyle/>
                    <a:p>
                      <a:r>
                        <a:rPr lang="fr-FR" sz="1200" b="0">
                          <a:solidFill>
                            <a:srgbClr val="212121"/>
                          </a:solidFill>
                          <a:latin typeface="Calibri" panose="020F0502020204030204" pitchFamily="34" charset="0"/>
                        </a:rPr>
                        <a:t>Lead Data (moi)</a:t>
                      </a:r>
                    </a:p>
                  </a:txBody>
                  <a:tcPr>
                    <a:solidFill>
                      <a:srgbClr val="EEF3F8"/>
                    </a:solidFill>
                  </a:tcPr>
                </a:tc>
                <a:tc>
                  <a:txBody>
                    <a:bodyPr/>
                    <a:lstStyle/>
                    <a:p>
                      <a:r>
                        <a:rPr lang="fr-FR" sz="1200" b="0">
                          <a:solidFill>
                            <a:srgbClr val="212121"/>
                          </a:solidFill>
                          <a:latin typeface="Calibri" panose="020F0502020204030204" pitchFamily="34" charset="0"/>
                        </a:rPr>
                        <a:t>Planifie le projet, garantit la fiabilite des indicateurs, rend compte a la direction</a:t>
                      </a:r>
                    </a:p>
                  </a:txBody>
                  <a:tcPr>
                    <a:solidFill>
                      <a:srgbClr val="EEF3F8"/>
                    </a:solidFill>
                  </a:tcPr>
                </a:tc>
                <a:extLst>
                  <a:ext uri="{0D108BD9-81ED-4DB2-BD59-A6C34878D82A}">
                    <a16:rowId xmlns:a16="http://schemas.microsoft.com/office/drawing/2014/main" val="3830723419"/>
                  </a:ext>
                </a:extLst>
              </a:tr>
              <a:tr h="508000">
                <a:tc>
                  <a:txBody>
                    <a:bodyPr/>
                    <a:lstStyle/>
                    <a:p>
                      <a:r>
                        <a:rPr lang="fr-FR" sz="1200" b="0">
                          <a:solidFill>
                            <a:srgbClr val="212121"/>
                          </a:solidFill>
                          <a:latin typeface="Calibri" panose="020F0502020204030204" pitchFamily="34" charset="0"/>
                        </a:rPr>
                        <a:t>Referent accessibilite</a:t>
                      </a:r>
                    </a:p>
                  </a:txBody>
                  <a:tcPr>
                    <a:solidFill>
                      <a:srgbClr val="FFFFFF"/>
                    </a:solidFill>
                  </a:tcPr>
                </a:tc>
                <a:tc>
                  <a:txBody>
                    <a:bodyPr/>
                    <a:lstStyle/>
                    <a:p>
                      <a:r>
                        <a:rPr lang="fr-FR" sz="1200" b="0">
                          <a:solidFill>
                            <a:srgbClr val="212121"/>
                          </a:solidFill>
                          <a:latin typeface="Calibri" panose="020F0502020204030204" pitchFamily="34" charset="0"/>
                        </a:rPr>
                        <a:t>Valide l'accessibilite de chaque support avant toute diffusion</a:t>
                      </a:r>
                    </a:p>
                  </a:txBody>
                  <a:tcPr>
                    <a:solidFill>
                      <a:srgbClr val="FFFFFF"/>
                    </a:solidFill>
                  </a:tcPr>
                </a:tc>
                <a:extLst>
                  <a:ext uri="{0D108BD9-81ED-4DB2-BD59-A6C34878D82A}">
                    <a16:rowId xmlns:a16="http://schemas.microsoft.com/office/drawing/2014/main" val="2374700156"/>
                  </a:ext>
                </a:extLst>
              </a:tr>
            </a:tbl>
          </a:graphicData>
        </a:graphic>
      </p:graphicFrame>
      <p:sp>
        <p:nvSpPr>
          <p:cNvPr id="14" name="Rectangle : coins arrondis 13">
            <a:extLst>
              <a:ext uri="{FF2B5EF4-FFF2-40B4-BE49-F238E27FC236}">
                <a16:creationId xmlns:a16="http://schemas.microsoft.com/office/drawing/2014/main" id="{808A698C-0FFF-70CA-F41B-65A3F17091CE}"/>
              </a:ext>
            </a:extLst>
          </p:cNvPr>
          <p:cNvSpPr/>
          <p:nvPr/>
        </p:nvSpPr>
        <p:spPr>
          <a:xfrm>
            <a:off x="457200" y="5613400"/>
            <a:ext cx="11277600" cy="533400"/>
          </a:xfrm>
          <a:prstGeom prst="roundRect">
            <a:avLst/>
          </a:prstGeom>
          <a:solidFill>
            <a:srgbClr val="CA6F1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500" b="1">
                <a:solidFill>
                  <a:srgbClr val="FFFFFF"/>
                </a:solidFill>
                <a:latin typeface="Calibri" panose="020F0502020204030204" pitchFamily="34" charset="0"/>
              </a:rPr>
              <a:t>Decision attendue n°1 : valider ce mode de gouvernance</a:t>
            </a:r>
          </a:p>
        </p:txBody>
      </p:sp>
    </p:spTree>
    <p:extLst>
      <p:ext uri="{BB962C8B-B14F-4D97-AF65-F5344CB8AC3E}">
        <p14:creationId xmlns:p14="http://schemas.microsoft.com/office/powerpoint/2010/main" val="1156594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7433C96-FB86-1D6C-5E1F-80F65C6C7131}"/>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4FF9B6A-FD8B-C000-3AC8-D673CEE1FE10}"/>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Indicateurs : des cibles chiffrees en 4 categories</a:t>
            </a:r>
          </a:p>
        </p:txBody>
      </p:sp>
      <p:sp>
        <p:nvSpPr>
          <p:cNvPr id="4" name="ZoneTexte 3">
            <a:extLst>
              <a:ext uri="{FF2B5EF4-FFF2-40B4-BE49-F238E27FC236}">
                <a16:creationId xmlns:a16="http://schemas.microsoft.com/office/drawing/2014/main" id="{20AA1E9E-C2D4-6B07-49BA-00CDF16F2381}"/>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Adoption, produit, projet, RSE : tous les chiffres proviennent du dossier de la direction</a:t>
            </a:r>
          </a:p>
        </p:txBody>
      </p:sp>
      <p:sp>
        <p:nvSpPr>
          <p:cNvPr id="5" name="ZoneTexte 4">
            <a:extLst>
              <a:ext uri="{FF2B5EF4-FFF2-40B4-BE49-F238E27FC236}">
                <a16:creationId xmlns:a16="http://schemas.microsoft.com/office/drawing/2014/main" id="{C66E8E41-55AC-5BFD-C01C-C6508149DCA7}"/>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504145B5-A3A7-43AA-737A-03A53425884C}"/>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4 / 9</a:t>
            </a:r>
          </a:p>
        </p:txBody>
      </p:sp>
      <p:graphicFrame>
        <p:nvGraphicFramePr>
          <p:cNvPr id="7" name="Tableau 6">
            <a:extLst>
              <a:ext uri="{FF2B5EF4-FFF2-40B4-BE49-F238E27FC236}">
                <a16:creationId xmlns:a16="http://schemas.microsoft.com/office/drawing/2014/main" id="{371AB9A2-EEA4-FA1F-0F83-ECFF51641E50}"/>
              </a:ext>
            </a:extLst>
          </p:cNvPr>
          <p:cNvGraphicFramePr>
            <a:graphicFrameLocks noGrp="1"/>
          </p:cNvGraphicFramePr>
          <p:nvPr>
            <p:extLst>
              <p:ext uri="{D42A27DB-BD31-4B8C-83A1-F6EECF244321}">
                <p14:modId xmlns:p14="http://schemas.microsoft.com/office/powerpoint/2010/main" val="755290840"/>
              </p:ext>
            </p:extLst>
          </p:nvPr>
        </p:nvGraphicFramePr>
        <p:xfrm>
          <a:off x="457200" y="1066800"/>
          <a:ext cx="11277600" cy="3048000"/>
        </p:xfrm>
        <a:graphic>
          <a:graphicData uri="http://schemas.openxmlformats.org/drawingml/2006/table">
            <a:tbl>
              <a:tblPr firstRow="1" bandRow="1">
                <a:tableStyleId>{5C22544A-7EE6-4342-B048-85BDC9FD1C3A}</a:tableStyleId>
              </a:tblPr>
              <a:tblGrid>
                <a:gridCol w="4191000">
                  <a:extLst>
                    <a:ext uri="{9D8B030D-6E8A-4147-A177-3AD203B41FA5}">
                      <a16:colId xmlns:a16="http://schemas.microsoft.com/office/drawing/2014/main" val="3104869892"/>
                    </a:ext>
                  </a:extLst>
                </a:gridCol>
                <a:gridCol w="2413000">
                  <a:extLst>
                    <a:ext uri="{9D8B030D-6E8A-4147-A177-3AD203B41FA5}">
                      <a16:colId xmlns:a16="http://schemas.microsoft.com/office/drawing/2014/main" val="3077908484"/>
                    </a:ext>
                  </a:extLst>
                </a:gridCol>
                <a:gridCol w="2286000">
                  <a:extLst>
                    <a:ext uri="{9D8B030D-6E8A-4147-A177-3AD203B41FA5}">
                      <a16:colId xmlns:a16="http://schemas.microsoft.com/office/drawing/2014/main" val="3993373086"/>
                    </a:ext>
                  </a:extLst>
                </a:gridCol>
                <a:gridCol w="2387600">
                  <a:extLst>
                    <a:ext uri="{9D8B030D-6E8A-4147-A177-3AD203B41FA5}">
                      <a16:colId xmlns:a16="http://schemas.microsoft.com/office/drawing/2014/main" val="1374144893"/>
                    </a:ext>
                  </a:extLst>
                </a:gridCol>
              </a:tblGrid>
              <a:tr h="508000">
                <a:tc>
                  <a:txBody>
                    <a:bodyPr/>
                    <a:lstStyle/>
                    <a:p>
                      <a:r>
                        <a:rPr lang="fr-FR" sz="1200" b="1">
                          <a:solidFill>
                            <a:srgbClr val="FFFFFF"/>
                          </a:solidFill>
                          <a:latin typeface="Calibri" panose="020F0502020204030204" pitchFamily="34" charset="0"/>
                        </a:rPr>
                        <a:t>Indicateur</a:t>
                      </a:r>
                    </a:p>
                  </a:txBody>
                  <a:tcPr>
                    <a:solidFill>
                      <a:srgbClr val="1A5276"/>
                    </a:solidFill>
                  </a:tcPr>
                </a:tc>
                <a:tc>
                  <a:txBody>
                    <a:bodyPr/>
                    <a:lstStyle/>
                    <a:p>
                      <a:r>
                        <a:rPr lang="fr-FR" sz="1200" b="1">
                          <a:solidFill>
                            <a:srgbClr val="FFFFFF"/>
                          </a:solidFill>
                          <a:latin typeface="Calibri" panose="020F0502020204030204" pitchFamily="34" charset="0"/>
                        </a:rPr>
                        <a:t>Aujourd'hui</a:t>
                      </a:r>
                    </a:p>
                  </a:txBody>
                  <a:tcPr>
                    <a:solidFill>
                      <a:srgbClr val="1A5276"/>
                    </a:solidFill>
                  </a:tcPr>
                </a:tc>
                <a:tc>
                  <a:txBody>
                    <a:bodyPr/>
                    <a:lstStyle/>
                    <a:p>
                      <a:r>
                        <a:rPr lang="fr-FR" sz="1200" b="1">
                          <a:solidFill>
                            <a:srgbClr val="FFFFFF"/>
                          </a:solidFill>
                          <a:latin typeface="Calibri" panose="020F0502020204030204" pitchFamily="34" charset="0"/>
                        </a:rPr>
                        <a:t>Cible en S12</a:t>
                      </a:r>
                    </a:p>
                  </a:txBody>
                  <a:tcPr>
                    <a:solidFill>
                      <a:srgbClr val="1A5276"/>
                    </a:solidFill>
                  </a:tcPr>
                </a:tc>
                <a:tc>
                  <a:txBody>
                    <a:bodyPr/>
                    <a:lstStyle/>
                    <a:p>
                      <a:r>
                        <a:rPr lang="fr-FR" sz="1200" b="1">
                          <a:solidFill>
                            <a:srgbClr val="FFFFFF"/>
                          </a:solidFill>
                          <a:latin typeface="Calibri" panose="020F0502020204030204" pitchFamily="34" charset="0"/>
                        </a:rPr>
                        <a:t>Categorie</a:t>
                      </a:r>
                    </a:p>
                  </a:txBody>
                  <a:tcPr>
                    <a:solidFill>
                      <a:srgbClr val="1A5276"/>
                    </a:solidFill>
                  </a:tcPr>
                </a:tc>
                <a:extLst>
                  <a:ext uri="{0D108BD9-81ED-4DB2-BD59-A6C34878D82A}">
                    <a16:rowId xmlns:a16="http://schemas.microsoft.com/office/drawing/2014/main" val="2772261964"/>
                  </a:ext>
                </a:extLst>
              </a:tr>
              <a:tr h="508000">
                <a:tc>
                  <a:txBody>
                    <a:bodyPr/>
                    <a:lstStyle/>
                    <a:p>
                      <a:r>
                        <a:rPr lang="fr-FR" sz="1200" b="0">
                          <a:solidFill>
                            <a:srgbClr val="212121"/>
                          </a:solidFill>
                          <a:latin typeface="Calibri" panose="020F0502020204030204" pitchFamily="34" charset="0"/>
                        </a:rPr>
                        <a:t>Taux d'adoption hebdomadaire</a:t>
                      </a:r>
                    </a:p>
                  </a:txBody>
                  <a:tcPr>
                    <a:solidFill>
                      <a:srgbClr val="FFFFFF"/>
                    </a:solidFill>
                  </a:tcPr>
                </a:tc>
                <a:tc>
                  <a:txBody>
                    <a:bodyPr/>
                    <a:lstStyle/>
                    <a:p>
                      <a:r>
                        <a:rPr lang="fr-FR" sz="1200" b="0">
                          <a:solidFill>
                            <a:srgbClr val="212121"/>
                          </a:solidFill>
                          <a:latin typeface="Calibri" panose="020F0502020204030204" pitchFamily="34" charset="0"/>
                        </a:rPr>
                        <a:t>35 %</a:t>
                      </a:r>
                    </a:p>
                  </a:txBody>
                  <a:tcPr>
                    <a:solidFill>
                      <a:srgbClr val="FFFFFF"/>
                    </a:solidFill>
                  </a:tcPr>
                </a:tc>
                <a:tc>
                  <a:txBody>
                    <a:bodyPr/>
                    <a:lstStyle/>
                    <a:p>
                      <a:r>
                        <a:rPr lang="fr-FR" sz="1200" b="0">
                          <a:solidFill>
                            <a:srgbClr val="212121"/>
                          </a:solidFill>
                          <a:latin typeface="Calibri" panose="020F0502020204030204" pitchFamily="34" charset="0"/>
                        </a:rPr>
                        <a:t>75 %</a:t>
                      </a:r>
                    </a:p>
                  </a:txBody>
                  <a:tcPr>
                    <a:solidFill>
                      <a:srgbClr val="FFFFFF"/>
                    </a:solidFill>
                  </a:tcPr>
                </a:tc>
                <a:tc>
                  <a:txBody>
                    <a:bodyPr/>
                    <a:lstStyle/>
                    <a:p>
                      <a:r>
                        <a:rPr lang="fr-FR" sz="1200" b="0">
                          <a:solidFill>
                            <a:srgbClr val="212121"/>
                          </a:solidFill>
                          <a:latin typeface="Calibri" panose="020F0502020204030204" pitchFamily="34" charset="0"/>
                        </a:rPr>
                        <a:t>Adoption</a:t>
                      </a:r>
                    </a:p>
                  </a:txBody>
                  <a:tcPr>
                    <a:solidFill>
                      <a:srgbClr val="FFFFFF"/>
                    </a:solidFill>
                  </a:tcPr>
                </a:tc>
                <a:extLst>
                  <a:ext uri="{0D108BD9-81ED-4DB2-BD59-A6C34878D82A}">
                    <a16:rowId xmlns:a16="http://schemas.microsoft.com/office/drawing/2014/main" val="3206190516"/>
                  </a:ext>
                </a:extLst>
              </a:tr>
              <a:tr h="508000">
                <a:tc>
                  <a:txBody>
                    <a:bodyPr/>
                    <a:lstStyle/>
                    <a:p>
                      <a:r>
                        <a:rPr lang="fr-FR" sz="1200" b="0">
                          <a:solidFill>
                            <a:srgbClr val="212121"/>
                          </a:solidFill>
                          <a:latin typeface="Calibri" panose="020F0502020204030204" pitchFamily="34" charset="0"/>
                        </a:rPr>
                        <a:t>Temps pour comprendre une alerte</a:t>
                      </a:r>
                    </a:p>
                  </a:txBody>
                  <a:tcPr>
                    <a:solidFill>
                      <a:srgbClr val="EEF3F8"/>
                    </a:solidFill>
                  </a:tcPr>
                </a:tc>
                <a:tc>
                  <a:txBody>
                    <a:bodyPr/>
                    <a:lstStyle/>
                    <a:p>
                      <a:r>
                        <a:rPr lang="fr-FR" sz="1200" b="0">
                          <a:solidFill>
                            <a:srgbClr val="212121"/>
                          </a:solidFill>
                          <a:latin typeface="Calibri" panose="020F0502020204030204" pitchFamily="34" charset="0"/>
                        </a:rPr>
                        <a:t>5 minutes</a:t>
                      </a:r>
                    </a:p>
                  </a:txBody>
                  <a:tcPr>
                    <a:solidFill>
                      <a:srgbClr val="EEF3F8"/>
                    </a:solidFill>
                  </a:tcPr>
                </a:tc>
                <a:tc>
                  <a:txBody>
                    <a:bodyPr/>
                    <a:lstStyle/>
                    <a:p>
                      <a:r>
                        <a:rPr lang="fr-FR" sz="1200" b="0">
                          <a:solidFill>
                            <a:srgbClr val="212121"/>
                          </a:solidFill>
                          <a:latin typeface="Calibri" panose="020F0502020204030204" pitchFamily="34" charset="0"/>
                        </a:rPr>
                        <a:t>2 minutes</a:t>
                      </a:r>
                    </a:p>
                  </a:txBody>
                  <a:tcPr>
                    <a:solidFill>
                      <a:srgbClr val="EEF3F8"/>
                    </a:solidFill>
                  </a:tcPr>
                </a:tc>
                <a:tc>
                  <a:txBody>
                    <a:bodyPr/>
                    <a:lstStyle/>
                    <a:p>
                      <a:r>
                        <a:rPr lang="fr-FR" sz="1200" b="0">
                          <a:solidFill>
                            <a:srgbClr val="212121"/>
                          </a:solidFill>
                          <a:latin typeface="Calibri" panose="020F0502020204030204" pitchFamily="34" charset="0"/>
                        </a:rPr>
                        <a:t>Adoption</a:t>
                      </a:r>
                    </a:p>
                  </a:txBody>
                  <a:tcPr>
                    <a:solidFill>
                      <a:srgbClr val="EEF3F8"/>
                    </a:solidFill>
                  </a:tcPr>
                </a:tc>
                <a:extLst>
                  <a:ext uri="{0D108BD9-81ED-4DB2-BD59-A6C34878D82A}">
                    <a16:rowId xmlns:a16="http://schemas.microsoft.com/office/drawing/2014/main" val="448315868"/>
                  </a:ext>
                </a:extLst>
              </a:tr>
              <a:tr h="508000">
                <a:tc>
                  <a:txBody>
                    <a:bodyPr/>
                    <a:lstStyle/>
                    <a:p>
                      <a:r>
                        <a:rPr lang="fr-FR" sz="1200" b="0">
                          <a:solidFill>
                            <a:srgbClr val="212121"/>
                          </a:solidFill>
                          <a:latin typeface="Calibri" panose="020F0502020204030204" pitchFamily="34" charset="0"/>
                        </a:rPr>
                        <a:t>Fausses alertes percues</a:t>
                      </a:r>
                    </a:p>
                  </a:txBody>
                  <a:tcPr>
                    <a:solidFill>
                      <a:srgbClr val="FFFFFF"/>
                    </a:solidFill>
                  </a:tcPr>
                </a:tc>
                <a:tc>
                  <a:txBody>
                    <a:bodyPr/>
                    <a:lstStyle/>
                    <a:p>
                      <a:r>
                        <a:rPr lang="fr-FR" sz="1200" b="0">
                          <a:solidFill>
                            <a:srgbClr val="212121"/>
                          </a:solidFill>
                          <a:latin typeface="Calibri" panose="020F0502020204030204" pitchFamily="34" charset="0"/>
                        </a:rPr>
                        <a:t>28 %</a:t>
                      </a:r>
                    </a:p>
                  </a:txBody>
                  <a:tcPr>
                    <a:solidFill>
                      <a:srgbClr val="FFFFFF"/>
                    </a:solidFill>
                  </a:tcPr>
                </a:tc>
                <a:tc>
                  <a:txBody>
                    <a:bodyPr/>
                    <a:lstStyle/>
                    <a:p>
                      <a:r>
                        <a:rPr lang="fr-FR" sz="1200" b="0">
                          <a:solidFill>
                            <a:srgbClr val="212121"/>
                          </a:solidFill>
                          <a:latin typeface="Calibri" panose="020F0502020204030204" pitchFamily="34" charset="0"/>
                        </a:rPr>
                        <a:t>15 %</a:t>
                      </a:r>
                    </a:p>
                  </a:txBody>
                  <a:tcPr>
                    <a:solidFill>
                      <a:srgbClr val="FFFFFF"/>
                    </a:solidFill>
                  </a:tcPr>
                </a:tc>
                <a:tc>
                  <a:txBody>
                    <a:bodyPr/>
                    <a:lstStyle/>
                    <a:p>
                      <a:r>
                        <a:rPr lang="fr-FR" sz="1200" b="0">
                          <a:solidFill>
                            <a:srgbClr val="212121"/>
                          </a:solidFill>
                          <a:latin typeface="Calibri" panose="020F0502020204030204" pitchFamily="34" charset="0"/>
                        </a:rPr>
                        <a:t>Produit</a:t>
                      </a:r>
                    </a:p>
                  </a:txBody>
                  <a:tcPr>
                    <a:solidFill>
                      <a:srgbClr val="FFFFFF"/>
                    </a:solidFill>
                  </a:tcPr>
                </a:tc>
                <a:extLst>
                  <a:ext uri="{0D108BD9-81ED-4DB2-BD59-A6C34878D82A}">
                    <a16:rowId xmlns:a16="http://schemas.microsoft.com/office/drawing/2014/main" val="747746681"/>
                  </a:ext>
                </a:extLst>
              </a:tr>
              <a:tr h="508000">
                <a:tc>
                  <a:txBody>
                    <a:bodyPr/>
                    <a:lstStyle/>
                    <a:p>
                      <a:r>
                        <a:rPr lang="fr-FR" sz="1200" b="0">
                          <a:solidFill>
                            <a:srgbClr val="212121"/>
                          </a:solidFill>
                          <a:latin typeface="Calibri" panose="020F0502020204030204" pitchFamily="34" charset="0"/>
                        </a:rPr>
                        <a:t>Jalons tenus</a:t>
                      </a:r>
                    </a:p>
                  </a:txBody>
                  <a:tcPr>
                    <a:solidFill>
                      <a:srgbClr val="EEF3F8"/>
                    </a:solidFill>
                  </a:tcPr>
                </a:tc>
                <a:tc>
                  <a:txBody>
                    <a:bodyPr/>
                    <a:lstStyle/>
                    <a:p>
                      <a:r>
                        <a:rPr lang="fr-FR" sz="1200" b="0">
                          <a:solidFill>
                            <a:srgbClr val="212121"/>
                          </a:solidFill>
                          <a:latin typeface="Calibri" panose="020F0502020204030204" pitchFamily="34" charset="0"/>
                        </a:rPr>
                        <a:t>mesure en cours de projet</a:t>
                      </a:r>
                    </a:p>
                  </a:txBody>
                  <a:tcPr>
                    <a:solidFill>
                      <a:srgbClr val="EEF3F8"/>
                    </a:solidFill>
                  </a:tcPr>
                </a:tc>
                <a:tc>
                  <a:txBody>
                    <a:bodyPr/>
                    <a:lstStyle/>
                    <a:p>
                      <a:r>
                        <a:rPr lang="fr-FR" sz="1200" b="0">
                          <a:solidFill>
                            <a:srgbClr val="212121"/>
                          </a:solidFill>
                          <a:latin typeface="Calibri" panose="020F0502020204030204" pitchFamily="34" charset="0"/>
                        </a:rPr>
                        <a:t>85 % minimum</a:t>
                      </a:r>
                    </a:p>
                  </a:txBody>
                  <a:tcPr>
                    <a:solidFill>
                      <a:srgbClr val="EEF3F8"/>
                    </a:solidFill>
                  </a:tcPr>
                </a:tc>
                <a:tc>
                  <a:txBody>
                    <a:bodyPr/>
                    <a:lstStyle/>
                    <a:p>
                      <a:r>
                        <a:rPr lang="fr-FR" sz="1200" b="0">
                          <a:solidFill>
                            <a:srgbClr val="212121"/>
                          </a:solidFill>
                          <a:latin typeface="Calibri" panose="020F0502020204030204" pitchFamily="34" charset="0"/>
                        </a:rPr>
                        <a:t>Projet</a:t>
                      </a:r>
                    </a:p>
                  </a:txBody>
                  <a:tcPr>
                    <a:solidFill>
                      <a:srgbClr val="EEF3F8"/>
                    </a:solidFill>
                  </a:tcPr>
                </a:tc>
                <a:extLst>
                  <a:ext uri="{0D108BD9-81ED-4DB2-BD59-A6C34878D82A}">
                    <a16:rowId xmlns:a16="http://schemas.microsoft.com/office/drawing/2014/main" val="860303279"/>
                  </a:ext>
                </a:extLst>
              </a:tr>
              <a:tr h="508000">
                <a:tc>
                  <a:txBody>
                    <a:bodyPr/>
                    <a:lstStyle/>
                    <a:p>
                      <a:r>
                        <a:rPr lang="fr-FR" sz="1200" b="0">
                          <a:solidFill>
                            <a:srgbClr val="212121"/>
                          </a:solidFill>
                          <a:latin typeface="Calibri" panose="020F0502020204030204" pitchFamily="34" charset="0"/>
                        </a:rPr>
                        <a:t>Empreinte numerique</a:t>
                      </a:r>
                    </a:p>
                  </a:txBody>
                  <a:tcPr>
                    <a:solidFill>
                      <a:srgbClr val="FFFFFF"/>
                    </a:solidFill>
                  </a:tcPr>
                </a:tc>
                <a:tc>
                  <a:txBody>
                    <a:bodyPr/>
                    <a:lstStyle/>
                    <a:p>
                      <a:r>
                        <a:rPr lang="fr-FR" sz="1200" b="0">
                          <a:solidFill>
                            <a:srgbClr val="212121"/>
                          </a:solidFill>
                          <a:latin typeface="Calibri" panose="020F0502020204030204" pitchFamily="34" charset="0"/>
                        </a:rPr>
                        <a:t>formule definie en S4</a:t>
                      </a:r>
                    </a:p>
                  </a:txBody>
                  <a:tcPr>
                    <a:solidFill>
                      <a:srgbClr val="FFFFFF"/>
                    </a:solidFill>
                  </a:tcPr>
                </a:tc>
                <a:tc>
                  <a:txBody>
                    <a:bodyPr/>
                    <a:lstStyle/>
                    <a:p>
                      <a:r>
                        <a:rPr lang="fr-FR" sz="1200" b="0">
                          <a:solidFill>
                            <a:srgbClr val="212121"/>
                          </a:solidFill>
                          <a:latin typeface="Calibri" panose="020F0502020204030204" pitchFamily="34" charset="0"/>
                        </a:rPr>
                        <a:t>suivi mensuel</a:t>
                      </a:r>
                    </a:p>
                  </a:txBody>
                  <a:tcPr>
                    <a:solidFill>
                      <a:srgbClr val="FFFFFF"/>
                    </a:solidFill>
                  </a:tcPr>
                </a:tc>
                <a:tc>
                  <a:txBody>
                    <a:bodyPr/>
                    <a:lstStyle/>
                    <a:p>
                      <a:r>
                        <a:rPr lang="fr-FR" sz="1200" b="0">
                          <a:solidFill>
                            <a:srgbClr val="212121"/>
                          </a:solidFill>
                          <a:latin typeface="Calibri" panose="020F0502020204030204" pitchFamily="34" charset="0"/>
                        </a:rPr>
                        <a:t>RSE</a:t>
                      </a:r>
                    </a:p>
                  </a:txBody>
                  <a:tcPr>
                    <a:solidFill>
                      <a:srgbClr val="FFFFFF"/>
                    </a:solidFill>
                  </a:tcPr>
                </a:tc>
                <a:extLst>
                  <a:ext uri="{0D108BD9-81ED-4DB2-BD59-A6C34878D82A}">
                    <a16:rowId xmlns:a16="http://schemas.microsoft.com/office/drawing/2014/main" val="2612240183"/>
                  </a:ext>
                </a:extLst>
              </a:tr>
            </a:tbl>
          </a:graphicData>
        </a:graphic>
      </p:graphicFrame>
      <p:sp>
        <p:nvSpPr>
          <p:cNvPr id="8" name="ZoneTexte 7">
            <a:extLst>
              <a:ext uri="{FF2B5EF4-FFF2-40B4-BE49-F238E27FC236}">
                <a16:creationId xmlns:a16="http://schemas.microsoft.com/office/drawing/2014/main" id="{4569078D-B36D-0897-59B5-88A519757B39}"/>
              </a:ext>
            </a:extLst>
          </p:cNvPr>
          <p:cNvSpPr txBox="1"/>
          <p:nvPr/>
        </p:nvSpPr>
        <p:spPr>
          <a:xfrm>
            <a:off x="457200" y="44450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Je n'ai rien invente : toutes les valeurs de depart et les cibles viennent du dossier fourni par la direction. En tant que Lead Data, ma garantie est la suivante : chaque indicateur a un responsable designe, une formule documentee au glossaire et une action prevue en cas de derive. L'engagement environnemental est tenu : l'indicateur d'empreinte numerique est defini en semaine 4, puis suivi chaque mois.</a:t>
            </a:r>
          </a:p>
        </p:txBody>
      </p:sp>
    </p:spTree>
    <p:extLst>
      <p:ext uri="{BB962C8B-B14F-4D97-AF65-F5344CB8AC3E}">
        <p14:creationId xmlns:p14="http://schemas.microsoft.com/office/powerpoint/2010/main" val="1762657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42495BB-0DAE-B3D0-67DD-331FDD848BEC}"/>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7048BABE-0F62-B728-A691-A1BF89757E3A}"/>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Risques : les 3 majeurs et leurs parades</a:t>
            </a:r>
          </a:p>
        </p:txBody>
      </p:sp>
      <p:sp>
        <p:nvSpPr>
          <p:cNvPr id="4" name="ZoneTexte 3">
            <a:extLst>
              <a:ext uri="{FF2B5EF4-FFF2-40B4-BE49-F238E27FC236}">
                <a16:creationId xmlns:a16="http://schemas.microsoft.com/office/drawing/2014/main" id="{46A8DA09-1377-F501-0606-655A139017BB}"/>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6 risques documentes au registre ; chaque risque a une parade et un plan B a seuil defini</a:t>
            </a:r>
          </a:p>
        </p:txBody>
      </p:sp>
      <p:sp>
        <p:nvSpPr>
          <p:cNvPr id="5" name="ZoneTexte 4">
            <a:extLst>
              <a:ext uri="{FF2B5EF4-FFF2-40B4-BE49-F238E27FC236}">
                <a16:creationId xmlns:a16="http://schemas.microsoft.com/office/drawing/2014/main" id="{06C71619-E298-389D-9162-8090855230F2}"/>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667B646E-EAED-0E87-AC89-E08063B4747C}"/>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5 / 9</a:t>
            </a:r>
          </a:p>
        </p:txBody>
      </p:sp>
      <p:graphicFrame>
        <p:nvGraphicFramePr>
          <p:cNvPr id="7" name="Tableau 6">
            <a:extLst>
              <a:ext uri="{FF2B5EF4-FFF2-40B4-BE49-F238E27FC236}">
                <a16:creationId xmlns:a16="http://schemas.microsoft.com/office/drawing/2014/main" id="{BEE9319F-CE44-184A-B510-B182E8DFECFE}"/>
              </a:ext>
            </a:extLst>
          </p:cNvPr>
          <p:cNvGraphicFramePr>
            <a:graphicFrameLocks noGrp="1"/>
          </p:cNvGraphicFramePr>
          <p:nvPr>
            <p:extLst>
              <p:ext uri="{D42A27DB-BD31-4B8C-83A1-F6EECF244321}">
                <p14:modId xmlns:p14="http://schemas.microsoft.com/office/powerpoint/2010/main" val="1779175660"/>
              </p:ext>
            </p:extLst>
          </p:nvPr>
        </p:nvGraphicFramePr>
        <p:xfrm>
          <a:off x="457200" y="1066800"/>
          <a:ext cx="11277600" cy="203200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3804818306"/>
                    </a:ext>
                  </a:extLst>
                </a:gridCol>
                <a:gridCol w="889000">
                  <a:extLst>
                    <a:ext uri="{9D8B030D-6E8A-4147-A177-3AD203B41FA5}">
                      <a16:colId xmlns:a16="http://schemas.microsoft.com/office/drawing/2014/main" val="2488174200"/>
                    </a:ext>
                  </a:extLst>
                </a:gridCol>
                <a:gridCol w="3810000">
                  <a:extLst>
                    <a:ext uri="{9D8B030D-6E8A-4147-A177-3AD203B41FA5}">
                      <a16:colId xmlns:a16="http://schemas.microsoft.com/office/drawing/2014/main" val="1078646755"/>
                    </a:ext>
                  </a:extLst>
                </a:gridCol>
                <a:gridCol w="3911600">
                  <a:extLst>
                    <a:ext uri="{9D8B030D-6E8A-4147-A177-3AD203B41FA5}">
                      <a16:colId xmlns:a16="http://schemas.microsoft.com/office/drawing/2014/main" val="464448686"/>
                    </a:ext>
                  </a:extLst>
                </a:gridCol>
              </a:tblGrid>
              <a:tr h="508000">
                <a:tc>
                  <a:txBody>
                    <a:bodyPr/>
                    <a:lstStyle/>
                    <a:p>
                      <a:r>
                        <a:rPr lang="fr-FR" sz="1200" b="1">
                          <a:solidFill>
                            <a:srgbClr val="FFFFFF"/>
                          </a:solidFill>
                          <a:latin typeface="Calibri" panose="020F0502020204030204" pitchFamily="34" charset="0"/>
                        </a:rPr>
                        <a:t>Risque</a:t>
                      </a:r>
                    </a:p>
                  </a:txBody>
                  <a:tcPr>
                    <a:solidFill>
                      <a:srgbClr val="1A5276"/>
                    </a:solidFill>
                  </a:tcPr>
                </a:tc>
                <a:tc>
                  <a:txBody>
                    <a:bodyPr/>
                    <a:lstStyle/>
                    <a:p>
                      <a:r>
                        <a:rPr lang="fr-FR" sz="1200" b="1">
                          <a:solidFill>
                            <a:srgbClr val="FFFFFF"/>
                          </a:solidFill>
                          <a:latin typeface="Calibri" panose="020F0502020204030204" pitchFamily="34" charset="0"/>
                        </a:rPr>
                        <a:t>Niveau</a:t>
                      </a:r>
                    </a:p>
                  </a:txBody>
                  <a:tcPr>
                    <a:solidFill>
                      <a:srgbClr val="1A5276"/>
                    </a:solidFill>
                  </a:tcPr>
                </a:tc>
                <a:tc>
                  <a:txBody>
                    <a:bodyPr/>
                    <a:lstStyle/>
                    <a:p>
                      <a:r>
                        <a:rPr lang="fr-FR" sz="1200" b="1">
                          <a:solidFill>
                            <a:srgbClr val="FFFFFF"/>
                          </a:solidFill>
                          <a:latin typeface="Calibri" panose="020F0502020204030204" pitchFamily="34" charset="0"/>
                        </a:rPr>
                        <a:t>Parade preventive</a:t>
                      </a:r>
                    </a:p>
                  </a:txBody>
                  <a:tcPr>
                    <a:solidFill>
                      <a:srgbClr val="1A5276"/>
                    </a:solidFill>
                  </a:tcPr>
                </a:tc>
                <a:tc>
                  <a:txBody>
                    <a:bodyPr/>
                    <a:lstStyle/>
                    <a:p>
                      <a:r>
                        <a:rPr lang="fr-FR" sz="1200" b="1">
                          <a:solidFill>
                            <a:srgbClr val="FFFFFF"/>
                          </a:solidFill>
                          <a:latin typeface="Calibri" panose="020F0502020204030204" pitchFamily="34" charset="0"/>
                        </a:rPr>
                        <a:t>Plan B (seuil defini a l'avance)</a:t>
                      </a:r>
                    </a:p>
                  </a:txBody>
                  <a:tcPr>
                    <a:solidFill>
                      <a:srgbClr val="1A5276"/>
                    </a:solidFill>
                  </a:tcPr>
                </a:tc>
                <a:extLst>
                  <a:ext uri="{0D108BD9-81ED-4DB2-BD59-A6C34878D82A}">
                    <a16:rowId xmlns:a16="http://schemas.microsoft.com/office/drawing/2014/main" val="2241323043"/>
                  </a:ext>
                </a:extLst>
              </a:tr>
              <a:tr h="508000">
                <a:tc>
                  <a:txBody>
                    <a:bodyPr/>
                    <a:lstStyle/>
                    <a:p>
                      <a:r>
                        <a:rPr lang="fr-FR" sz="1200" b="0">
                          <a:solidFill>
                            <a:srgbClr val="212121"/>
                          </a:solidFill>
                          <a:latin typeface="Calibri" panose="020F0502020204030204" pitchFamily="34" charset="0"/>
                        </a:rPr>
                        <a:t>Non-adoption par les agents</a:t>
                      </a:r>
                    </a:p>
                  </a:txBody>
                  <a:tcPr>
                    <a:solidFill>
                      <a:srgbClr val="FFFFFF"/>
                    </a:solidFill>
                  </a:tcPr>
                </a:tc>
                <a:tc>
                  <a:txBody>
                    <a:bodyPr/>
                    <a:lstStyle/>
                    <a:p>
                      <a:r>
                        <a:rPr lang="fr-FR" sz="1200" b="1">
                          <a:solidFill>
                            <a:srgbClr val="CA6F1E"/>
                          </a:solidFill>
                          <a:latin typeface="Calibri" panose="020F0502020204030204" pitchFamily="34" charset="0"/>
                        </a:rPr>
                        <a:t>ELEVE</a:t>
                      </a:r>
                    </a:p>
                  </a:txBody>
                  <a:tcPr>
                    <a:solidFill>
                      <a:srgbClr val="FFFFFF"/>
                    </a:solidFill>
                  </a:tcPr>
                </a:tc>
                <a:tc>
                  <a:txBody>
                    <a:bodyPr/>
                    <a:lstStyle/>
                    <a:p>
                      <a:r>
                        <a:rPr lang="fr-FR" sz="1200" b="0">
                          <a:solidFill>
                            <a:srgbClr val="212121"/>
                          </a:solidFill>
                          <a:latin typeface="Calibri" panose="020F0502020204030204" pitchFamily="34" charset="0"/>
                        </a:rPr>
                        <a:t>Formations courtes, co-construction avec le terrain, canal de retours structure</a:t>
                      </a:r>
                    </a:p>
                  </a:txBody>
                  <a:tcPr>
                    <a:solidFill>
                      <a:srgbClr val="FFFFFF"/>
                    </a:solidFill>
                  </a:tcPr>
                </a:tc>
                <a:tc>
                  <a:txBody>
                    <a:bodyPr/>
                    <a:lstStyle/>
                    <a:p>
                      <a:r>
                        <a:rPr lang="fr-FR" sz="1200" b="0">
                          <a:solidFill>
                            <a:srgbClr val="212121"/>
                          </a:solidFill>
                          <a:latin typeface="Calibri" panose="020F0502020204030204" pitchFamily="34" charset="0"/>
                        </a:rPr>
                        <a:t>Adoption sous 50 % en S8 : ateliers cibles et accompagnement en binome</a:t>
                      </a:r>
                    </a:p>
                  </a:txBody>
                  <a:tcPr>
                    <a:solidFill>
                      <a:srgbClr val="FFFFFF"/>
                    </a:solidFill>
                  </a:tcPr>
                </a:tc>
                <a:extLst>
                  <a:ext uri="{0D108BD9-81ED-4DB2-BD59-A6C34878D82A}">
                    <a16:rowId xmlns:a16="http://schemas.microsoft.com/office/drawing/2014/main" val="278030841"/>
                  </a:ext>
                </a:extLst>
              </a:tr>
              <a:tr h="508000">
                <a:tc>
                  <a:txBody>
                    <a:bodyPr/>
                    <a:lstStyle/>
                    <a:p>
                      <a:r>
                        <a:rPr lang="fr-FR" sz="1200" b="0">
                          <a:solidFill>
                            <a:srgbClr val="212121"/>
                          </a:solidFill>
                          <a:latin typeface="Calibri" panose="020F0502020204030204" pitchFamily="34" charset="0"/>
                        </a:rPr>
                        <a:t>Conflits de priorites IT et metier</a:t>
                      </a:r>
                    </a:p>
                  </a:txBody>
                  <a:tcPr>
                    <a:solidFill>
                      <a:srgbClr val="EEF3F8"/>
                    </a:solidFill>
                  </a:tcPr>
                </a:tc>
                <a:tc>
                  <a:txBody>
                    <a:bodyPr/>
                    <a:lstStyle/>
                    <a:p>
                      <a:r>
                        <a:rPr lang="fr-FR" sz="1200" b="1">
                          <a:solidFill>
                            <a:srgbClr val="CA6F1E"/>
                          </a:solidFill>
                          <a:latin typeface="Calibri" panose="020F0502020204030204" pitchFamily="34" charset="0"/>
                        </a:rPr>
                        <a:t>ELEVE</a:t>
                      </a:r>
                    </a:p>
                  </a:txBody>
                  <a:tcPr>
                    <a:solidFill>
                      <a:srgbClr val="EEF3F8"/>
                    </a:solidFill>
                  </a:tcPr>
                </a:tc>
                <a:tc>
                  <a:txBody>
                    <a:bodyPr/>
                    <a:lstStyle/>
                    <a:p>
                      <a:r>
                        <a:rPr lang="fr-FR" sz="1200" b="0">
                          <a:solidFill>
                            <a:srgbClr val="212121"/>
                          </a:solidFill>
                          <a:latin typeface="Calibri" panose="020F0502020204030204" pitchFamily="34" charset="0"/>
                        </a:rPr>
                        <a:t>Comite d'arbitrage hebdomadaire, backlog justifie par ecrit</a:t>
                      </a:r>
                    </a:p>
                  </a:txBody>
                  <a:tcPr>
                    <a:solidFill>
                      <a:srgbClr val="EEF3F8"/>
                    </a:solidFill>
                  </a:tcPr>
                </a:tc>
                <a:tc>
                  <a:txBody>
                    <a:bodyPr/>
                    <a:lstStyle/>
                    <a:p>
                      <a:r>
                        <a:rPr lang="fr-FR" sz="1200" b="0">
                          <a:solidFill>
                            <a:srgbClr val="212121"/>
                          </a:solidFill>
                          <a:latin typeface="Calibri" panose="020F0502020204030204" pitchFamily="34" charset="0"/>
                        </a:rPr>
                        <a:t>Escalade a la direction avec dossier d'arbitrage documente</a:t>
                      </a:r>
                    </a:p>
                  </a:txBody>
                  <a:tcPr>
                    <a:solidFill>
                      <a:srgbClr val="EEF3F8"/>
                    </a:solidFill>
                  </a:tcPr>
                </a:tc>
                <a:extLst>
                  <a:ext uri="{0D108BD9-81ED-4DB2-BD59-A6C34878D82A}">
                    <a16:rowId xmlns:a16="http://schemas.microsoft.com/office/drawing/2014/main" val="2492854440"/>
                  </a:ext>
                </a:extLst>
              </a:tr>
              <a:tr h="508000">
                <a:tc>
                  <a:txBody>
                    <a:bodyPr/>
                    <a:lstStyle/>
                    <a:p>
                      <a:r>
                        <a:rPr lang="fr-FR" sz="1200" b="0">
                          <a:solidFill>
                            <a:srgbClr val="212121"/>
                          </a:solidFill>
                          <a:latin typeface="Calibri" panose="020F0502020204030204" pitchFamily="34" charset="0"/>
                        </a:rPr>
                        <a:t>Accessibilite insuffisante</a:t>
                      </a:r>
                    </a:p>
                  </a:txBody>
                  <a:tcPr>
                    <a:solidFill>
                      <a:srgbClr val="FFFFFF"/>
                    </a:solidFill>
                  </a:tcPr>
                </a:tc>
                <a:tc>
                  <a:txBody>
                    <a:bodyPr/>
                    <a:lstStyle/>
                    <a:p>
                      <a:r>
                        <a:rPr lang="fr-FR" sz="1200" b="1">
                          <a:solidFill>
                            <a:srgbClr val="CA6F1E"/>
                          </a:solidFill>
                          <a:latin typeface="Calibri" panose="020F0502020204030204" pitchFamily="34" charset="0"/>
                        </a:rPr>
                        <a:t>ELEVE</a:t>
                      </a:r>
                    </a:p>
                  </a:txBody>
                  <a:tcPr>
                    <a:solidFill>
                      <a:srgbClr val="FFFFFF"/>
                    </a:solidFill>
                  </a:tcPr>
                </a:tc>
                <a:tc>
                  <a:txBody>
                    <a:bodyPr/>
                    <a:lstStyle/>
                    <a:p>
                      <a:r>
                        <a:rPr lang="fr-FR" sz="1200" b="0">
                          <a:solidFill>
                            <a:srgbClr val="212121"/>
                          </a:solidFill>
                          <a:latin typeface="Calibri" panose="020F0502020204030204" pitchFamily="34" charset="0"/>
                        </a:rPr>
                        <a:t>Validation de chaque support avant diffusion par le referent</a:t>
                      </a:r>
                    </a:p>
                  </a:txBody>
                  <a:tcPr>
                    <a:solidFill>
                      <a:srgbClr val="FFFFFF"/>
                    </a:solidFill>
                  </a:tcPr>
                </a:tc>
                <a:tc>
                  <a:txBody>
                    <a:bodyPr/>
                    <a:lstStyle/>
                    <a:p>
                      <a:r>
                        <a:rPr lang="fr-FR" sz="1200" b="0">
                          <a:solidFill>
                            <a:srgbClr val="212121"/>
                          </a:solidFill>
                          <a:latin typeface="Calibri" panose="020F0502020204030204" pitchFamily="34" charset="0"/>
                        </a:rPr>
                        <a:t>Remediation prioritaire et formats alternatifs immediats</a:t>
                      </a:r>
                    </a:p>
                  </a:txBody>
                  <a:tcPr>
                    <a:solidFill>
                      <a:srgbClr val="FFFFFF"/>
                    </a:solidFill>
                  </a:tcPr>
                </a:tc>
                <a:extLst>
                  <a:ext uri="{0D108BD9-81ED-4DB2-BD59-A6C34878D82A}">
                    <a16:rowId xmlns:a16="http://schemas.microsoft.com/office/drawing/2014/main" val="839628061"/>
                  </a:ext>
                </a:extLst>
              </a:tr>
            </a:tbl>
          </a:graphicData>
        </a:graphic>
      </p:graphicFrame>
      <p:sp>
        <p:nvSpPr>
          <p:cNvPr id="8" name="ZoneTexte 7">
            <a:extLst>
              <a:ext uri="{FF2B5EF4-FFF2-40B4-BE49-F238E27FC236}">
                <a16:creationId xmlns:a16="http://schemas.microsoft.com/office/drawing/2014/main" id="{784E7EF6-5CA6-B718-27F3-30737C85CAE9}"/>
              </a:ext>
            </a:extLst>
          </p:cNvPr>
          <p:cNvSpPr txBox="1"/>
          <p:nvPr/>
        </p:nvSpPr>
        <p:spPr>
          <a:xfrm>
            <a:off x="457200" y="4191000"/>
            <a:ext cx="11277600" cy="492443"/>
          </a:xfrm>
          <a:prstGeom prst="rect">
            <a:avLst/>
          </a:prstGeom>
          <a:noFill/>
        </p:spPr>
        <p:txBody>
          <a:bodyPr vert="horz" wrap="square" rtlCol="0">
            <a:spAutoFit/>
          </a:bodyPr>
          <a:lstStyle/>
          <a:p>
            <a:r>
              <a:rPr lang="fr-FR" sz="1300">
                <a:solidFill>
                  <a:srgbClr val="212121"/>
                </a:solidFill>
                <a:latin typeface="Calibri" panose="020F0502020204030204" pitchFamily="34" charset="0"/>
              </a:rPr>
              <a:t>Le principe : la decision difficile est preparee a froid, pas dans la panique. Chaque seuil declencheur est defini a l'avance et suivi dans le reporting hebdomadaire : si un signal passe au rouge, le plan B s'applique immediatement et la direction est informee avec une decision a prendre clairement formulee.</a:t>
            </a:r>
          </a:p>
        </p:txBody>
      </p:sp>
    </p:spTree>
    <p:extLst>
      <p:ext uri="{BB962C8B-B14F-4D97-AF65-F5344CB8AC3E}">
        <p14:creationId xmlns:p14="http://schemas.microsoft.com/office/powerpoint/2010/main" val="25142759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FBF6C6-77D8-4C22-8F86-CAC3A00EF08A}"/>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DF30188B-69F4-FBB9-8C3C-8A774B25324E}"/>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Feedbacks utilisateurs : le terrain guide le backlog</a:t>
            </a:r>
          </a:p>
        </p:txBody>
      </p:sp>
      <p:sp>
        <p:nvSpPr>
          <p:cNvPr id="4" name="ZoneTexte 3">
            <a:extLst>
              <a:ext uri="{FF2B5EF4-FFF2-40B4-BE49-F238E27FC236}">
                <a16:creationId xmlns:a16="http://schemas.microsoft.com/office/drawing/2014/main" id="{3987EE6C-CD9D-7488-D3AE-8B5E89EE07EC}"/>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6 retours recueillis sur le prototype, priorises en croisant impact et frequence</a:t>
            </a:r>
          </a:p>
        </p:txBody>
      </p:sp>
      <p:sp>
        <p:nvSpPr>
          <p:cNvPr id="5" name="ZoneTexte 4">
            <a:extLst>
              <a:ext uri="{FF2B5EF4-FFF2-40B4-BE49-F238E27FC236}">
                <a16:creationId xmlns:a16="http://schemas.microsoft.com/office/drawing/2014/main" id="{AD2D5ED7-71E9-0813-285B-DF41F965AE57}"/>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D120A43E-BE95-88AE-5631-588279BC3C51}"/>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6 / 9</a:t>
            </a:r>
          </a:p>
        </p:txBody>
      </p:sp>
      <p:graphicFrame>
        <p:nvGraphicFramePr>
          <p:cNvPr id="7" name="Tableau 6">
            <a:extLst>
              <a:ext uri="{FF2B5EF4-FFF2-40B4-BE49-F238E27FC236}">
                <a16:creationId xmlns:a16="http://schemas.microsoft.com/office/drawing/2014/main" id="{2313C2F8-D383-CB32-B4DE-FD283E3AE40F}"/>
              </a:ext>
            </a:extLst>
          </p:cNvPr>
          <p:cNvGraphicFramePr>
            <a:graphicFrameLocks noGrp="1"/>
          </p:cNvGraphicFramePr>
          <p:nvPr>
            <p:extLst>
              <p:ext uri="{D42A27DB-BD31-4B8C-83A1-F6EECF244321}">
                <p14:modId xmlns:p14="http://schemas.microsoft.com/office/powerpoint/2010/main" val="1400552060"/>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4699000">
                  <a:extLst>
                    <a:ext uri="{9D8B030D-6E8A-4147-A177-3AD203B41FA5}">
                      <a16:colId xmlns:a16="http://schemas.microsoft.com/office/drawing/2014/main" val="104763683"/>
                    </a:ext>
                  </a:extLst>
                </a:gridCol>
                <a:gridCol w="4826000">
                  <a:extLst>
                    <a:ext uri="{9D8B030D-6E8A-4147-A177-3AD203B41FA5}">
                      <a16:colId xmlns:a16="http://schemas.microsoft.com/office/drawing/2014/main" val="1286942796"/>
                    </a:ext>
                  </a:extLst>
                </a:gridCol>
                <a:gridCol w="1752600">
                  <a:extLst>
                    <a:ext uri="{9D8B030D-6E8A-4147-A177-3AD203B41FA5}">
                      <a16:colId xmlns:a16="http://schemas.microsoft.com/office/drawing/2014/main" val="2082317615"/>
                    </a:ext>
                  </a:extLst>
                </a:gridCol>
              </a:tblGrid>
              <a:tr h="508000">
                <a:tc>
                  <a:txBody>
                    <a:bodyPr/>
                    <a:lstStyle/>
                    <a:p>
                      <a:r>
                        <a:rPr lang="fr-FR" sz="1200" b="1">
                          <a:solidFill>
                            <a:srgbClr val="FFFFFF"/>
                          </a:solidFill>
                          <a:latin typeface="Calibri" panose="020F0502020204030204" pitchFamily="34" charset="0"/>
                        </a:rPr>
                        <a:t>Retour du terrain</a:t>
                      </a:r>
                    </a:p>
                  </a:txBody>
                  <a:tcPr>
                    <a:solidFill>
                      <a:srgbClr val="1A5276"/>
                    </a:solidFill>
                  </a:tcPr>
                </a:tc>
                <a:tc>
                  <a:txBody>
                    <a:bodyPr/>
                    <a:lstStyle/>
                    <a:p>
                      <a:r>
                        <a:rPr lang="fr-FR" sz="1200" b="1">
                          <a:solidFill>
                            <a:srgbClr val="FFFFFF"/>
                          </a:solidFill>
                          <a:latin typeface="Calibri" panose="020F0502020204030204" pitchFamily="34" charset="0"/>
                        </a:rPr>
                        <a:t>Ma reponse</a:t>
                      </a:r>
                    </a:p>
                  </a:txBody>
                  <a:tcPr>
                    <a:solidFill>
                      <a:srgbClr val="1A5276"/>
                    </a:solidFill>
                  </a:tcPr>
                </a:tc>
                <a:tc>
                  <a:txBody>
                    <a:bodyPr/>
                    <a:lstStyle/>
                    <a:p>
                      <a:r>
                        <a:rPr lang="fr-FR" sz="1200" b="1">
                          <a:solidFill>
                            <a:srgbClr val="FFFFFF"/>
                          </a:solidFill>
                          <a:latin typeface="Calibri" panose="020F0502020204030204" pitchFamily="34" charset="0"/>
                        </a:rPr>
                        <a:t>Quand</a:t>
                      </a:r>
                    </a:p>
                  </a:txBody>
                  <a:tcPr>
                    <a:solidFill>
                      <a:srgbClr val="1A5276"/>
                    </a:solidFill>
                  </a:tcPr>
                </a:tc>
                <a:extLst>
                  <a:ext uri="{0D108BD9-81ED-4DB2-BD59-A6C34878D82A}">
                    <a16:rowId xmlns:a16="http://schemas.microsoft.com/office/drawing/2014/main" val="668183223"/>
                  </a:ext>
                </a:extLst>
              </a:tr>
              <a:tr h="508000">
                <a:tc>
                  <a:txBody>
                    <a:bodyPr/>
                    <a:lstStyle/>
                    <a:p>
                      <a:r>
                        <a:rPr lang="fr-FR" sz="1200" b="0">
                          <a:solidFill>
                            <a:srgbClr val="212121"/>
                          </a:solidFill>
                          <a:latin typeface="Calibri" panose="020F0502020204030204" pitchFamily="34" charset="0"/>
                        </a:rPr>
                        <a:t>Le vocabulaire des alertes est trop technique</a:t>
                      </a:r>
                    </a:p>
                  </a:txBody>
                  <a:tcPr>
                    <a:solidFill>
                      <a:srgbClr val="FFFFFF"/>
                    </a:solidFill>
                  </a:tcPr>
                </a:tc>
                <a:tc>
                  <a:txBody>
                    <a:bodyPr/>
                    <a:lstStyle/>
                    <a:p>
                      <a:r>
                        <a:rPr lang="fr-FR" sz="1200" b="0">
                          <a:solidFill>
                            <a:srgbClr val="212121"/>
                          </a:solidFill>
                          <a:latin typeface="Calibri" panose="020F0502020204030204" pitchFamily="34" charset="0"/>
                        </a:rPr>
                        <a:t>Libelles metier et aide contextuelle</a:t>
                      </a:r>
                    </a:p>
                  </a:txBody>
                  <a:tcPr>
                    <a:solidFill>
                      <a:srgbClr val="FFFFFF"/>
                    </a:solidFill>
                  </a:tcPr>
                </a:tc>
                <a:tc>
                  <a:txBody>
                    <a:bodyPr/>
                    <a:lstStyle/>
                    <a:p>
                      <a:r>
                        <a:rPr lang="fr-FR" sz="1200" b="0">
                          <a:solidFill>
                            <a:srgbClr val="212121"/>
                          </a:solidFill>
                          <a:latin typeface="Calibri" panose="020F0502020204030204" pitchFamily="34" charset="0"/>
                        </a:rPr>
                        <a:t>Sprint 2</a:t>
                      </a:r>
                    </a:p>
                  </a:txBody>
                  <a:tcPr>
                    <a:solidFill>
                      <a:srgbClr val="FFFFFF"/>
                    </a:solidFill>
                  </a:tcPr>
                </a:tc>
                <a:extLst>
                  <a:ext uri="{0D108BD9-81ED-4DB2-BD59-A6C34878D82A}">
                    <a16:rowId xmlns:a16="http://schemas.microsoft.com/office/drawing/2014/main" val="317673686"/>
                  </a:ext>
                </a:extLst>
              </a:tr>
              <a:tr h="508000">
                <a:tc>
                  <a:txBody>
                    <a:bodyPr/>
                    <a:lstStyle/>
                    <a:p>
                      <a:r>
                        <a:rPr lang="fr-FR" sz="1200" b="0">
                          <a:solidFill>
                            <a:srgbClr val="212121"/>
                          </a:solidFill>
                          <a:latin typeface="Calibri" panose="020F0502020204030204" pitchFamily="34" charset="0"/>
                        </a:rPr>
                        <a:t>Aucune procedure en cas de mauvaise alerte</a:t>
                      </a:r>
                    </a:p>
                  </a:txBody>
                  <a:tcPr>
                    <a:solidFill>
                      <a:srgbClr val="EEF3F8"/>
                    </a:solidFill>
                  </a:tcPr>
                </a:tc>
                <a:tc>
                  <a:txBody>
                    <a:bodyPr/>
                    <a:lstStyle/>
                    <a:p>
                      <a:r>
                        <a:rPr lang="fr-FR" sz="1200" b="0">
                          <a:solidFill>
                            <a:srgbClr val="212121"/>
                          </a:solidFill>
                          <a:latin typeface="Calibri" panose="020F0502020204030204" pitchFamily="34" charset="0"/>
                        </a:rPr>
                        <a:t>Procedure d'escalade et tickets</a:t>
                      </a:r>
                    </a:p>
                  </a:txBody>
                  <a:tcPr>
                    <a:solidFill>
                      <a:srgbClr val="EEF3F8"/>
                    </a:solidFill>
                  </a:tcPr>
                </a:tc>
                <a:tc>
                  <a:txBody>
                    <a:bodyPr/>
                    <a:lstStyle/>
                    <a:p>
                      <a:r>
                        <a:rPr lang="fr-FR" sz="1200" b="0">
                          <a:solidFill>
                            <a:srgbClr val="212121"/>
                          </a:solidFill>
                          <a:latin typeface="Calibri" panose="020F0502020204030204" pitchFamily="34" charset="0"/>
                        </a:rPr>
                        <a:t>Sprint 1</a:t>
                      </a:r>
                    </a:p>
                  </a:txBody>
                  <a:tcPr>
                    <a:solidFill>
                      <a:srgbClr val="EEF3F8"/>
                    </a:solidFill>
                  </a:tcPr>
                </a:tc>
                <a:extLst>
                  <a:ext uri="{0D108BD9-81ED-4DB2-BD59-A6C34878D82A}">
                    <a16:rowId xmlns:a16="http://schemas.microsoft.com/office/drawing/2014/main" val="2815805170"/>
                  </a:ext>
                </a:extLst>
              </a:tr>
              <a:tr h="508000">
                <a:tc>
                  <a:txBody>
                    <a:bodyPr/>
                    <a:lstStyle/>
                    <a:p>
                      <a:r>
                        <a:rPr lang="fr-FR" sz="1200" b="0">
                          <a:solidFill>
                            <a:srgbClr val="212121"/>
                          </a:solidFill>
                          <a:latin typeface="Calibri" panose="020F0502020204030204" pitchFamily="34" charset="0"/>
                        </a:rPr>
                        <a:t>Les definitions des indicateurs sont imprecises</a:t>
                      </a:r>
                    </a:p>
                  </a:txBody>
                  <a:tcPr>
                    <a:solidFill>
                      <a:srgbClr val="FFFFFF"/>
                    </a:solidFill>
                  </a:tcPr>
                </a:tc>
                <a:tc>
                  <a:txBody>
                    <a:bodyPr/>
                    <a:lstStyle/>
                    <a:p>
                      <a:r>
                        <a:rPr lang="fr-FR" sz="1200" b="0">
                          <a:solidFill>
                            <a:srgbClr val="212121"/>
                          </a:solidFill>
                          <a:latin typeface="Calibri" panose="020F0502020204030204" pitchFamily="34" charset="0"/>
                        </a:rPr>
                        <a:t>Glossaire des indicateurs (formule et responsable)</a:t>
                      </a:r>
                    </a:p>
                  </a:txBody>
                  <a:tcPr>
                    <a:solidFill>
                      <a:srgbClr val="FFFFFF"/>
                    </a:solidFill>
                  </a:tcPr>
                </a:tc>
                <a:tc>
                  <a:txBody>
                    <a:bodyPr/>
                    <a:lstStyle/>
                    <a:p>
                      <a:r>
                        <a:rPr lang="fr-FR" sz="1200" b="0">
                          <a:solidFill>
                            <a:srgbClr val="212121"/>
                          </a:solidFill>
                          <a:latin typeface="Calibri" panose="020F0502020204030204" pitchFamily="34" charset="0"/>
                        </a:rPr>
                        <a:t>Phase 1</a:t>
                      </a:r>
                    </a:p>
                  </a:txBody>
                  <a:tcPr>
                    <a:solidFill>
                      <a:srgbClr val="FFFFFF"/>
                    </a:solidFill>
                  </a:tcPr>
                </a:tc>
                <a:extLst>
                  <a:ext uri="{0D108BD9-81ED-4DB2-BD59-A6C34878D82A}">
                    <a16:rowId xmlns:a16="http://schemas.microsoft.com/office/drawing/2014/main" val="2908710195"/>
                  </a:ext>
                </a:extLst>
              </a:tr>
              <a:tr h="508000">
                <a:tc>
                  <a:txBody>
                    <a:bodyPr/>
                    <a:lstStyle/>
                    <a:p>
                      <a:r>
                        <a:rPr lang="fr-FR" sz="1200" b="0">
                          <a:solidFill>
                            <a:srgbClr val="212121"/>
                          </a:solidFill>
                          <a:latin typeface="Calibri" panose="020F0502020204030204" pitchFamily="34" charset="0"/>
                        </a:rPr>
                        <a:t>Graphiques illisibles au lecteur d'ecran</a:t>
                      </a:r>
                    </a:p>
                  </a:txBody>
                  <a:tcPr>
                    <a:solidFill>
                      <a:srgbClr val="EEF3F8"/>
                    </a:solidFill>
                  </a:tcPr>
                </a:tc>
                <a:tc>
                  <a:txBody>
                    <a:bodyPr/>
                    <a:lstStyle/>
                    <a:p>
                      <a:r>
                        <a:rPr lang="fr-FR" sz="1200" b="0">
                          <a:solidFill>
                            <a:srgbClr val="212121"/>
                          </a:solidFill>
                          <a:latin typeface="Calibri" panose="020F0502020204030204" pitchFamily="34" charset="0"/>
                        </a:rPr>
                        <a:t>Alternatives textuelles, validation accessibilite</a:t>
                      </a:r>
                    </a:p>
                  </a:txBody>
                  <a:tcPr>
                    <a:solidFill>
                      <a:srgbClr val="EEF3F8"/>
                    </a:solidFill>
                  </a:tcPr>
                </a:tc>
                <a:tc>
                  <a:txBody>
                    <a:bodyPr/>
                    <a:lstStyle/>
                    <a:p>
                      <a:r>
                        <a:rPr lang="fr-FR" sz="1200" b="0">
                          <a:solidFill>
                            <a:srgbClr val="212121"/>
                          </a:solidFill>
                          <a:latin typeface="Calibri" panose="020F0502020204030204" pitchFamily="34" charset="0"/>
                        </a:rPr>
                        <a:t>Sprint 3</a:t>
                      </a:r>
                    </a:p>
                  </a:txBody>
                  <a:tcPr>
                    <a:solidFill>
                      <a:srgbClr val="EEF3F8"/>
                    </a:solidFill>
                  </a:tcPr>
                </a:tc>
                <a:extLst>
                  <a:ext uri="{0D108BD9-81ED-4DB2-BD59-A6C34878D82A}">
                    <a16:rowId xmlns:a16="http://schemas.microsoft.com/office/drawing/2014/main" val="2702092448"/>
                  </a:ext>
                </a:extLst>
              </a:tr>
            </a:tbl>
          </a:graphicData>
        </a:graphic>
      </p:graphicFrame>
      <p:sp>
        <p:nvSpPr>
          <p:cNvPr id="8" name="ZoneTexte 7">
            <a:extLst>
              <a:ext uri="{FF2B5EF4-FFF2-40B4-BE49-F238E27FC236}">
                <a16:creationId xmlns:a16="http://schemas.microsoft.com/office/drawing/2014/main" id="{A5451653-043F-3A82-936E-1C71245AB7F4}"/>
              </a:ext>
            </a:extLst>
          </p:cNvPr>
          <p:cNvSpPr txBox="1"/>
          <p:nvPr/>
        </p:nvSpPr>
        <p:spPr>
          <a:xfrm>
            <a:off x="457200" y="40640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Trois retours cumulent impact fort et frequence elevee : ils passent en premier. Le retour sur l'accessibilite est moins frequent mais remonte en priorite : c'est une exigence d'inclusion du projet, pas une option. Ce qu'il faut retenir : l'ordre de mes sprints n'est pas arbitraire, il reflete directement ce que le terrain nous a dit. Les 2 autres retours sont suivis au registre.</a:t>
            </a:r>
          </a:p>
        </p:txBody>
      </p:sp>
    </p:spTree>
    <p:extLst>
      <p:ext uri="{BB962C8B-B14F-4D97-AF65-F5344CB8AC3E}">
        <p14:creationId xmlns:p14="http://schemas.microsoft.com/office/powerpoint/2010/main" val="949275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1061E9E-E3B5-4B4B-EDF7-56B685439488}"/>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056C44B9-DAFE-7D56-BFAA-3A3CB18E2A14}"/>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Accompagnement : 4 profils, 4 parcours</a:t>
            </a:r>
          </a:p>
        </p:txBody>
      </p:sp>
      <p:sp>
        <p:nvSpPr>
          <p:cNvPr id="4" name="ZoneTexte 3">
            <a:extLst>
              <a:ext uri="{FF2B5EF4-FFF2-40B4-BE49-F238E27FC236}">
                <a16:creationId xmlns:a16="http://schemas.microsoft.com/office/drawing/2014/main" id="{7187EA34-4AF1-B512-422E-A163A38083F1}"/>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Informer, former, accompagner sur le poste, rendre autonome ; tout est court et accessible</a:t>
            </a:r>
          </a:p>
        </p:txBody>
      </p:sp>
      <p:sp>
        <p:nvSpPr>
          <p:cNvPr id="5" name="ZoneTexte 4">
            <a:extLst>
              <a:ext uri="{FF2B5EF4-FFF2-40B4-BE49-F238E27FC236}">
                <a16:creationId xmlns:a16="http://schemas.microsoft.com/office/drawing/2014/main" id="{41B22328-6996-7F2E-114F-A804063967CB}"/>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06A2B2BA-D6FB-8B1F-2405-4D86DD190485}"/>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7 / 9</a:t>
            </a:r>
          </a:p>
        </p:txBody>
      </p:sp>
      <p:graphicFrame>
        <p:nvGraphicFramePr>
          <p:cNvPr id="7" name="Tableau 6">
            <a:extLst>
              <a:ext uri="{FF2B5EF4-FFF2-40B4-BE49-F238E27FC236}">
                <a16:creationId xmlns:a16="http://schemas.microsoft.com/office/drawing/2014/main" id="{D7740883-83DD-F9E5-576A-B5182A36F791}"/>
              </a:ext>
            </a:extLst>
          </p:cNvPr>
          <p:cNvGraphicFramePr>
            <a:graphicFrameLocks noGrp="1"/>
          </p:cNvGraphicFramePr>
          <p:nvPr>
            <p:extLst>
              <p:ext uri="{D42A27DB-BD31-4B8C-83A1-F6EECF244321}">
                <p14:modId xmlns:p14="http://schemas.microsoft.com/office/powerpoint/2010/main" val="3968288286"/>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3703052449"/>
                    </a:ext>
                  </a:extLst>
                </a:gridCol>
                <a:gridCol w="7721600">
                  <a:extLst>
                    <a:ext uri="{9D8B030D-6E8A-4147-A177-3AD203B41FA5}">
                      <a16:colId xmlns:a16="http://schemas.microsoft.com/office/drawing/2014/main" val="3252354924"/>
                    </a:ext>
                  </a:extLst>
                </a:gridCol>
              </a:tblGrid>
              <a:tr h="508000">
                <a:tc>
                  <a:txBody>
                    <a:bodyPr/>
                    <a:lstStyle/>
                    <a:p>
                      <a:r>
                        <a:rPr lang="fr-FR" sz="1200" b="1">
                          <a:solidFill>
                            <a:srgbClr val="FFFFFF"/>
                          </a:solidFill>
                          <a:latin typeface="Calibri" panose="020F0502020204030204" pitchFamily="34" charset="0"/>
                        </a:rPr>
                        <a:t>Profil</a:t>
                      </a:r>
                    </a:p>
                  </a:txBody>
                  <a:tcPr>
                    <a:solidFill>
                      <a:srgbClr val="1A5276"/>
                    </a:solidFill>
                  </a:tcPr>
                </a:tc>
                <a:tc>
                  <a:txBody>
                    <a:bodyPr/>
                    <a:lstStyle/>
                    <a:p>
                      <a:r>
                        <a:rPr lang="fr-FR" sz="1200" b="1">
                          <a:solidFill>
                            <a:srgbClr val="FFFFFF"/>
                          </a:solidFill>
                          <a:latin typeface="Calibri" panose="020F0502020204030204" pitchFamily="34" charset="0"/>
                        </a:rPr>
                        <a:t>Son parcours de formation</a:t>
                      </a:r>
                    </a:p>
                  </a:txBody>
                  <a:tcPr>
                    <a:solidFill>
                      <a:srgbClr val="1A5276"/>
                    </a:solidFill>
                  </a:tcPr>
                </a:tc>
                <a:extLst>
                  <a:ext uri="{0D108BD9-81ED-4DB2-BD59-A6C34878D82A}">
                    <a16:rowId xmlns:a16="http://schemas.microsoft.com/office/drawing/2014/main" val="308576288"/>
                  </a:ext>
                </a:extLst>
              </a:tr>
              <a:tr h="508000">
                <a:tc>
                  <a:txBody>
                    <a:bodyPr/>
                    <a:lstStyle/>
                    <a:p>
                      <a:r>
                        <a:rPr lang="fr-FR" sz="1200" b="0">
                          <a:solidFill>
                            <a:srgbClr val="212121"/>
                          </a:solidFill>
                          <a:latin typeface="Calibri" panose="020F0502020204030204" pitchFamily="34" charset="0"/>
                        </a:rPr>
                        <a:t>Superviseurs</a:t>
                      </a:r>
                    </a:p>
                  </a:txBody>
                  <a:tcPr>
                    <a:solidFill>
                      <a:srgbClr val="FFFFFF"/>
                    </a:solidFill>
                  </a:tcPr>
                </a:tc>
                <a:tc>
                  <a:txBody>
                    <a:bodyPr/>
                    <a:lstStyle/>
                    <a:p>
                      <a:r>
                        <a:rPr lang="fr-FR" sz="1200" b="0">
                          <a:solidFill>
                            <a:srgbClr val="212121"/>
                          </a:solidFill>
                          <a:latin typeface="Calibri" panose="020F0502020204030204" pitchFamily="34" charset="0"/>
                        </a:rPr>
                        <a:t>Atelier de 45 min sur cas reels et fiche reflexe des indicateurs critiques</a:t>
                      </a:r>
                    </a:p>
                  </a:txBody>
                  <a:tcPr>
                    <a:solidFill>
                      <a:srgbClr val="FFFFFF"/>
                    </a:solidFill>
                  </a:tcPr>
                </a:tc>
                <a:extLst>
                  <a:ext uri="{0D108BD9-81ED-4DB2-BD59-A6C34878D82A}">
                    <a16:rowId xmlns:a16="http://schemas.microsoft.com/office/drawing/2014/main" val="4231052986"/>
                  </a:ext>
                </a:extLst>
              </a:tr>
              <a:tr h="508000">
                <a:tc>
                  <a:txBody>
                    <a:bodyPr/>
                    <a:lstStyle/>
                    <a:p>
                      <a:r>
                        <a:rPr lang="fr-FR" sz="1200" b="0">
                          <a:solidFill>
                            <a:srgbClr val="212121"/>
                          </a:solidFill>
                          <a:latin typeface="Calibri" panose="020F0502020204030204" pitchFamily="34" charset="0"/>
                        </a:rPr>
                        <a:t>Agents du centre operationnel</a:t>
                      </a:r>
                    </a:p>
                  </a:txBody>
                  <a:tcPr>
                    <a:solidFill>
                      <a:srgbClr val="EEF3F8"/>
                    </a:solidFill>
                  </a:tcPr>
                </a:tc>
                <a:tc>
                  <a:txBody>
                    <a:bodyPr/>
                    <a:lstStyle/>
                    <a:p>
                      <a:r>
                        <a:rPr lang="fr-FR" sz="1200" b="0">
                          <a:solidFill>
                            <a:srgbClr val="212121"/>
                          </a:solidFill>
                          <a:latin typeface="Calibri" panose="020F0502020204030204" pitchFamily="34" charset="0"/>
                        </a:rPr>
                        <a:t>Atelier de 45 min, puis prise en main en binome sur poste : 2 sessions de 30 min sur des alertes reelles</a:t>
                      </a:r>
                    </a:p>
                  </a:txBody>
                  <a:tcPr>
                    <a:solidFill>
                      <a:srgbClr val="EEF3F8"/>
                    </a:solidFill>
                  </a:tcPr>
                </a:tc>
                <a:extLst>
                  <a:ext uri="{0D108BD9-81ED-4DB2-BD59-A6C34878D82A}">
                    <a16:rowId xmlns:a16="http://schemas.microsoft.com/office/drawing/2014/main" val="3401434858"/>
                  </a:ext>
                </a:extLst>
              </a:tr>
              <a:tr h="508000">
                <a:tc>
                  <a:txBody>
                    <a:bodyPr/>
                    <a:lstStyle/>
                    <a:p>
                      <a:r>
                        <a:rPr lang="fr-FR" sz="1200" b="0">
                          <a:solidFill>
                            <a:srgbClr val="212121"/>
                          </a:solidFill>
                          <a:latin typeface="Calibri" panose="020F0502020204030204" pitchFamily="34" charset="0"/>
                        </a:rPr>
                        <a:t>Analystes mobilite</a:t>
                      </a:r>
                    </a:p>
                  </a:txBody>
                  <a:tcPr>
                    <a:solidFill>
                      <a:srgbClr val="FFFFFF"/>
                    </a:solidFill>
                  </a:tcPr>
                </a:tc>
                <a:tc>
                  <a:txBody>
                    <a:bodyPr/>
                    <a:lstStyle/>
                    <a:p>
                      <a:r>
                        <a:rPr lang="fr-FR" sz="1200" b="0">
                          <a:solidFill>
                            <a:srgbClr val="212121"/>
                          </a:solidFill>
                          <a:latin typeface="Calibri" panose="020F0502020204030204" pitchFamily="34" charset="0"/>
                        </a:rPr>
                        <a:t>Atelier de 45 min, glossaire des indicateurs et formation aux exports</a:t>
                      </a:r>
                    </a:p>
                  </a:txBody>
                  <a:tcPr>
                    <a:solidFill>
                      <a:srgbClr val="FFFFFF"/>
                    </a:solidFill>
                  </a:tcPr>
                </a:tc>
                <a:extLst>
                  <a:ext uri="{0D108BD9-81ED-4DB2-BD59-A6C34878D82A}">
                    <a16:rowId xmlns:a16="http://schemas.microsoft.com/office/drawing/2014/main" val="1130848493"/>
                  </a:ext>
                </a:extLst>
              </a:tr>
              <a:tr h="508000">
                <a:tc>
                  <a:txBody>
                    <a:bodyPr/>
                    <a:lstStyle/>
                    <a:p>
                      <a:r>
                        <a:rPr lang="fr-FR" sz="1200" b="0">
                          <a:solidFill>
                            <a:srgbClr val="212121"/>
                          </a:solidFill>
                          <a:latin typeface="Calibri" panose="020F0502020204030204" pitchFamily="34" charset="0"/>
                        </a:rPr>
                        <a:t>Utilisateurs avec besoin d'accessibilite</a:t>
                      </a:r>
                    </a:p>
                  </a:txBody>
                  <a:tcPr>
                    <a:solidFill>
                      <a:srgbClr val="EEF3F8"/>
                    </a:solidFill>
                  </a:tcPr>
                </a:tc>
                <a:tc>
                  <a:txBody>
                    <a:bodyPr/>
                    <a:lstStyle/>
                    <a:p>
                      <a:r>
                        <a:rPr lang="fr-FR" sz="1200" b="0">
                          <a:solidFill>
                            <a:srgbClr val="212121"/>
                          </a:solidFill>
                          <a:latin typeface="Calibri" panose="020F0502020204030204" pitchFamily="34" charset="0"/>
                        </a:rPr>
                        <a:t>Session dediee : lecteur d'ecran, sous-titres, rythme adapte, supports valides avant diffusion</a:t>
                      </a:r>
                    </a:p>
                  </a:txBody>
                  <a:tcPr>
                    <a:solidFill>
                      <a:srgbClr val="EEF3F8"/>
                    </a:solidFill>
                  </a:tcPr>
                </a:tc>
                <a:extLst>
                  <a:ext uri="{0D108BD9-81ED-4DB2-BD59-A6C34878D82A}">
                    <a16:rowId xmlns:a16="http://schemas.microsoft.com/office/drawing/2014/main" val="3491881125"/>
                  </a:ext>
                </a:extLst>
              </a:tr>
            </a:tbl>
          </a:graphicData>
        </a:graphic>
      </p:graphicFrame>
      <p:sp>
        <p:nvSpPr>
          <p:cNvPr id="8" name="ZoneTexte 7">
            <a:extLst>
              <a:ext uri="{FF2B5EF4-FFF2-40B4-BE49-F238E27FC236}">
                <a16:creationId xmlns:a16="http://schemas.microsoft.com/office/drawing/2014/main" id="{50E0DF06-B943-557B-E6EC-4B3037FFBE6C}"/>
              </a:ext>
            </a:extLst>
          </p:cNvPr>
          <p:cNvSpPr txBox="1"/>
          <p:nvPr/>
        </p:nvSpPr>
        <p:spPr>
          <a:xfrm>
            <a:off x="457200" y="40132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Apres le deploiement, le support prend le relais : niveau 1 (FAQ, gestes simples, premiere reponse sous 4 heures ouvrees) puis niveau 2 (equipe data), avec une procedure d'escalade claire. La formation cree l'adoption, le support l'empeche de retomber. Cible : 100 % des profils formes avant le pilote, satisfaction 4/5 minimum, participation 90 % minimum.</a:t>
            </a:r>
          </a:p>
        </p:txBody>
      </p:sp>
      <p:sp>
        <p:nvSpPr>
          <p:cNvPr id="9" name="Rectangle : coins arrondis 8">
            <a:extLst>
              <a:ext uri="{FF2B5EF4-FFF2-40B4-BE49-F238E27FC236}">
                <a16:creationId xmlns:a16="http://schemas.microsoft.com/office/drawing/2014/main" id="{B19B3D6F-0B88-630F-95BB-A8395D7AD24C}"/>
              </a:ext>
            </a:extLst>
          </p:cNvPr>
          <p:cNvSpPr/>
          <p:nvPr/>
        </p:nvSpPr>
        <p:spPr>
          <a:xfrm>
            <a:off x="457200" y="5613400"/>
            <a:ext cx="11277600" cy="533400"/>
          </a:xfrm>
          <a:prstGeom prst="roundRect">
            <a:avLst/>
          </a:prstGeom>
          <a:solidFill>
            <a:srgbClr val="CA6F1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500" b="1">
                <a:solidFill>
                  <a:srgbClr val="FFFFFF"/>
                </a:solidFill>
                <a:latin typeface="Calibri" panose="020F0502020204030204" pitchFamily="34" charset="0"/>
              </a:rPr>
              <a:t>Decision attendue n°2 : valider ce dispositif d'accompagnement</a:t>
            </a:r>
          </a:p>
        </p:txBody>
      </p:sp>
    </p:spTree>
    <p:extLst>
      <p:ext uri="{BB962C8B-B14F-4D97-AF65-F5344CB8AC3E}">
        <p14:creationId xmlns:p14="http://schemas.microsoft.com/office/powerpoint/2010/main" val="3136159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298E4-B298-70F4-919E-7CB4197C0BE6}"/>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F475C0F3-D3D7-70C3-40E9-61349B5E584A}"/>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Les 4 decisions demandees a ce comite</a:t>
            </a:r>
          </a:p>
        </p:txBody>
      </p:sp>
      <p:sp>
        <p:nvSpPr>
          <p:cNvPr id="4" name="ZoneTexte 3">
            <a:extLst>
              <a:ext uri="{FF2B5EF4-FFF2-40B4-BE49-F238E27FC236}">
                <a16:creationId xmlns:a16="http://schemas.microsoft.com/office/drawing/2014/main" id="{BB3997AA-1195-5309-A443-1C88C68662A9}"/>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Deux validations des cette semaine, deux arbitrages d'ici la semaine 4</a:t>
            </a:r>
          </a:p>
        </p:txBody>
      </p:sp>
      <p:sp>
        <p:nvSpPr>
          <p:cNvPr id="5" name="ZoneTexte 4">
            <a:extLst>
              <a:ext uri="{FF2B5EF4-FFF2-40B4-BE49-F238E27FC236}">
                <a16:creationId xmlns:a16="http://schemas.microsoft.com/office/drawing/2014/main" id="{380E1881-EDB2-CDD0-9414-D09661E02A44}"/>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2E714B81-B70B-C328-0425-FC25162F6AD4}"/>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8 / 9</a:t>
            </a:r>
          </a:p>
        </p:txBody>
      </p:sp>
      <p:graphicFrame>
        <p:nvGraphicFramePr>
          <p:cNvPr id="7" name="Tableau 6">
            <a:extLst>
              <a:ext uri="{FF2B5EF4-FFF2-40B4-BE49-F238E27FC236}">
                <a16:creationId xmlns:a16="http://schemas.microsoft.com/office/drawing/2014/main" id="{628046C3-7397-6514-C82E-A3646E06995A}"/>
              </a:ext>
            </a:extLst>
          </p:cNvPr>
          <p:cNvGraphicFramePr>
            <a:graphicFrameLocks noGrp="1"/>
          </p:cNvGraphicFramePr>
          <p:nvPr>
            <p:extLst>
              <p:ext uri="{D42A27DB-BD31-4B8C-83A1-F6EECF244321}">
                <p14:modId xmlns:p14="http://schemas.microsoft.com/office/powerpoint/2010/main" val="1936952493"/>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762000">
                  <a:extLst>
                    <a:ext uri="{9D8B030D-6E8A-4147-A177-3AD203B41FA5}">
                      <a16:colId xmlns:a16="http://schemas.microsoft.com/office/drawing/2014/main" val="3449947107"/>
                    </a:ext>
                  </a:extLst>
                </a:gridCol>
                <a:gridCol w="8763000">
                  <a:extLst>
                    <a:ext uri="{9D8B030D-6E8A-4147-A177-3AD203B41FA5}">
                      <a16:colId xmlns:a16="http://schemas.microsoft.com/office/drawing/2014/main" val="4169813651"/>
                    </a:ext>
                  </a:extLst>
                </a:gridCol>
                <a:gridCol w="1752600">
                  <a:extLst>
                    <a:ext uri="{9D8B030D-6E8A-4147-A177-3AD203B41FA5}">
                      <a16:colId xmlns:a16="http://schemas.microsoft.com/office/drawing/2014/main" val="3237402419"/>
                    </a:ext>
                  </a:extLst>
                </a:gridCol>
              </a:tblGrid>
              <a:tr h="508000">
                <a:tc>
                  <a:txBody>
                    <a:bodyPr/>
                    <a:lstStyle/>
                    <a:p>
                      <a:r>
                        <a:rPr lang="fr-FR" sz="1200" b="1">
                          <a:solidFill>
                            <a:srgbClr val="FFFFFF"/>
                          </a:solidFill>
                          <a:latin typeface="Calibri" panose="020F0502020204030204" pitchFamily="34" charset="0"/>
                        </a:rPr>
                        <a:t>N°</a:t>
                      </a:r>
                    </a:p>
                  </a:txBody>
                  <a:tcPr>
                    <a:solidFill>
                      <a:srgbClr val="1A5276"/>
                    </a:solidFill>
                  </a:tcPr>
                </a:tc>
                <a:tc>
                  <a:txBody>
                    <a:bodyPr/>
                    <a:lstStyle/>
                    <a:p>
                      <a:r>
                        <a:rPr lang="fr-FR" sz="1200" b="1">
                          <a:solidFill>
                            <a:srgbClr val="FFFFFF"/>
                          </a:solidFill>
                          <a:latin typeface="Calibri" panose="020F0502020204030204" pitchFamily="34" charset="0"/>
                        </a:rPr>
                        <a:t>Decision demandee</a:t>
                      </a:r>
                    </a:p>
                  </a:txBody>
                  <a:tcPr>
                    <a:solidFill>
                      <a:srgbClr val="1A5276"/>
                    </a:solidFill>
                  </a:tcPr>
                </a:tc>
                <a:tc>
                  <a:txBody>
                    <a:bodyPr/>
                    <a:lstStyle/>
                    <a:p>
                      <a:r>
                        <a:rPr lang="fr-FR" sz="1200" b="1">
                          <a:solidFill>
                            <a:srgbClr val="FFFFFF"/>
                          </a:solidFill>
                          <a:latin typeface="Calibri" panose="020F0502020204030204" pitchFamily="34" charset="0"/>
                        </a:rPr>
                        <a:t>Echeance</a:t>
                      </a:r>
                    </a:p>
                  </a:txBody>
                  <a:tcPr>
                    <a:solidFill>
                      <a:srgbClr val="1A5276"/>
                    </a:solidFill>
                  </a:tcPr>
                </a:tc>
                <a:extLst>
                  <a:ext uri="{0D108BD9-81ED-4DB2-BD59-A6C34878D82A}">
                    <a16:rowId xmlns:a16="http://schemas.microsoft.com/office/drawing/2014/main" val="2911529144"/>
                  </a:ext>
                </a:extLst>
              </a:tr>
              <a:tr h="508000">
                <a:tc>
                  <a:txBody>
                    <a:bodyPr/>
                    <a:lstStyle/>
                    <a:p>
                      <a:r>
                        <a:rPr lang="fr-FR" sz="1200" b="0">
                          <a:solidFill>
                            <a:srgbClr val="212121"/>
                          </a:solidFill>
                          <a:latin typeface="Calibri" panose="020F0502020204030204" pitchFamily="34" charset="0"/>
                        </a:rPr>
                        <a:t>1</a:t>
                      </a:r>
                    </a:p>
                  </a:txBody>
                  <a:tcPr>
                    <a:solidFill>
                      <a:srgbClr val="FFFFFF"/>
                    </a:solidFill>
                  </a:tcPr>
                </a:tc>
                <a:tc>
                  <a:txBody>
                    <a:bodyPr/>
                    <a:lstStyle/>
                    <a:p>
                      <a:r>
                        <a:rPr lang="fr-FR" sz="1200" b="0">
                          <a:solidFill>
                            <a:srgbClr val="212121"/>
                          </a:solidFill>
                          <a:latin typeface="Calibri" panose="020F0502020204030204" pitchFamily="34" charset="0"/>
                        </a:rPr>
                        <a:t>Valider le mode de gouvernance (methode hybride, RACI, comite d'arbitrage)</a:t>
                      </a:r>
                    </a:p>
                  </a:txBody>
                  <a:tcPr>
                    <a:solidFill>
                      <a:srgbClr val="FFFFFF"/>
                    </a:solidFill>
                  </a:tcPr>
                </a:tc>
                <a:tc>
                  <a:txBody>
                    <a:bodyPr/>
                    <a:lstStyle/>
                    <a:p>
                      <a:r>
                        <a:rPr lang="fr-FR" sz="1200" b="0">
                          <a:solidFill>
                            <a:srgbClr val="212121"/>
                          </a:solidFill>
                          <a:latin typeface="Calibri" panose="020F0502020204030204" pitchFamily="34" charset="0"/>
                        </a:rPr>
                        <a:t>S2</a:t>
                      </a:r>
                    </a:p>
                  </a:txBody>
                  <a:tcPr>
                    <a:solidFill>
                      <a:srgbClr val="FFFFFF"/>
                    </a:solidFill>
                  </a:tcPr>
                </a:tc>
                <a:extLst>
                  <a:ext uri="{0D108BD9-81ED-4DB2-BD59-A6C34878D82A}">
                    <a16:rowId xmlns:a16="http://schemas.microsoft.com/office/drawing/2014/main" val="3125958374"/>
                  </a:ext>
                </a:extLst>
              </a:tr>
              <a:tr h="508000">
                <a:tc>
                  <a:txBody>
                    <a:bodyPr/>
                    <a:lstStyle/>
                    <a:p>
                      <a:r>
                        <a:rPr lang="fr-FR" sz="1200" b="0">
                          <a:solidFill>
                            <a:srgbClr val="212121"/>
                          </a:solidFill>
                          <a:latin typeface="Calibri" panose="020F0502020204030204" pitchFamily="34" charset="0"/>
                        </a:rPr>
                        <a:t>2</a:t>
                      </a:r>
                    </a:p>
                  </a:txBody>
                  <a:tcPr>
                    <a:solidFill>
                      <a:srgbClr val="EEF3F8"/>
                    </a:solidFill>
                  </a:tcPr>
                </a:tc>
                <a:tc>
                  <a:txBody>
                    <a:bodyPr/>
                    <a:lstStyle/>
                    <a:p>
                      <a:r>
                        <a:rPr lang="fr-FR" sz="1200" b="0">
                          <a:solidFill>
                            <a:srgbClr val="212121"/>
                          </a:solidFill>
                          <a:latin typeface="Calibri" panose="020F0502020204030204" pitchFamily="34" charset="0"/>
                        </a:rPr>
                        <a:t>Valider le calendrier de deploiement (4 phases, 5 jalons)</a:t>
                      </a:r>
                    </a:p>
                  </a:txBody>
                  <a:tcPr>
                    <a:solidFill>
                      <a:srgbClr val="EEF3F8"/>
                    </a:solidFill>
                  </a:tcPr>
                </a:tc>
                <a:tc>
                  <a:txBody>
                    <a:bodyPr/>
                    <a:lstStyle/>
                    <a:p>
                      <a:r>
                        <a:rPr lang="fr-FR" sz="1200" b="0">
                          <a:solidFill>
                            <a:srgbClr val="212121"/>
                          </a:solidFill>
                          <a:latin typeface="Calibri" panose="020F0502020204030204" pitchFamily="34" charset="0"/>
                        </a:rPr>
                        <a:t>S2</a:t>
                      </a:r>
                    </a:p>
                  </a:txBody>
                  <a:tcPr>
                    <a:solidFill>
                      <a:srgbClr val="EEF3F8"/>
                    </a:solidFill>
                  </a:tcPr>
                </a:tc>
                <a:extLst>
                  <a:ext uri="{0D108BD9-81ED-4DB2-BD59-A6C34878D82A}">
                    <a16:rowId xmlns:a16="http://schemas.microsoft.com/office/drawing/2014/main" val="2008701339"/>
                  </a:ext>
                </a:extLst>
              </a:tr>
              <a:tr h="508000">
                <a:tc>
                  <a:txBody>
                    <a:bodyPr/>
                    <a:lstStyle/>
                    <a:p>
                      <a:r>
                        <a:rPr lang="fr-FR" sz="1200" b="0">
                          <a:solidFill>
                            <a:srgbClr val="212121"/>
                          </a:solidFill>
                          <a:latin typeface="Calibri" panose="020F0502020204030204" pitchFamily="34" charset="0"/>
                        </a:rPr>
                        <a:t>3</a:t>
                      </a:r>
                    </a:p>
                  </a:txBody>
                  <a:tcPr>
                    <a:solidFill>
                      <a:srgbClr val="FFFFFF"/>
                    </a:solidFill>
                  </a:tcPr>
                </a:tc>
                <a:tc>
                  <a:txBody>
                    <a:bodyPr/>
                    <a:lstStyle/>
                    <a:p>
                      <a:r>
                        <a:rPr lang="fr-FR" sz="1200" b="0">
                          <a:solidFill>
                            <a:srgbClr val="212121"/>
                          </a:solidFill>
                          <a:latin typeface="Calibri" panose="020F0502020204030204" pitchFamily="34" charset="0"/>
                        </a:rPr>
                        <a:t>Arbitrer les priorites du backlog proposees</a:t>
                      </a:r>
                    </a:p>
                  </a:txBody>
                  <a:tcPr>
                    <a:solidFill>
                      <a:srgbClr val="FFFFFF"/>
                    </a:solidFill>
                  </a:tcPr>
                </a:tc>
                <a:tc>
                  <a:txBody>
                    <a:bodyPr/>
                    <a:lstStyle/>
                    <a:p>
                      <a:r>
                        <a:rPr lang="fr-FR" sz="1200" b="0">
                          <a:solidFill>
                            <a:srgbClr val="212121"/>
                          </a:solidFill>
                          <a:latin typeface="Calibri" panose="020F0502020204030204" pitchFamily="34" charset="0"/>
                        </a:rPr>
                        <a:t>S2</a:t>
                      </a:r>
                    </a:p>
                  </a:txBody>
                  <a:tcPr>
                    <a:solidFill>
                      <a:srgbClr val="FFFFFF"/>
                    </a:solidFill>
                  </a:tcPr>
                </a:tc>
                <a:extLst>
                  <a:ext uri="{0D108BD9-81ED-4DB2-BD59-A6C34878D82A}">
                    <a16:rowId xmlns:a16="http://schemas.microsoft.com/office/drawing/2014/main" val="766691888"/>
                  </a:ext>
                </a:extLst>
              </a:tr>
              <a:tr h="508000">
                <a:tc>
                  <a:txBody>
                    <a:bodyPr/>
                    <a:lstStyle/>
                    <a:p>
                      <a:r>
                        <a:rPr lang="fr-FR" sz="1200" b="0">
                          <a:solidFill>
                            <a:srgbClr val="212121"/>
                          </a:solidFill>
                          <a:latin typeface="Calibri" panose="020F0502020204030204" pitchFamily="34" charset="0"/>
                        </a:rPr>
                        <a:t>4</a:t>
                      </a:r>
                    </a:p>
                  </a:txBody>
                  <a:tcPr>
                    <a:solidFill>
                      <a:srgbClr val="EEF3F8"/>
                    </a:solidFill>
                  </a:tcPr>
                </a:tc>
                <a:tc>
                  <a:txBody>
                    <a:bodyPr/>
                    <a:lstStyle/>
                    <a:p>
                      <a:r>
                        <a:rPr lang="fr-FR" sz="1200" b="0">
                          <a:solidFill>
                            <a:srgbClr val="212121"/>
                          </a:solidFill>
                          <a:latin typeface="Calibri" panose="020F0502020204030204" pitchFamily="34" charset="0"/>
                        </a:rPr>
                        <a:t>Valider le dispositif d'accompagnement des utilisateurs</a:t>
                      </a:r>
                    </a:p>
                  </a:txBody>
                  <a:tcPr>
                    <a:solidFill>
                      <a:srgbClr val="EEF3F8"/>
                    </a:solidFill>
                  </a:tcPr>
                </a:tc>
                <a:tc>
                  <a:txBody>
                    <a:bodyPr/>
                    <a:lstStyle/>
                    <a:p>
                      <a:r>
                        <a:rPr lang="fr-FR" sz="1200" b="0">
                          <a:solidFill>
                            <a:srgbClr val="212121"/>
                          </a:solidFill>
                          <a:latin typeface="Calibri" panose="020F0502020204030204" pitchFamily="34" charset="0"/>
                        </a:rPr>
                        <a:t>S4</a:t>
                      </a:r>
                    </a:p>
                  </a:txBody>
                  <a:tcPr>
                    <a:solidFill>
                      <a:srgbClr val="EEF3F8"/>
                    </a:solidFill>
                  </a:tcPr>
                </a:tc>
                <a:extLst>
                  <a:ext uri="{0D108BD9-81ED-4DB2-BD59-A6C34878D82A}">
                    <a16:rowId xmlns:a16="http://schemas.microsoft.com/office/drawing/2014/main" val="3001976902"/>
                  </a:ext>
                </a:extLst>
              </a:tr>
            </a:tbl>
          </a:graphicData>
        </a:graphic>
      </p:graphicFrame>
      <p:sp>
        <p:nvSpPr>
          <p:cNvPr id="8" name="ZoneTexte 7">
            <a:extLst>
              <a:ext uri="{FF2B5EF4-FFF2-40B4-BE49-F238E27FC236}">
                <a16:creationId xmlns:a16="http://schemas.microsoft.com/office/drawing/2014/main" id="{9B59B256-315C-6BBF-F480-987F533F8A12}"/>
              </a:ext>
            </a:extLst>
          </p:cNvPr>
          <p:cNvSpPr txBox="1"/>
          <p:nvPr/>
        </p:nvSpPr>
        <p:spPr>
          <a:xfrm>
            <a:off x="457200" y="4064000"/>
            <a:ext cx="11277600" cy="492443"/>
          </a:xfrm>
          <a:prstGeom prst="rect">
            <a:avLst/>
          </a:prstGeom>
          <a:noFill/>
        </p:spPr>
        <p:txBody>
          <a:bodyPr vert="horz" wrap="square" rtlCol="0">
            <a:spAutoFit/>
          </a:bodyPr>
          <a:lstStyle/>
          <a:p>
            <a:r>
              <a:rPr lang="fr-FR" sz="1300">
                <a:solidFill>
                  <a:srgbClr val="212121"/>
                </a:solidFill>
                <a:latin typeface="Calibri" panose="020F0502020204030204" pitchFamily="34" charset="0"/>
              </a:rPr>
              <a:t>Si vous validez aujourd'hui : le cadrage demarre immediatement, le premier comite d'arbitrage se tient des lundi, vous recevez le premier reporting hebdomadaire en semaine 3, et nous nous retrouvons au jalon J1 en fin de semaine 2 pour constater que la gouvernance est en place.</a:t>
            </a:r>
          </a:p>
        </p:txBody>
      </p:sp>
      <p:sp>
        <p:nvSpPr>
          <p:cNvPr id="9" name="Rectangle : coins arrondis 8">
            <a:extLst>
              <a:ext uri="{FF2B5EF4-FFF2-40B4-BE49-F238E27FC236}">
                <a16:creationId xmlns:a16="http://schemas.microsoft.com/office/drawing/2014/main" id="{6477C7FB-1033-300F-0785-3423E6B907F6}"/>
              </a:ext>
            </a:extLst>
          </p:cNvPr>
          <p:cNvSpPr/>
          <p:nvPr/>
        </p:nvSpPr>
        <p:spPr>
          <a:xfrm>
            <a:off x="457200" y="5537200"/>
            <a:ext cx="11277600" cy="533400"/>
          </a:xfrm>
          <a:prstGeom prst="roundRect">
            <a:avLst/>
          </a:prstGeom>
          <a:solidFill>
            <a:srgbClr val="1E844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500" b="1">
                <a:solidFill>
                  <a:srgbClr val="FFFFFF"/>
                </a:solidFill>
                <a:latin typeface="Calibri" panose="020F0502020204030204" pitchFamily="34" charset="0"/>
              </a:rPr>
              <a:t>Merci de votre attention. Je suis pret a repondre a vos questions.</a:t>
            </a:r>
          </a:p>
        </p:txBody>
      </p:sp>
    </p:spTree>
    <p:extLst>
      <p:ext uri="{BB962C8B-B14F-4D97-AF65-F5344CB8AC3E}">
        <p14:creationId xmlns:p14="http://schemas.microsoft.com/office/powerpoint/2010/main" val="8745516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B11ADA-1F04-D5B6-D1BF-39667054AF39}"/>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48201A1C-80E0-E28D-DB11-0C05F5CC8FED}"/>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ANNEXE : socle data et perimetre technique du Lead Data</a:t>
            </a:r>
          </a:p>
        </p:txBody>
      </p:sp>
      <p:sp>
        <p:nvSpPr>
          <p:cNvPr id="4" name="ZoneTexte 3">
            <a:extLst>
              <a:ext uri="{FF2B5EF4-FFF2-40B4-BE49-F238E27FC236}">
                <a16:creationId xmlns:a16="http://schemas.microsoft.com/office/drawing/2014/main" id="{195BC75A-FFE1-4D88-985F-DA6066F8D3A5}"/>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Presentee uniquement en reponse aux questions du jury, hors des 10 minutes de reporting</a:t>
            </a:r>
          </a:p>
        </p:txBody>
      </p:sp>
      <p:sp>
        <p:nvSpPr>
          <p:cNvPr id="5" name="ZoneTexte 4">
            <a:extLst>
              <a:ext uri="{FF2B5EF4-FFF2-40B4-BE49-F238E27FC236}">
                <a16:creationId xmlns:a16="http://schemas.microsoft.com/office/drawing/2014/main" id="{C55E2EE0-115B-D72C-F639-A14A70F83B3A}"/>
              </a:ext>
            </a:extLst>
          </p:cNvPr>
          <p:cNvSpPr txBox="1"/>
          <p:nvPr/>
        </p:nvSpPr>
        <p:spPr>
          <a:xfrm>
            <a:off x="457200" y="6527800"/>
            <a:ext cx="7620000" cy="246221"/>
          </a:xfrm>
          <a:prstGeom prst="rect">
            <a:avLst/>
          </a:prstGeom>
          <a:noFill/>
        </p:spPr>
        <p:txBody>
          <a:bodyPr vert="horz" wrap="square" rtlCol="0">
            <a:spAutoFit/>
          </a:bodyPr>
          <a:lstStyle/>
          <a:p>
            <a:r>
              <a:rPr lang="pt-BR" sz="1000">
                <a:solidFill>
                  <a:srgbClr val="6E7680"/>
                </a:solidFill>
                <a:latin typeface="Calibri" panose="020F0502020204030204" pitchFamily="34" charset="0"/>
              </a:rPr>
              <a:t>Ouassim Megrad  ·  Lead Data  ·  equipe Megslab</a:t>
            </a:r>
            <a:endParaRPr lang="fr-FR" sz="1000">
              <a:solidFill>
                <a:srgbClr val="6E7680"/>
              </a:solidFill>
              <a:latin typeface="Calibri" panose="020F0502020204030204" pitchFamily="34" charset="0"/>
            </a:endParaRPr>
          </a:p>
        </p:txBody>
      </p:sp>
      <p:sp>
        <p:nvSpPr>
          <p:cNvPr id="6" name="ZoneTexte 5">
            <a:extLst>
              <a:ext uri="{FF2B5EF4-FFF2-40B4-BE49-F238E27FC236}">
                <a16:creationId xmlns:a16="http://schemas.microsoft.com/office/drawing/2014/main" id="{4E26BCC9-7EFE-BA7C-EFA3-4B25CBCB477F}"/>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9 / 9</a:t>
            </a:r>
          </a:p>
        </p:txBody>
      </p:sp>
      <p:sp>
        <p:nvSpPr>
          <p:cNvPr id="7" name="Rectangle : coins arrondis 6">
            <a:extLst>
              <a:ext uri="{FF2B5EF4-FFF2-40B4-BE49-F238E27FC236}">
                <a16:creationId xmlns:a16="http://schemas.microsoft.com/office/drawing/2014/main" id="{23489148-379E-59A4-6098-67E1D69E1A60}"/>
              </a:ext>
            </a:extLst>
          </p:cNvPr>
          <p:cNvSpPr/>
          <p:nvPr/>
        </p:nvSpPr>
        <p:spPr>
          <a:xfrm>
            <a:off x="457200" y="10160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82E4BAE4-EA3D-FD82-1B9B-E9000AEF4D96}"/>
              </a:ext>
            </a:extLst>
          </p:cNvPr>
          <p:cNvSpPr txBox="1"/>
          <p:nvPr/>
        </p:nvSpPr>
        <p:spPr>
          <a:xfrm>
            <a:off x="6350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CHAINE DE DONNEES</a:t>
            </a:r>
          </a:p>
        </p:txBody>
      </p:sp>
      <p:sp>
        <p:nvSpPr>
          <p:cNvPr id="9" name="ZoneTexte 8">
            <a:extLst>
              <a:ext uri="{FF2B5EF4-FFF2-40B4-BE49-F238E27FC236}">
                <a16:creationId xmlns:a16="http://schemas.microsoft.com/office/drawing/2014/main" id="{B3665C6E-26F3-1A88-E9F1-E67901793F92}"/>
              </a:ext>
            </a:extLst>
          </p:cNvPr>
          <p:cNvSpPr txBox="1"/>
          <p:nvPr/>
        </p:nvSpPr>
        <p:spPr>
          <a:xfrm>
            <a:off x="6350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Collecte des signaux de mobilite (bus, tramways, velos, capteurs de trafic), ingestion en continu et centralisation dans un entrepot de donnees. Je garantis disponibilite et fraicheur.</a:t>
            </a:r>
          </a:p>
        </p:txBody>
      </p:sp>
      <p:sp>
        <p:nvSpPr>
          <p:cNvPr id="10" name="Rectangle : coins arrondis 9">
            <a:extLst>
              <a:ext uri="{FF2B5EF4-FFF2-40B4-BE49-F238E27FC236}">
                <a16:creationId xmlns:a16="http://schemas.microsoft.com/office/drawing/2014/main" id="{3AC6650A-5167-B7FA-8D31-6CF68679E065}"/>
              </a:ext>
            </a:extLst>
          </p:cNvPr>
          <p:cNvSpPr/>
          <p:nvPr/>
        </p:nvSpPr>
        <p:spPr>
          <a:xfrm>
            <a:off x="6273800" y="10160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23BD476A-D2B5-1F58-FE24-4CE615F05256}"/>
              </a:ext>
            </a:extLst>
          </p:cNvPr>
          <p:cNvSpPr txBox="1"/>
          <p:nvPr/>
        </p:nvSpPr>
        <p:spPr>
          <a:xfrm>
            <a:off x="64516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QUALITE DES DONNEES</a:t>
            </a:r>
          </a:p>
        </p:txBody>
      </p:sp>
      <p:sp>
        <p:nvSpPr>
          <p:cNvPr id="12" name="ZoneTexte 11">
            <a:extLst>
              <a:ext uri="{FF2B5EF4-FFF2-40B4-BE49-F238E27FC236}">
                <a16:creationId xmlns:a16="http://schemas.microsoft.com/office/drawing/2014/main" id="{62DB95C8-7627-EAED-C746-AF3E5DE12C49}"/>
              </a:ext>
            </a:extLst>
          </p:cNvPr>
          <p:cNvSpPr txBox="1"/>
          <p:nvPr/>
        </p:nvSpPr>
        <p:spPr>
          <a:xfrm>
            <a:off x="64516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Controles automatises : completude, coherence, doublons ; referentiels partages. C'est le prerequis des tendances par ligne (B06) : sans qualite, pas d'indicateur fiable.</a:t>
            </a:r>
          </a:p>
        </p:txBody>
      </p:sp>
      <p:sp>
        <p:nvSpPr>
          <p:cNvPr id="13" name="Rectangle : coins arrondis 12">
            <a:extLst>
              <a:ext uri="{FF2B5EF4-FFF2-40B4-BE49-F238E27FC236}">
                <a16:creationId xmlns:a16="http://schemas.microsoft.com/office/drawing/2014/main" id="{684D7796-F994-2FD7-DCF5-9F7823B03AB5}"/>
              </a:ext>
            </a:extLst>
          </p:cNvPr>
          <p:cNvSpPr/>
          <p:nvPr/>
        </p:nvSpPr>
        <p:spPr>
          <a:xfrm>
            <a:off x="457200" y="24384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1656B772-DD2E-6DF9-3A2B-9A9251545443}"/>
              </a:ext>
            </a:extLst>
          </p:cNvPr>
          <p:cNvSpPr txBox="1"/>
          <p:nvPr/>
        </p:nvSpPr>
        <p:spPr>
          <a:xfrm>
            <a:off x="635000" y="25654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DETECTION D'ANOMALIES</a:t>
            </a:r>
          </a:p>
        </p:txBody>
      </p:sp>
      <p:sp>
        <p:nvSpPr>
          <p:cNvPr id="15" name="ZoneTexte 14">
            <a:extLst>
              <a:ext uri="{FF2B5EF4-FFF2-40B4-BE49-F238E27FC236}">
                <a16:creationId xmlns:a16="http://schemas.microsoft.com/office/drawing/2014/main" id="{2C5A5CF3-5D2D-8FCC-12E3-12C070809131}"/>
              </a:ext>
            </a:extLst>
          </p:cNvPr>
          <p:cNvSpPr txBox="1"/>
          <p:nvPr/>
        </p:nvSpPr>
        <p:spPr>
          <a:xfrm>
            <a:off x="635000" y="28956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Modele statistique surveille par le MLOps ; je pilote le reglage des seuils pour reduire les fausses alertes de 28 % a 15 %, condition de la confiance des agents.</a:t>
            </a:r>
          </a:p>
        </p:txBody>
      </p:sp>
      <p:sp>
        <p:nvSpPr>
          <p:cNvPr id="16" name="Rectangle : coins arrondis 15">
            <a:extLst>
              <a:ext uri="{FF2B5EF4-FFF2-40B4-BE49-F238E27FC236}">
                <a16:creationId xmlns:a16="http://schemas.microsoft.com/office/drawing/2014/main" id="{FBD00E47-9FA4-9AD4-B9C3-28092C13E97F}"/>
              </a:ext>
            </a:extLst>
          </p:cNvPr>
          <p:cNvSpPr/>
          <p:nvPr/>
        </p:nvSpPr>
        <p:spPr>
          <a:xfrm>
            <a:off x="6273800" y="24384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C70F557C-6B61-A13D-55CB-894C34F71E34}"/>
              </a:ext>
            </a:extLst>
          </p:cNvPr>
          <p:cNvSpPr txBox="1"/>
          <p:nvPr/>
        </p:nvSpPr>
        <p:spPr>
          <a:xfrm>
            <a:off x="6451600" y="25654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RESTITUTION</a:t>
            </a:r>
          </a:p>
        </p:txBody>
      </p:sp>
      <p:sp>
        <p:nvSpPr>
          <p:cNvPr id="18" name="ZoneTexte 17">
            <a:extLst>
              <a:ext uri="{FF2B5EF4-FFF2-40B4-BE49-F238E27FC236}">
                <a16:creationId xmlns:a16="http://schemas.microsoft.com/office/drawing/2014/main" id="{A4AAC46E-A140-7636-70F0-42D75D8A53BF}"/>
              </a:ext>
            </a:extLst>
          </p:cNvPr>
          <p:cNvSpPr txBox="1"/>
          <p:nvPr/>
        </p:nvSpPr>
        <p:spPr>
          <a:xfrm>
            <a:off x="6451600" y="2895600"/>
            <a:ext cx="5105400" cy="461665"/>
          </a:xfrm>
          <a:prstGeom prst="rect">
            <a:avLst/>
          </a:prstGeom>
          <a:noFill/>
        </p:spPr>
        <p:txBody>
          <a:bodyPr vert="horz" wrap="square" rtlCol="0">
            <a:spAutoFit/>
          </a:bodyPr>
          <a:lstStyle/>
          <a:p>
            <a:r>
              <a:rPr lang="fr-FR" sz="1200">
                <a:solidFill>
                  <a:srgbClr val="212121"/>
                </a:solidFill>
                <a:latin typeface="Calibri" panose="020F0502020204030204" pitchFamily="34" charset="0"/>
              </a:rPr>
              <a:t>API de consultation, tableau de bord interne et exports CSV pour les analystes (B05), avec gestion des permissions d'acces.</a:t>
            </a:r>
          </a:p>
        </p:txBody>
      </p:sp>
      <p:sp>
        <p:nvSpPr>
          <p:cNvPr id="19" name="Rectangle : coins arrondis 18">
            <a:extLst>
              <a:ext uri="{FF2B5EF4-FFF2-40B4-BE49-F238E27FC236}">
                <a16:creationId xmlns:a16="http://schemas.microsoft.com/office/drawing/2014/main" id="{2CA8E01B-3E13-844D-48FD-BAB6D9D5FE6F}"/>
              </a:ext>
            </a:extLst>
          </p:cNvPr>
          <p:cNvSpPr/>
          <p:nvPr/>
        </p:nvSpPr>
        <p:spPr>
          <a:xfrm>
            <a:off x="457200" y="3860800"/>
            <a:ext cx="5461000" cy="139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8436CF15-6B03-564D-1B81-309FCC84917A}"/>
              </a:ext>
            </a:extLst>
          </p:cNvPr>
          <p:cNvSpPr txBox="1"/>
          <p:nvPr/>
        </p:nvSpPr>
        <p:spPr>
          <a:xfrm>
            <a:off x="635000" y="39878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MON PILOTAGE DE LEAD DATA</a:t>
            </a:r>
          </a:p>
        </p:txBody>
      </p:sp>
      <p:sp>
        <p:nvSpPr>
          <p:cNvPr id="21" name="ZoneTexte 20">
            <a:extLst>
              <a:ext uri="{FF2B5EF4-FFF2-40B4-BE49-F238E27FC236}">
                <a16:creationId xmlns:a16="http://schemas.microsoft.com/office/drawing/2014/main" id="{D4F2821C-BFB1-7000-0FE9-5453C0319226}"/>
              </a:ext>
            </a:extLst>
          </p:cNvPr>
          <p:cNvSpPr txBox="1"/>
          <p:nvPr/>
        </p:nvSpPr>
        <p:spPr>
          <a:xfrm>
            <a:off x="635000" y="43180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Formules et responsables des 7 KPI documentes au glossaire (risque R06), canal de feedback structure (B10), estimation de l'empreinte numerique par run (indicateur RSE defini en S4).</a:t>
            </a:r>
          </a:p>
        </p:txBody>
      </p:sp>
      <p:sp>
        <p:nvSpPr>
          <p:cNvPr id="22" name="Rectangle : coins arrondis 21">
            <a:extLst>
              <a:ext uri="{FF2B5EF4-FFF2-40B4-BE49-F238E27FC236}">
                <a16:creationId xmlns:a16="http://schemas.microsoft.com/office/drawing/2014/main" id="{13C286CD-378C-1743-1052-9E07AB8DA4C5}"/>
              </a:ext>
            </a:extLst>
          </p:cNvPr>
          <p:cNvSpPr/>
          <p:nvPr/>
        </p:nvSpPr>
        <p:spPr>
          <a:xfrm>
            <a:off x="6273800" y="3860800"/>
            <a:ext cx="5461000" cy="139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E5D09924-E683-8303-6594-5318EDA827F5}"/>
              </a:ext>
            </a:extLst>
          </p:cNvPr>
          <p:cNvSpPr txBox="1"/>
          <p:nvPr/>
        </p:nvSpPr>
        <p:spPr>
          <a:xfrm>
            <a:off x="6451600" y="39878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PERIMETRE ASSUME</a:t>
            </a:r>
          </a:p>
        </p:txBody>
      </p:sp>
      <p:sp>
        <p:nvSpPr>
          <p:cNvPr id="24" name="ZoneTexte 23">
            <a:extLst>
              <a:ext uri="{FF2B5EF4-FFF2-40B4-BE49-F238E27FC236}">
                <a16:creationId xmlns:a16="http://schemas.microsoft.com/office/drawing/2014/main" id="{F7B929CB-47CC-5F2B-7BB0-663082077C28}"/>
              </a:ext>
            </a:extLst>
          </p:cNvPr>
          <p:cNvSpPr txBox="1"/>
          <p:nvPr/>
        </p:nvSpPr>
        <p:spPr>
          <a:xfrm>
            <a:off x="6451600" y="43180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Le developpement releve des epreuves E2/E3. Dans ce projet, je pilote la qualite, la fiabilite et l'exploitation du socle : c'est ce qui fonde ma legitimite sur les indicateurs presentes.</a:t>
            </a:r>
          </a:p>
        </p:txBody>
      </p:sp>
    </p:spTree>
    <p:extLst>
      <p:ext uri="{BB962C8B-B14F-4D97-AF65-F5344CB8AC3E}">
        <p14:creationId xmlns:p14="http://schemas.microsoft.com/office/powerpoint/2010/main" val="252329271"/>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3780</Words>
  <Application>Microsoft Office PowerPoint</Application>
  <PresentationFormat>Personnalisé</PresentationFormat>
  <Paragraphs>201</Paragraphs>
  <Slides>9</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9</vt:i4>
      </vt:variant>
    </vt:vector>
  </HeadingPairs>
  <TitlesOfParts>
    <vt:vector size="14" baseType="lpstr">
      <vt:lpstr>Aptos</vt:lpstr>
      <vt:lpstr>Aptos Display</vt:lpstr>
      <vt:lpstr>Arial</vt:lpstr>
      <vt:lpstr>Calibri</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Ouassim MEGRAD</dc:creator>
  <cp:lastModifiedBy>Ouassim MEGRAD</cp:lastModifiedBy>
  <cp:revision>1</cp:revision>
  <dcterms:created xsi:type="dcterms:W3CDTF">2026-07-21T17:54:02Z</dcterms:created>
  <dcterms:modified xsi:type="dcterms:W3CDTF">2026-07-21T17:54:02Z</dcterms:modified>
</cp:coreProperties>
</file>